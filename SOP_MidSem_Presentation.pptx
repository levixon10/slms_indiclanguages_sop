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covers our SOP project on developing a Small Language Model pipeline for low-resource Indian languages — Bengali, Odia, and Gujarati.
More than 600 million people speak these three languages, yet they remain critically underrepresented in modern NLP systems. Our work addresses this gap through efficient model adaptation and curated data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key sections cover the full project lifecycle — from problem definition through background study, related work, data pipeline, model training methodology, our pivot experiment, and future development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has three dimensions:
1. DATA: Less than 1% of training data in leading open LLMs is Indic language content.
2. TOKENIZATION: Standard tokenizers fragment Indic words 3-5x more than English, wasting context and degrading generation.
3. MODELS: Most dedicated Indic models are encoder-only and cannot generate conversational text.
With 600M+ speakers, this affects access to essential services — healthcare, government, education — for hundreds of millions of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these three languages because they span a range of resource levels and script complexities:
- Bengali: Relatively more resources but still significantly underperforming compared to English in LLMs.
- Odia: Extremely low resource — almost no modern NLP benchmarks exist for it.
- Gujarati: Complex morphology and Brahmic script make it challenging for standard Latin-script tokenizers.
Together they serve 340M+ speakers across India and Bangladesh.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implementation, we built a strong theoretical foundation.
PyTorch is used as the primary framework throughout the project.
The attention mechanism and Transformer architecture are the most critical concepts — they directly underlie LLaMA, Gemma, and all modern LLMs we work with.
Model compression knowledge (quantization, pruning) is essential because we are building SMALL language models that need to run in resource-constrained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Transformer architecture (Vaswani et al., 2017) is fundamental to everything we build on.
The key insight is the self-attention mechanism — every token can attend to every other token in the sequence simultaneously, regardless of distance. This is what makes Transformers so much better than RNNs for long-range dependencies.
The PyTorch code shows the core scaled dot-product attention:
- Q, K, V are linear projections of the input
- We compute QK^T / sqrt(d_k) to get attention scores
- Softmax normalizes the scores, then we weight V
Multi-head attention runs this process in parallel across multiple heads, each learning different types of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IndicBERT and MuRIL are the pioneering Indic NLP models.
They are excellent at understanding tasks — classification, NER, sentiment — but fundamentally cannot generate text due to their encoder-only architecture.
This is the key limitation for our project: we need a model that can have conversations, answer questions in Indic languages, and generate coherent multi-sentence responses. Encoder models simply cannot do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specialized decoder-based Indic models:
Sarvam-1 is the most relevant to our goals — generative, Indic-focused. But its performance is uneven across low-resource languages like Odia.
Nemotron-4-Mini shows that smaller models can achieve good quality through distillation, but it's Hindi-only.
Pragna-1B is the closest to our approach — small, generative, custom tokenizer. But it doesn't cover Odia and has limited benchmarking.
Key gap: No single model handles all three of our target languages well with efficient compute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full comparative summary.
Key takeaways:
1. Only decoder models can generate text — encoders are ruled out for our conversational SLM goal.
2. Sarvam-1 and Pragna-1B are most aligned with our objectives but have coverage or benchmarking gaps.
3. LLaMA and Gemma have strong foundations but need Indic adaptation.
4. mT5/BLOOM are too compute-heavy for our academic setting.
This analysis directly motivates our approach: adapter a small pretrained decoder model with a custom Indic tokenizer and curated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of data:
1. CURATED: Government-backed (AIKosh) and academic (AI4Bharat) sources with highest quality. Sangraha on HuggingFace is one of the largest curated Indic pretraining datasets — free and open.
2. WEB UNLABELLED: Wikipedia and news sites are grammatically consistent but require significant cleaning. News sources provide domain vocabulary diversity.
3. SYNTHETIC: We use a stronger LLM (Gemma 2B or GPT) to generate QA pairs from our text corpus. This is essential — labeled Indic data for instruction tuning is almost non-existent. We generate the training data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maps each data source to its role in the pipeline.
AIKosh and Sangraha are our primary sources for high-quality pretraining data.
OSCAR is useful for volume but requires heavy cleaning — language filtering removes up to 60% of content.
News sources are especially valuable for vocabulary diversity but have inconsistent formatting.
The synthetic generation column is critical — without it, we would have almost no instruction/QA data to fine-tune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preprocessing stages:
1. LANGUAGE FILTERING: LangDetect gives a language code. We add a script-character ratio check as a second pass — e.g., Bengali text should have &gt;70% characters from Unicode block 0980-09FF. This catches cases where LangDetect is wrong.
2. CLEANING: HTML stripping, Unicode normalization (NFC ensures consistent character composition for Indic scripts), and boilerplate removal. Indic news sites often have repeated ad/footer text.
3. DEDUPLICATION: Two-pass. Exact hash (fast) first, then MinHash LSH for near-duplicates. Web-crawled Indic data often has 40-60% near-duplicate content from news syndication.
4. CATEGORIZATION: Final data is split into three buckets for different training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Tokenization is arguably the most impactful technical choice in the pipeline.
Problem: The standard LLaMA tokenizer was trained almost entirely on English and Latin-script languages. When it encounters Bengali 'বাংলাদেশ' (Bangladesh), it doesn't recognize the word and fragments it into 5 or more subword pieces. This wastes context window space and forces the model to learn Indic semantics indirectly.
Solution: We train a SentencePiece BPE tokenizer jointly on all three target languages. Key parameters:
- vocab_size=32K: Balances coverage vs embedding table memory
- character_coverage=0.9999: Ensures every Unicode codepoint in Indic scripts gets a representation
- model_type='bpe': Byte Pair Encoding learns optimal subword splits
Result: 40-60% reduction in token fragmentation for common Indic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Continued pretraining is the first training stage.
Rationale: A model like Gemma 2-2B has already learned English grammar, reasoning, and world knowledge from billions of tokens. We don't want to throw that away. Instead, we train it further on our Indic corpus so it 'learns' the new scripts while retaining its existing knowledge.
Key hyperparameters:
- Small batch size (4) with gradient accumulation (×8) to simulate batch size 32 on limited GPU memory
- Low learning rate (2e-5) with cosine decay to avoid forgetting existing English knowledge
- bfloat16 precision halves memory usage
- OLMo framework provides distributed training support
Base models: We experiment with TinyLlama (smallest, fastest), Gemma 2-2B (best quality), and Sarvam-1 (already Indic-aware) as starting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 tuning is the second training stage — it transforms a language model into an assistant.
After continued pretraining, the model understands Indic text patterns, but it behaves like an autocomplete system. Instruction tuning teaches it to follow instructions and answer questions.
We use the ChatML format (also used by TinyLlama and Phi-3) which structures conversations as:
- &lt;|system|&gt;: Sets the assistant's role
- &lt;|user|&gt;: The question or instruction
- &lt;|assistant|&gt;: The expected response
The TRL library's SFTTrainer (Supervised Fine-Tuning Trainer) handles the training loop efficiently and supports LoRA adapters if we need parameter-efficient fine-tuning.
Datasets: We use structured QA from AIKosh, parallel translation pairs from AI4Bharat, and our synthetically generated dialogues.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pivoting approach is inspired by two key papers that showed LLMs have latent multilingual capability even when trained primarily on English.
The key insight: instead of trying to make an LLM understand Indic languages directly, we act as a translator bridge.
Step 1: Translate the Indic query to English (high-quality translation models exist for English↔Indic)
Step 2: Let the English LLM reason and generate a response in English (it does this well)
Step 3: Translate the English response back to the target Indic language
This requires ZERO Indic training data for the LLM itself — we're using translation as the adaptation mechanism.
Tools: Google Translate (easy, but quality varies) or IndicTrans2 (higher quality, open source Indic translation model from AI4Bharat).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complete implementation of the pivot inference function.
The function is elegantly simple — about 20 lines of actual logic:
1. Translate the Indic input to English using Google Translate (via the deep-translator Python library)
2. Build a chat prompt in ChatML format and run the LLM
3. Decode only the newly generated tokens (skip the prompt by slicing from input_length)
4. Translate the English response back to the target Indic language
The Gradio interface wraps this function and adds:
- A text input box for the Indic query
- An output display for the Indic response
- A collapsible 'pipeline view' showing the English intermediate steps for debugging
We ran this on a Colab T4 GPU with TinyLlama (1.1B) — fits in ~3GB VRAM.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positive findings:
1. QUALITY: Responses are grammatically correct and meaningful in Indic languages. This is a clear step up from directly querying an unadapted LLM in Bengali or Gujarati.
2. ZERO DATA: The most powerful property — we built a working multilingual AI system without collecting a single Indic training example for the LLM.
3. MODULARITY: The system is cleanly separated into translation + LLM + translation. Each can be upgraded independently. IndicTrans2 can replace Google Translate for better quality. Gemma or LLaMA 3 can replace TinyLlama for better generation.
4. BASELINE: Now we have a concrete baseline to beat with our native Indic SLM in future work. Without a baseline, evaluation is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analysis:
1. LATENCY (High): Tested response times:
- TinyLlama direct inference: ~2 seconds
- Pivot pipeline (TinyLlama): ~6-8 seconds
This 3-4× overhead makes it unusable for chat applications.
2. ERROR PROPAGATION (High): If Google Translate introduces even a small error in Step 1, the LLM reason about the wrong question, and back-translation amplifies the error. This is the fundamental weakness of multi-stage pipelines.
3. CULTURAL NUANCE (Medium): Bengali has rich idiomatic expressions. 'মাথা গেল' literally translates to 'my head went' but means 'I'm going crazy.' Translation systems map this incorrectly, losing intent.
4. API DEPENDENCY (Medium): Google Translate has rate limits and potential cost at scale. It also raises privacy questions for sensitive healthcare or government queries.
All four limitations point to the same solution: a native Indic SLM that handles the language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slide.
SUMMARY:
We successfully built and evaluated a translation-based pivot pipeline — a practical working system for Indic language AI that requires zero Indic training data for the LLM.
The experiment confirmed our research hypothesis: English LLM capabilities do transfer to Indic languages via translation pivoting, but with meaningful trade-offs in latency and semantic fidelity.
NEXT PHASE ROADMAP:
Phase 1 (Data) → Phase 2 (Preprocessing) are designed and ready.
Phase 3 (Tokenizer) → Phase 4 (Pretraining) → Phase 5 (Instruction Tuning) → Phase 6 (Evaluation) will follow.
The ultimate goal: a small (1-3B parameter), efficient, open-source language model that natively understands and generates Bengali, Odia, and Gujarati — removing the translation bottleneck entirely.
Thank you —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3B82F6"/>
          </a:solidFill>
          <a:ln/>
        </p:spPr>
      </p:sp>
      <p:sp>
        <p:nvSpPr>
          <p:cNvPr id="3" name="Shape 1"/>
          <p:cNvSpPr/>
          <p:nvPr/>
        </p:nvSpPr>
        <p:spPr>
          <a:xfrm>
            <a:off x="6583680" y="-914400"/>
            <a:ext cx="4114800" cy="4114800"/>
          </a:xfrm>
          <a:prstGeom prst="ellipse">
            <a:avLst/>
          </a:prstGeom>
          <a:solidFill>
            <a:srgbClr val="1A3A6E"/>
          </a:solidFill>
          <a:ln w="12700">
            <a:solidFill>
              <a:srgbClr val="1A3A6E"/>
            </a:solidFill>
            <a:prstDash val="solid"/>
          </a:ln>
        </p:spPr>
      </p:sp>
      <p:sp>
        <p:nvSpPr>
          <p:cNvPr id="4" name="Shape 2"/>
          <p:cNvSpPr/>
          <p:nvPr/>
        </p:nvSpPr>
        <p:spPr>
          <a:xfrm>
            <a:off x="7406640" y="45720"/>
            <a:ext cx="2377440" cy="2377440"/>
          </a:xfrm>
          <a:prstGeom prst="ellipse">
            <a:avLst/>
          </a:prstGeom>
          <a:solidFill>
            <a:srgbClr val="1E4D8C"/>
          </a:solidFill>
          <a:ln w="12700">
            <a:solidFill>
              <a:srgbClr val="1E4D8C"/>
            </a:solidFill>
            <a:prstDash val="solid"/>
          </a:ln>
        </p:spPr>
      </p:sp>
      <p:sp>
        <p:nvSpPr>
          <p:cNvPr id="5" name="Shape 3"/>
          <p:cNvSpPr/>
          <p:nvPr/>
        </p:nvSpPr>
        <p:spPr>
          <a:xfrm>
            <a:off x="8138160" y="548640"/>
            <a:ext cx="1188720" cy="1188720"/>
          </a:xfrm>
          <a:prstGeom prst="ellipse">
            <a:avLst/>
          </a:prstGeom>
          <a:solidFill>
            <a:srgbClr val="3B82F6"/>
          </a:solidFill>
          <a:ln w="12700">
            <a:solidFill>
              <a:srgbClr val="3B82F6"/>
            </a:solidFill>
            <a:prstDash val="solid"/>
          </a:ln>
        </p:spPr>
      </p:sp>
      <p:pic>
        <p:nvPicPr>
          <p:cNvPr id="6" name="Image 0" descr="preencoded.png">    </p:cNvPr>
          <p:cNvPicPr>
            <a:picLocks noChangeAspect="1"/>
          </p:cNvPicPr>
          <p:nvPr/>
        </p:nvPicPr>
        <p:blipFill>
          <a:blip r:embed="rId1"/>
          <a:stretch>
            <a:fillRect/>
          </a:stretch>
        </p:blipFill>
        <p:spPr>
          <a:xfrm>
            <a:off x="8321040" y="658368"/>
            <a:ext cx="777240" cy="777240"/>
          </a:xfrm>
          <a:prstGeom prst="rect">
            <a:avLst/>
          </a:prstGeom>
        </p:spPr>
      </p:pic>
      <p:sp>
        <p:nvSpPr>
          <p:cNvPr id="7" name="Text 4"/>
          <p:cNvSpPr/>
          <p:nvPr/>
        </p:nvSpPr>
        <p:spPr>
          <a:xfrm>
            <a:off x="457200" y="777240"/>
            <a:ext cx="7315200" cy="310896"/>
          </a:xfrm>
          <a:prstGeom prst="rect">
            <a:avLst/>
          </a:prstGeom>
          <a:noFill/>
          <a:ln/>
        </p:spPr>
        <p:txBody>
          <a:bodyPr wrap="square" lIns="0" tIns="0" rIns="0" bIns="0" rtlCol="0" anchor="ctr"/>
          <a:lstStyle/>
          <a:p>
            <a:pPr indent="0" marL="0">
              <a:buNone/>
            </a:pPr>
            <a:r>
              <a:rPr lang="en-US" sz="1050" spc="300" kern="0" dirty="0">
                <a:solidFill>
                  <a:srgbClr val="93C5FD"/>
                </a:solidFill>
                <a:latin typeface="Calibri" pitchFamily="34" charset="0"/>
                <a:ea typeface="Calibri" pitchFamily="34" charset="-122"/>
                <a:cs typeface="Calibri" pitchFamily="34" charset="-120"/>
              </a:rPr>
              <a:t>SOP Project Report  |  BITS Pilani 2024–25</a:t>
            </a:r>
            <a:endParaRPr lang="en-US" sz="1050" dirty="0"/>
          </a:p>
        </p:txBody>
      </p:sp>
      <p:sp>
        <p:nvSpPr>
          <p:cNvPr id="8" name="Text 5"/>
          <p:cNvSpPr/>
          <p:nvPr/>
        </p:nvSpPr>
        <p:spPr>
          <a:xfrm>
            <a:off x="457200" y="1143000"/>
            <a:ext cx="7498080" cy="214884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Small Language Model</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Development for</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Low-Resource Indian Languages</a:t>
            </a:r>
            <a:endParaRPr lang="en-US" sz="3600" dirty="0"/>
          </a:p>
        </p:txBody>
      </p:sp>
      <p:sp>
        <p:nvSpPr>
          <p:cNvPr id="9" name="Shape 6"/>
          <p:cNvSpPr/>
          <p:nvPr/>
        </p:nvSpPr>
        <p:spPr>
          <a:xfrm>
            <a:off x="457200" y="3401568"/>
            <a:ext cx="2743200" cy="45720"/>
          </a:xfrm>
          <a:prstGeom prst="rect">
            <a:avLst/>
          </a:prstGeom>
          <a:solidFill>
            <a:srgbClr val="3B82F6"/>
          </a:solidFill>
          <a:ln/>
        </p:spPr>
      </p:sp>
      <p:sp>
        <p:nvSpPr>
          <p:cNvPr id="10" name="Text 7"/>
          <p:cNvSpPr/>
          <p:nvPr/>
        </p:nvSpPr>
        <p:spPr>
          <a:xfrm>
            <a:off x="457200" y="3493008"/>
            <a:ext cx="8229600" cy="329184"/>
          </a:xfrm>
          <a:prstGeom prst="rect">
            <a:avLst/>
          </a:prstGeom>
          <a:noFill/>
          <a:ln/>
        </p:spPr>
        <p:txBody>
          <a:bodyPr wrap="square" lIns="0" tIns="0" rIns="0" bIns="0" rtlCol="0" anchor="ctr"/>
          <a:lstStyle/>
          <a:p>
            <a:pPr indent="0" marL="0">
              <a:buNone/>
            </a:pPr>
            <a:r>
              <a:rPr lang="en-US" sz="1250" dirty="0">
                <a:solidFill>
                  <a:srgbClr val="93C5FD"/>
                </a:solidFill>
                <a:latin typeface="Calibri" pitchFamily="34" charset="0"/>
                <a:ea typeface="Calibri" pitchFamily="34" charset="-122"/>
                <a:cs typeface="Calibri" pitchFamily="34" charset="-120"/>
              </a:rPr>
              <a:t>Ayush Kumar (2024A7PS0560P)   •   Harsh Singh (2024A7PS0573P)</a:t>
            </a:r>
            <a:endParaRPr lang="en-US" sz="1250" dirty="0"/>
          </a:p>
        </p:txBody>
      </p:sp>
      <p:sp>
        <p:nvSpPr>
          <p:cNvPr id="11" name="Text 8"/>
          <p:cNvSpPr/>
          <p:nvPr/>
        </p:nvSpPr>
        <p:spPr>
          <a:xfrm>
            <a:off x="457200" y="3858768"/>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BITS Pilani — Station: Pilani  |  Supervisor: Dr. [Supervisor]</a:t>
            </a:r>
            <a:endParaRPr lang="en-US" sz="1000" dirty="0"/>
          </a:p>
        </p:txBody>
      </p:sp>
      <p:sp>
        <p:nvSpPr>
          <p:cNvPr id="12" name="Shape 9"/>
          <p:cNvSpPr/>
          <p:nvPr/>
        </p:nvSpPr>
        <p:spPr>
          <a:xfrm>
            <a:off x="457200" y="4572000"/>
            <a:ext cx="2304288" cy="402336"/>
          </a:xfrm>
          <a:prstGeom prst="rect">
            <a:avLst/>
          </a:prstGeom>
          <a:solidFill>
            <a:srgbClr val="1A3A6E"/>
          </a:solidFill>
          <a:ln w="12700">
            <a:solidFill>
              <a:srgbClr val="3B82F6"/>
            </a:solidFill>
            <a:prstDash val="solid"/>
          </a:ln>
        </p:spPr>
      </p:sp>
      <p:sp>
        <p:nvSpPr>
          <p:cNvPr id="13" name="Text 10"/>
          <p:cNvSpPr/>
          <p:nvPr/>
        </p:nvSpPr>
        <p:spPr>
          <a:xfrm>
            <a:off x="457200" y="4572000"/>
            <a:ext cx="2304288" cy="402336"/>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Bengali  বাংলা</a:t>
            </a:r>
            <a:endParaRPr lang="en-US" sz="1100" dirty="0"/>
          </a:p>
        </p:txBody>
      </p:sp>
      <p:sp>
        <p:nvSpPr>
          <p:cNvPr id="14" name="Shape 11"/>
          <p:cNvSpPr/>
          <p:nvPr/>
        </p:nvSpPr>
        <p:spPr>
          <a:xfrm>
            <a:off x="2907792" y="4572000"/>
            <a:ext cx="2304288" cy="402336"/>
          </a:xfrm>
          <a:prstGeom prst="rect">
            <a:avLst/>
          </a:prstGeom>
          <a:solidFill>
            <a:srgbClr val="1A3A6E"/>
          </a:solidFill>
          <a:ln w="12700">
            <a:solidFill>
              <a:srgbClr val="3B82F6"/>
            </a:solidFill>
            <a:prstDash val="solid"/>
          </a:ln>
        </p:spPr>
      </p:sp>
      <p:sp>
        <p:nvSpPr>
          <p:cNvPr id="15" name="Text 12"/>
          <p:cNvSpPr/>
          <p:nvPr/>
        </p:nvSpPr>
        <p:spPr>
          <a:xfrm>
            <a:off x="2907792" y="4572000"/>
            <a:ext cx="2304288" cy="402336"/>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Odia  ଓଡ଼ିଆ</a:t>
            </a:r>
            <a:endParaRPr lang="en-US" sz="1100" dirty="0"/>
          </a:p>
        </p:txBody>
      </p:sp>
      <p:sp>
        <p:nvSpPr>
          <p:cNvPr id="16" name="Shape 13"/>
          <p:cNvSpPr/>
          <p:nvPr/>
        </p:nvSpPr>
        <p:spPr>
          <a:xfrm>
            <a:off x="5358384" y="4572000"/>
            <a:ext cx="2304288" cy="402336"/>
          </a:xfrm>
          <a:prstGeom prst="rect">
            <a:avLst/>
          </a:prstGeom>
          <a:solidFill>
            <a:srgbClr val="1A3A6E"/>
          </a:solidFill>
          <a:ln w="12700">
            <a:solidFill>
              <a:srgbClr val="3B82F6"/>
            </a:solidFill>
            <a:prstDash val="solid"/>
          </a:ln>
        </p:spPr>
      </p:sp>
      <p:sp>
        <p:nvSpPr>
          <p:cNvPr id="17" name="Text 14"/>
          <p:cNvSpPr/>
          <p:nvPr/>
        </p:nvSpPr>
        <p:spPr>
          <a:xfrm>
            <a:off x="5358384" y="4572000"/>
            <a:ext cx="2304288" cy="402336"/>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Gujarati  ગુજરાતી</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Agenda</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 structured walkthrough of the project</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292608" y="1115568"/>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292608" y="1115568"/>
            <a:ext cx="1645920" cy="54864"/>
          </a:xfrm>
          <a:prstGeom prst="rect">
            <a:avLst/>
          </a:prstGeom>
          <a:solidFill>
            <a:srgbClr val="3B82F6"/>
          </a:solidFill>
          <a:ln/>
        </p:spPr>
      </p:sp>
      <p:pic>
        <p:nvPicPr>
          <p:cNvPr id="8" name="Image 0" descr="preencoded.png">    </p:cNvPr>
          <p:cNvPicPr>
            <a:picLocks noChangeAspect="1"/>
          </p:cNvPicPr>
          <p:nvPr/>
        </p:nvPicPr>
        <p:blipFill>
          <a:blip r:embed="rId1"/>
          <a:stretch>
            <a:fillRect/>
          </a:stretch>
        </p:blipFill>
        <p:spPr>
          <a:xfrm>
            <a:off x="914400" y="1261872"/>
            <a:ext cx="384048" cy="384048"/>
          </a:xfrm>
          <a:prstGeom prst="rect">
            <a:avLst/>
          </a:prstGeom>
        </p:spPr>
      </p:pic>
      <p:sp>
        <p:nvSpPr>
          <p:cNvPr id="9" name="Text 6"/>
          <p:cNvSpPr/>
          <p:nvPr/>
        </p:nvSpPr>
        <p:spPr>
          <a:xfrm>
            <a:off x="292608" y="1709928"/>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01</a:t>
            </a:r>
            <a:endParaRPr lang="en-US" sz="1800" dirty="0"/>
          </a:p>
        </p:txBody>
      </p:sp>
      <p:sp>
        <p:nvSpPr>
          <p:cNvPr id="10" name="Text 7"/>
          <p:cNvSpPr/>
          <p:nvPr/>
        </p:nvSpPr>
        <p:spPr>
          <a:xfrm>
            <a:off x="365760" y="2029968"/>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Problem Statement</a:t>
            </a:r>
            <a:endParaRPr lang="en-US" sz="1000" dirty="0"/>
          </a:p>
        </p:txBody>
      </p:sp>
      <p:sp>
        <p:nvSpPr>
          <p:cNvPr id="11" name="Text 8"/>
          <p:cNvSpPr/>
          <p:nvPr/>
        </p:nvSpPr>
        <p:spPr>
          <a:xfrm>
            <a:off x="347472" y="2414016"/>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The language gap in modern NLP</a:t>
            </a:r>
            <a:endParaRPr lang="en-US" sz="800" dirty="0"/>
          </a:p>
        </p:txBody>
      </p:sp>
      <p:sp>
        <p:nvSpPr>
          <p:cNvPr id="12" name="Shape 9"/>
          <p:cNvSpPr/>
          <p:nvPr/>
        </p:nvSpPr>
        <p:spPr>
          <a:xfrm>
            <a:off x="2029968" y="1115568"/>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3" name="Shape 10"/>
          <p:cNvSpPr/>
          <p:nvPr/>
        </p:nvSpPr>
        <p:spPr>
          <a:xfrm>
            <a:off x="2029968" y="1115568"/>
            <a:ext cx="1645920" cy="54864"/>
          </a:xfrm>
          <a:prstGeom prst="rect">
            <a:avLst/>
          </a:prstGeom>
          <a:solidFill>
            <a:srgbClr val="3B82F6"/>
          </a:solidFill>
          <a:ln/>
        </p:spPr>
      </p:sp>
      <p:pic>
        <p:nvPicPr>
          <p:cNvPr id="14" name="Image 1" descr="preencoded.png">    </p:cNvPr>
          <p:cNvPicPr>
            <a:picLocks noChangeAspect="1"/>
          </p:cNvPicPr>
          <p:nvPr/>
        </p:nvPicPr>
        <p:blipFill>
          <a:blip r:embed="rId2"/>
          <a:stretch>
            <a:fillRect/>
          </a:stretch>
        </p:blipFill>
        <p:spPr>
          <a:xfrm>
            <a:off x="2651760" y="1261872"/>
            <a:ext cx="384048" cy="384048"/>
          </a:xfrm>
          <a:prstGeom prst="rect">
            <a:avLst/>
          </a:prstGeom>
        </p:spPr>
      </p:pic>
      <p:sp>
        <p:nvSpPr>
          <p:cNvPr id="15" name="Text 11"/>
          <p:cNvSpPr/>
          <p:nvPr/>
        </p:nvSpPr>
        <p:spPr>
          <a:xfrm>
            <a:off x="2029968" y="1709928"/>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02</a:t>
            </a:r>
            <a:endParaRPr lang="en-US" sz="1800" dirty="0"/>
          </a:p>
        </p:txBody>
      </p:sp>
      <p:sp>
        <p:nvSpPr>
          <p:cNvPr id="16" name="Text 12"/>
          <p:cNvSpPr/>
          <p:nvPr/>
        </p:nvSpPr>
        <p:spPr>
          <a:xfrm>
            <a:off x="2103120" y="2029968"/>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Background Study</a:t>
            </a:r>
            <a:endParaRPr lang="en-US" sz="1000" dirty="0"/>
          </a:p>
        </p:txBody>
      </p:sp>
      <p:sp>
        <p:nvSpPr>
          <p:cNvPr id="17" name="Text 13"/>
          <p:cNvSpPr/>
          <p:nvPr/>
        </p:nvSpPr>
        <p:spPr>
          <a:xfrm>
            <a:off x="2084832" y="2414016"/>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Foundations: PyTorch, Transformers, Attention</a:t>
            </a:r>
            <a:endParaRPr lang="en-US" sz="800" dirty="0"/>
          </a:p>
        </p:txBody>
      </p:sp>
      <p:sp>
        <p:nvSpPr>
          <p:cNvPr id="18" name="Shape 14"/>
          <p:cNvSpPr/>
          <p:nvPr/>
        </p:nvSpPr>
        <p:spPr>
          <a:xfrm>
            <a:off x="3767328" y="1115568"/>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9" name="Shape 15"/>
          <p:cNvSpPr/>
          <p:nvPr/>
        </p:nvSpPr>
        <p:spPr>
          <a:xfrm>
            <a:off x="3767328" y="1115568"/>
            <a:ext cx="1645920" cy="54864"/>
          </a:xfrm>
          <a:prstGeom prst="rect">
            <a:avLst/>
          </a:prstGeom>
          <a:solidFill>
            <a:srgbClr val="3B82F6"/>
          </a:solidFill>
          <a:ln/>
        </p:spPr>
      </p:sp>
      <p:pic>
        <p:nvPicPr>
          <p:cNvPr id="20" name="Image 2" descr="preencoded.png">    </p:cNvPr>
          <p:cNvPicPr>
            <a:picLocks noChangeAspect="1"/>
          </p:cNvPicPr>
          <p:nvPr/>
        </p:nvPicPr>
        <p:blipFill>
          <a:blip r:embed="rId3"/>
          <a:stretch>
            <a:fillRect/>
          </a:stretch>
        </p:blipFill>
        <p:spPr>
          <a:xfrm>
            <a:off x="4389120" y="1261872"/>
            <a:ext cx="384048" cy="384048"/>
          </a:xfrm>
          <a:prstGeom prst="rect">
            <a:avLst/>
          </a:prstGeom>
        </p:spPr>
      </p:pic>
      <p:sp>
        <p:nvSpPr>
          <p:cNvPr id="21" name="Text 16"/>
          <p:cNvSpPr/>
          <p:nvPr/>
        </p:nvSpPr>
        <p:spPr>
          <a:xfrm>
            <a:off x="3767328" y="1709928"/>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03</a:t>
            </a:r>
            <a:endParaRPr lang="en-US" sz="1800" dirty="0"/>
          </a:p>
        </p:txBody>
      </p:sp>
      <p:sp>
        <p:nvSpPr>
          <p:cNvPr id="22" name="Text 17"/>
          <p:cNvSpPr/>
          <p:nvPr/>
        </p:nvSpPr>
        <p:spPr>
          <a:xfrm>
            <a:off x="3840480" y="2029968"/>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Related Work</a:t>
            </a:r>
            <a:endParaRPr lang="en-US" sz="1000" dirty="0"/>
          </a:p>
        </p:txBody>
      </p:sp>
      <p:sp>
        <p:nvSpPr>
          <p:cNvPr id="23" name="Text 18"/>
          <p:cNvSpPr/>
          <p:nvPr/>
        </p:nvSpPr>
        <p:spPr>
          <a:xfrm>
            <a:off x="3822192" y="2414016"/>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Existing models &amp; comparative analysis</a:t>
            </a:r>
            <a:endParaRPr lang="en-US" sz="800" dirty="0"/>
          </a:p>
        </p:txBody>
      </p:sp>
      <p:sp>
        <p:nvSpPr>
          <p:cNvPr id="24" name="Shape 19"/>
          <p:cNvSpPr/>
          <p:nvPr/>
        </p:nvSpPr>
        <p:spPr>
          <a:xfrm>
            <a:off x="5504688" y="1115568"/>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25" name="Shape 20"/>
          <p:cNvSpPr/>
          <p:nvPr/>
        </p:nvSpPr>
        <p:spPr>
          <a:xfrm>
            <a:off x="5504688" y="1115568"/>
            <a:ext cx="1645920" cy="54864"/>
          </a:xfrm>
          <a:prstGeom prst="rect">
            <a:avLst/>
          </a:prstGeom>
          <a:solidFill>
            <a:srgbClr val="3B82F6"/>
          </a:solidFill>
          <a:ln/>
        </p:spPr>
      </p:sp>
      <p:pic>
        <p:nvPicPr>
          <p:cNvPr id="26" name="Image 3" descr="preencoded.png">    </p:cNvPr>
          <p:cNvPicPr>
            <a:picLocks noChangeAspect="1"/>
          </p:cNvPicPr>
          <p:nvPr/>
        </p:nvPicPr>
        <p:blipFill>
          <a:blip r:embed="rId4"/>
          <a:stretch>
            <a:fillRect/>
          </a:stretch>
        </p:blipFill>
        <p:spPr>
          <a:xfrm>
            <a:off x="6126480" y="1261872"/>
            <a:ext cx="384048" cy="384048"/>
          </a:xfrm>
          <a:prstGeom prst="rect">
            <a:avLst/>
          </a:prstGeom>
        </p:spPr>
      </p:pic>
      <p:sp>
        <p:nvSpPr>
          <p:cNvPr id="27" name="Text 21"/>
          <p:cNvSpPr/>
          <p:nvPr/>
        </p:nvSpPr>
        <p:spPr>
          <a:xfrm>
            <a:off x="5504688" y="1709928"/>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04</a:t>
            </a:r>
            <a:endParaRPr lang="en-US" sz="1800" dirty="0"/>
          </a:p>
        </p:txBody>
      </p:sp>
      <p:sp>
        <p:nvSpPr>
          <p:cNvPr id="28" name="Text 22"/>
          <p:cNvSpPr/>
          <p:nvPr/>
        </p:nvSpPr>
        <p:spPr>
          <a:xfrm>
            <a:off x="5577840" y="2029968"/>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Data Strategy</a:t>
            </a:r>
            <a:endParaRPr lang="en-US" sz="1000" dirty="0"/>
          </a:p>
        </p:txBody>
      </p:sp>
      <p:sp>
        <p:nvSpPr>
          <p:cNvPr id="29" name="Text 23"/>
          <p:cNvSpPr/>
          <p:nvPr/>
        </p:nvSpPr>
        <p:spPr>
          <a:xfrm>
            <a:off x="5559552" y="2414016"/>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Sources, collection &amp; synthetic generation</a:t>
            </a:r>
            <a:endParaRPr lang="en-US" sz="800" dirty="0"/>
          </a:p>
        </p:txBody>
      </p:sp>
      <p:sp>
        <p:nvSpPr>
          <p:cNvPr id="30" name="Shape 24"/>
          <p:cNvSpPr/>
          <p:nvPr/>
        </p:nvSpPr>
        <p:spPr>
          <a:xfrm>
            <a:off x="7242048" y="1115568"/>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31" name="Shape 25"/>
          <p:cNvSpPr/>
          <p:nvPr/>
        </p:nvSpPr>
        <p:spPr>
          <a:xfrm>
            <a:off x="7242048" y="1115568"/>
            <a:ext cx="1645920" cy="54864"/>
          </a:xfrm>
          <a:prstGeom prst="rect">
            <a:avLst/>
          </a:prstGeom>
          <a:solidFill>
            <a:srgbClr val="3B82F6"/>
          </a:solidFill>
          <a:ln/>
        </p:spPr>
      </p:sp>
      <p:pic>
        <p:nvPicPr>
          <p:cNvPr id="32" name="Image 4" descr="preencoded.png">    </p:cNvPr>
          <p:cNvPicPr>
            <a:picLocks noChangeAspect="1"/>
          </p:cNvPicPr>
          <p:nvPr/>
        </p:nvPicPr>
        <p:blipFill>
          <a:blip r:embed="rId5"/>
          <a:stretch>
            <a:fillRect/>
          </a:stretch>
        </p:blipFill>
        <p:spPr>
          <a:xfrm>
            <a:off x="7863840" y="1261872"/>
            <a:ext cx="384048" cy="384048"/>
          </a:xfrm>
          <a:prstGeom prst="rect">
            <a:avLst/>
          </a:prstGeom>
        </p:spPr>
      </p:pic>
      <p:sp>
        <p:nvSpPr>
          <p:cNvPr id="33" name="Text 26"/>
          <p:cNvSpPr/>
          <p:nvPr/>
        </p:nvSpPr>
        <p:spPr>
          <a:xfrm>
            <a:off x="7242048" y="1709928"/>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05</a:t>
            </a:r>
            <a:endParaRPr lang="en-US" sz="1800" dirty="0"/>
          </a:p>
        </p:txBody>
      </p:sp>
      <p:sp>
        <p:nvSpPr>
          <p:cNvPr id="34" name="Text 27"/>
          <p:cNvSpPr/>
          <p:nvPr/>
        </p:nvSpPr>
        <p:spPr>
          <a:xfrm>
            <a:off x="7315200" y="2029968"/>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Preprocessing</a:t>
            </a:r>
            <a:endParaRPr lang="en-US" sz="1000" dirty="0"/>
          </a:p>
        </p:txBody>
      </p:sp>
      <p:sp>
        <p:nvSpPr>
          <p:cNvPr id="35" name="Text 28"/>
          <p:cNvSpPr/>
          <p:nvPr/>
        </p:nvSpPr>
        <p:spPr>
          <a:xfrm>
            <a:off x="7296912" y="2414016"/>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Filtering, cleaning, deduplication</a:t>
            </a:r>
            <a:endParaRPr lang="en-US" sz="800" dirty="0"/>
          </a:p>
        </p:txBody>
      </p:sp>
      <p:sp>
        <p:nvSpPr>
          <p:cNvPr id="36" name="Shape 29"/>
          <p:cNvSpPr/>
          <p:nvPr/>
        </p:nvSpPr>
        <p:spPr>
          <a:xfrm>
            <a:off x="292608" y="2926080"/>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37" name="Shape 30"/>
          <p:cNvSpPr/>
          <p:nvPr/>
        </p:nvSpPr>
        <p:spPr>
          <a:xfrm>
            <a:off x="292608" y="2926080"/>
            <a:ext cx="1645920" cy="54864"/>
          </a:xfrm>
          <a:prstGeom prst="rect">
            <a:avLst/>
          </a:prstGeom>
          <a:solidFill>
            <a:srgbClr val="3B82F6"/>
          </a:solidFill>
          <a:ln/>
        </p:spPr>
      </p:sp>
      <p:pic>
        <p:nvPicPr>
          <p:cNvPr id="38" name="Image 5" descr="preencoded.png">    </p:cNvPr>
          <p:cNvPicPr>
            <a:picLocks noChangeAspect="1"/>
          </p:cNvPicPr>
          <p:nvPr/>
        </p:nvPicPr>
        <p:blipFill>
          <a:blip r:embed="rId6"/>
          <a:stretch>
            <a:fillRect/>
          </a:stretch>
        </p:blipFill>
        <p:spPr>
          <a:xfrm>
            <a:off x="914400" y="3072384"/>
            <a:ext cx="384048" cy="384048"/>
          </a:xfrm>
          <a:prstGeom prst="rect">
            <a:avLst/>
          </a:prstGeom>
        </p:spPr>
      </p:pic>
      <p:sp>
        <p:nvSpPr>
          <p:cNvPr id="39" name="Text 31"/>
          <p:cNvSpPr/>
          <p:nvPr/>
        </p:nvSpPr>
        <p:spPr>
          <a:xfrm>
            <a:off x="292608" y="3520440"/>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06</a:t>
            </a:r>
            <a:endParaRPr lang="en-US" sz="1800" dirty="0"/>
          </a:p>
        </p:txBody>
      </p:sp>
      <p:sp>
        <p:nvSpPr>
          <p:cNvPr id="40" name="Text 32"/>
          <p:cNvSpPr/>
          <p:nvPr/>
        </p:nvSpPr>
        <p:spPr>
          <a:xfrm>
            <a:off x="365760" y="3840480"/>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Tokenization</a:t>
            </a:r>
            <a:endParaRPr lang="en-US" sz="1000" dirty="0"/>
          </a:p>
        </p:txBody>
      </p:sp>
      <p:sp>
        <p:nvSpPr>
          <p:cNvPr id="41" name="Text 33"/>
          <p:cNvSpPr/>
          <p:nvPr/>
        </p:nvSpPr>
        <p:spPr>
          <a:xfrm>
            <a:off x="347472" y="4224528"/>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SentencePiece BPE for Indic scripts</a:t>
            </a:r>
            <a:endParaRPr lang="en-US" sz="800" dirty="0"/>
          </a:p>
        </p:txBody>
      </p:sp>
      <p:sp>
        <p:nvSpPr>
          <p:cNvPr id="42" name="Shape 34"/>
          <p:cNvSpPr/>
          <p:nvPr/>
        </p:nvSpPr>
        <p:spPr>
          <a:xfrm>
            <a:off x="2029968" y="2926080"/>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43" name="Shape 35"/>
          <p:cNvSpPr/>
          <p:nvPr/>
        </p:nvSpPr>
        <p:spPr>
          <a:xfrm>
            <a:off x="2029968" y="2926080"/>
            <a:ext cx="1645920" cy="54864"/>
          </a:xfrm>
          <a:prstGeom prst="rect">
            <a:avLst/>
          </a:prstGeom>
          <a:solidFill>
            <a:srgbClr val="3B82F6"/>
          </a:solidFill>
          <a:ln/>
        </p:spPr>
      </p:sp>
      <p:pic>
        <p:nvPicPr>
          <p:cNvPr id="44" name="Image 6" descr="preencoded.png">    </p:cNvPr>
          <p:cNvPicPr>
            <a:picLocks noChangeAspect="1"/>
          </p:cNvPicPr>
          <p:nvPr/>
        </p:nvPicPr>
        <p:blipFill>
          <a:blip r:embed="rId7"/>
          <a:stretch>
            <a:fillRect/>
          </a:stretch>
        </p:blipFill>
        <p:spPr>
          <a:xfrm>
            <a:off x="2651760" y="3072384"/>
            <a:ext cx="384048" cy="384048"/>
          </a:xfrm>
          <a:prstGeom prst="rect">
            <a:avLst/>
          </a:prstGeom>
        </p:spPr>
      </p:pic>
      <p:sp>
        <p:nvSpPr>
          <p:cNvPr id="45" name="Text 36"/>
          <p:cNvSpPr/>
          <p:nvPr/>
        </p:nvSpPr>
        <p:spPr>
          <a:xfrm>
            <a:off x="2029968" y="3520440"/>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07</a:t>
            </a:r>
            <a:endParaRPr lang="en-US" sz="1800" dirty="0"/>
          </a:p>
        </p:txBody>
      </p:sp>
      <p:sp>
        <p:nvSpPr>
          <p:cNvPr id="46" name="Text 37"/>
          <p:cNvSpPr/>
          <p:nvPr/>
        </p:nvSpPr>
        <p:spPr>
          <a:xfrm>
            <a:off x="2103120" y="3840480"/>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Model Training</a:t>
            </a:r>
            <a:endParaRPr lang="en-US" sz="1000" dirty="0"/>
          </a:p>
        </p:txBody>
      </p:sp>
      <p:sp>
        <p:nvSpPr>
          <p:cNvPr id="47" name="Text 38"/>
          <p:cNvSpPr/>
          <p:nvPr/>
        </p:nvSpPr>
        <p:spPr>
          <a:xfrm>
            <a:off x="2084832" y="4224528"/>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Continued pretraining + instruction tuning</a:t>
            </a:r>
            <a:endParaRPr lang="en-US" sz="800" dirty="0"/>
          </a:p>
        </p:txBody>
      </p:sp>
      <p:sp>
        <p:nvSpPr>
          <p:cNvPr id="48" name="Shape 39"/>
          <p:cNvSpPr/>
          <p:nvPr/>
        </p:nvSpPr>
        <p:spPr>
          <a:xfrm>
            <a:off x="3767328" y="2926080"/>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49" name="Shape 40"/>
          <p:cNvSpPr/>
          <p:nvPr/>
        </p:nvSpPr>
        <p:spPr>
          <a:xfrm>
            <a:off x="3767328" y="2926080"/>
            <a:ext cx="1645920" cy="54864"/>
          </a:xfrm>
          <a:prstGeom prst="rect">
            <a:avLst/>
          </a:prstGeom>
          <a:solidFill>
            <a:srgbClr val="3B82F6"/>
          </a:solidFill>
          <a:ln/>
        </p:spPr>
      </p:sp>
      <p:pic>
        <p:nvPicPr>
          <p:cNvPr id="50" name="Image 7" descr="preencoded.png">    </p:cNvPr>
          <p:cNvPicPr>
            <a:picLocks noChangeAspect="1"/>
          </p:cNvPicPr>
          <p:nvPr/>
        </p:nvPicPr>
        <p:blipFill>
          <a:blip r:embed="rId8"/>
          <a:stretch>
            <a:fillRect/>
          </a:stretch>
        </p:blipFill>
        <p:spPr>
          <a:xfrm>
            <a:off x="4389120" y="3072384"/>
            <a:ext cx="384048" cy="384048"/>
          </a:xfrm>
          <a:prstGeom prst="rect">
            <a:avLst/>
          </a:prstGeom>
        </p:spPr>
      </p:pic>
      <p:sp>
        <p:nvSpPr>
          <p:cNvPr id="51" name="Text 41"/>
          <p:cNvSpPr/>
          <p:nvPr/>
        </p:nvSpPr>
        <p:spPr>
          <a:xfrm>
            <a:off x="3767328" y="3520440"/>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08</a:t>
            </a:r>
            <a:endParaRPr lang="en-US" sz="1800" dirty="0"/>
          </a:p>
        </p:txBody>
      </p:sp>
      <p:sp>
        <p:nvSpPr>
          <p:cNvPr id="52" name="Text 42"/>
          <p:cNvSpPr/>
          <p:nvPr/>
        </p:nvSpPr>
        <p:spPr>
          <a:xfrm>
            <a:off x="3840480" y="3840480"/>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Pivoting Experiment</a:t>
            </a:r>
            <a:endParaRPr lang="en-US" sz="1000" dirty="0"/>
          </a:p>
        </p:txBody>
      </p:sp>
      <p:sp>
        <p:nvSpPr>
          <p:cNvPr id="53" name="Text 43"/>
          <p:cNvSpPr/>
          <p:nvPr/>
        </p:nvSpPr>
        <p:spPr>
          <a:xfrm>
            <a:off x="3822192" y="4224528"/>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Translate-then-Generate approach</a:t>
            </a:r>
            <a:endParaRPr lang="en-US" sz="800" dirty="0"/>
          </a:p>
        </p:txBody>
      </p:sp>
      <p:sp>
        <p:nvSpPr>
          <p:cNvPr id="54" name="Shape 44"/>
          <p:cNvSpPr/>
          <p:nvPr/>
        </p:nvSpPr>
        <p:spPr>
          <a:xfrm>
            <a:off x="5504688" y="2926080"/>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55" name="Shape 45"/>
          <p:cNvSpPr/>
          <p:nvPr/>
        </p:nvSpPr>
        <p:spPr>
          <a:xfrm>
            <a:off x="5504688" y="2926080"/>
            <a:ext cx="1645920" cy="54864"/>
          </a:xfrm>
          <a:prstGeom prst="rect">
            <a:avLst/>
          </a:prstGeom>
          <a:solidFill>
            <a:srgbClr val="3B82F6"/>
          </a:solidFill>
          <a:ln/>
        </p:spPr>
      </p:sp>
      <p:pic>
        <p:nvPicPr>
          <p:cNvPr id="56" name="Image 8" descr="preencoded.png">    </p:cNvPr>
          <p:cNvPicPr>
            <a:picLocks noChangeAspect="1"/>
          </p:cNvPicPr>
          <p:nvPr/>
        </p:nvPicPr>
        <p:blipFill>
          <a:blip r:embed="rId9"/>
          <a:stretch>
            <a:fillRect/>
          </a:stretch>
        </p:blipFill>
        <p:spPr>
          <a:xfrm>
            <a:off x="6126480" y="3072384"/>
            <a:ext cx="384048" cy="384048"/>
          </a:xfrm>
          <a:prstGeom prst="rect">
            <a:avLst/>
          </a:prstGeom>
        </p:spPr>
      </p:pic>
      <p:sp>
        <p:nvSpPr>
          <p:cNvPr id="57" name="Text 46"/>
          <p:cNvSpPr/>
          <p:nvPr/>
        </p:nvSpPr>
        <p:spPr>
          <a:xfrm>
            <a:off x="5504688" y="3520440"/>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09</a:t>
            </a:r>
            <a:endParaRPr lang="en-US" sz="1800" dirty="0"/>
          </a:p>
        </p:txBody>
      </p:sp>
      <p:sp>
        <p:nvSpPr>
          <p:cNvPr id="58" name="Text 47"/>
          <p:cNvSpPr/>
          <p:nvPr/>
        </p:nvSpPr>
        <p:spPr>
          <a:xfrm>
            <a:off x="5577840" y="3840480"/>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Results &amp; Analysis</a:t>
            </a:r>
            <a:endParaRPr lang="en-US" sz="1000" dirty="0"/>
          </a:p>
        </p:txBody>
      </p:sp>
      <p:sp>
        <p:nvSpPr>
          <p:cNvPr id="59" name="Text 48"/>
          <p:cNvSpPr/>
          <p:nvPr/>
        </p:nvSpPr>
        <p:spPr>
          <a:xfrm>
            <a:off x="5559552" y="4224528"/>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Findings, trade-offs, observations</a:t>
            </a:r>
            <a:endParaRPr lang="en-US" sz="800" dirty="0"/>
          </a:p>
        </p:txBody>
      </p:sp>
      <p:sp>
        <p:nvSpPr>
          <p:cNvPr id="60" name="Shape 49"/>
          <p:cNvSpPr/>
          <p:nvPr/>
        </p:nvSpPr>
        <p:spPr>
          <a:xfrm>
            <a:off x="7242048" y="2926080"/>
            <a:ext cx="1645920" cy="16916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61" name="Shape 50"/>
          <p:cNvSpPr/>
          <p:nvPr/>
        </p:nvSpPr>
        <p:spPr>
          <a:xfrm>
            <a:off x="7242048" y="2926080"/>
            <a:ext cx="1645920" cy="54864"/>
          </a:xfrm>
          <a:prstGeom prst="rect">
            <a:avLst/>
          </a:prstGeom>
          <a:solidFill>
            <a:srgbClr val="3B82F6"/>
          </a:solidFill>
          <a:ln/>
        </p:spPr>
      </p:sp>
      <p:pic>
        <p:nvPicPr>
          <p:cNvPr id="62" name="Image 9" descr="preencoded.png">    </p:cNvPr>
          <p:cNvPicPr>
            <a:picLocks noChangeAspect="1"/>
          </p:cNvPicPr>
          <p:nvPr/>
        </p:nvPicPr>
        <p:blipFill>
          <a:blip r:embed="rId10"/>
          <a:stretch>
            <a:fillRect/>
          </a:stretch>
        </p:blipFill>
        <p:spPr>
          <a:xfrm>
            <a:off x="7863840" y="3072384"/>
            <a:ext cx="384048" cy="384048"/>
          </a:xfrm>
          <a:prstGeom prst="rect">
            <a:avLst/>
          </a:prstGeom>
        </p:spPr>
      </p:pic>
      <p:sp>
        <p:nvSpPr>
          <p:cNvPr id="63" name="Text 51"/>
          <p:cNvSpPr/>
          <p:nvPr/>
        </p:nvSpPr>
        <p:spPr>
          <a:xfrm>
            <a:off x="7242048" y="3520440"/>
            <a:ext cx="1645920" cy="310896"/>
          </a:xfrm>
          <a:prstGeom prst="rect">
            <a:avLst/>
          </a:prstGeom>
          <a:noFill/>
          <a:ln/>
        </p:spPr>
        <p:txBody>
          <a:bodyPr wrap="square" lIns="0" tIns="0" rIns="0" bIns="0" rtlCol="0" anchor="ctr"/>
          <a:lstStyle/>
          <a:p>
            <a:pPr algn="ctr" indent="0" marL="0">
              <a:buNone/>
            </a:pPr>
            <a:r>
              <a:rPr lang="en-US" sz="1800" b="1" dirty="0">
                <a:solidFill>
                  <a:srgbClr val="3B82F6"/>
                </a:solidFill>
                <a:latin typeface="Georgia" pitchFamily="34" charset="0"/>
                <a:ea typeface="Georgia" pitchFamily="34" charset="-122"/>
                <a:cs typeface="Georgia" pitchFamily="34" charset="-120"/>
              </a:rPr>
              <a:t>10</a:t>
            </a:r>
            <a:endParaRPr lang="en-US" sz="1800" dirty="0"/>
          </a:p>
        </p:txBody>
      </p:sp>
      <p:sp>
        <p:nvSpPr>
          <p:cNvPr id="64" name="Text 52"/>
          <p:cNvSpPr/>
          <p:nvPr/>
        </p:nvSpPr>
        <p:spPr>
          <a:xfrm>
            <a:off x="7315200" y="3840480"/>
            <a:ext cx="1499616" cy="347472"/>
          </a:xfrm>
          <a:prstGeom prst="rect">
            <a:avLst/>
          </a:prstGeom>
          <a:noFill/>
          <a:ln/>
        </p:spPr>
        <p:txBody>
          <a:bodyPr wrap="square" lIns="0" tIns="0" rIns="0" bIns="0" rtlCol="0" anchor="ctr"/>
          <a:lstStyle/>
          <a:p>
            <a:pPr algn="ctr" indent="0" marL="0">
              <a:buNone/>
            </a:pPr>
            <a:r>
              <a:rPr lang="en-US" sz="1000" b="1" dirty="0">
                <a:solidFill>
                  <a:srgbClr val="0D1B3E"/>
                </a:solidFill>
                <a:latin typeface="Georgia" pitchFamily="34" charset="0"/>
                <a:ea typeface="Georgia" pitchFamily="34" charset="-122"/>
                <a:cs typeface="Georgia" pitchFamily="34" charset="-120"/>
              </a:rPr>
              <a:t>Future Work</a:t>
            </a:r>
            <a:endParaRPr lang="en-US" sz="1000" dirty="0"/>
          </a:p>
        </p:txBody>
      </p:sp>
      <p:sp>
        <p:nvSpPr>
          <p:cNvPr id="65" name="Text 53"/>
          <p:cNvSpPr/>
          <p:nvPr/>
        </p:nvSpPr>
        <p:spPr>
          <a:xfrm>
            <a:off x="7296912" y="4224528"/>
            <a:ext cx="1536192" cy="310896"/>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Roadmap for native SLM development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Problem Statement</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The representation gap in modern language models</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2926080" cy="1115568"/>
          </a:xfrm>
          <a:prstGeom prst="rect">
            <a:avLst/>
          </a:prstGeom>
          <a:solidFill>
            <a:srgbClr val="0D1B3E"/>
          </a:solidFill>
          <a:ln/>
          <a:effectLst>
            <a:outerShdw sx="100000" sy="100000" kx="0" ky="0" algn="bl" rotWithShape="0" blurRad="101600" dist="38100" dir="8100000">
              <a:srgbClr val="000000">
                <a:alpha val="15000"/>
              </a:srgbClr>
            </a:outerShdw>
          </a:effectLst>
        </p:spPr>
      </p:sp>
      <p:sp>
        <p:nvSpPr>
          <p:cNvPr id="7" name="Text 5"/>
          <p:cNvSpPr/>
          <p:nvPr/>
        </p:nvSpPr>
        <p:spPr>
          <a:xfrm>
            <a:off x="347472" y="1207008"/>
            <a:ext cx="2926080" cy="594360"/>
          </a:xfrm>
          <a:prstGeom prst="rect">
            <a:avLst/>
          </a:prstGeom>
          <a:noFill/>
          <a:ln/>
        </p:spPr>
        <p:txBody>
          <a:bodyPr wrap="square" lIns="0" tIns="0" rIns="0" bIns="0" rtlCol="0" anchor="ctr"/>
          <a:lstStyle/>
          <a:p>
            <a:pPr algn="ctr" indent="0" marL="0">
              <a:buNone/>
            </a:pPr>
            <a:r>
              <a:rPr lang="en-US" sz="3200" b="1" dirty="0">
                <a:solidFill>
                  <a:srgbClr val="3B82F6"/>
                </a:solidFill>
                <a:latin typeface="Georgia" pitchFamily="34" charset="0"/>
                <a:ea typeface="Georgia" pitchFamily="34" charset="-122"/>
                <a:cs typeface="Georgia" pitchFamily="34" charset="-120"/>
              </a:rPr>
              <a:t>600M+</a:t>
            </a:r>
            <a:endParaRPr lang="en-US" sz="3200" dirty="0"/>
          </a:p>
        </p:txBody>
      </p:sp>
      <p:sp>
        <p:nvSpPr>
          <p:cNvPr id="8" name="Text 6"/>
          <p:cNvSpPr/>
          <p:nvPr/>
        </p:nvSpPr>
        <p:spPr>
          <a:xfrm>
            <a:off x="347472" y="1828800"/>
            <a:ext cx="2926080" cy="310896"/>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Speakers of Bengali, Odia &amp; Gujarati</a:t>
            </a:r>
            <a:endParaRPr lang="en-US" sz="1000" dirty="0"/>
          </a:p>
        </p:txBody>
      </p:sp>
      <p:sp>
        <p:nvSpPr>
          <p:cNvPr id="9" name="Shape 7"/>
          <p:cNvSpPr/>
          <p:nvPr/>
        </p:nvSpPr>
        <p:spPr>
          <a:xfrm>
            <a:off x="347472" y="2359152"/>
            <a:ext cx="2926080" cy="1115568"/>
          </a:xfrm>
          <a:prstGeom prst="rect">
            <a:avLst/>
          </a:prstGeom>
          <a:solidFill>
            <a:srgbClr val="1A3A6E"/>
          </a:solidFill>
          <a:ln/>
          <a:effectLst>
            <a:outerShdw sx="100000" sy="100000" kx="0" ky="0" algn="bl" rotWithShape="0" blurRad="101600" dist="38100" dir="8100000">
              <a:srgbClr val="000000">
                <a:alpha val="15000"/>
              </a:srgbClr>
            </a:outerShdw>
          </a:effectLst>
        </p:spPr>
      </p:sp>
      <p:sp>
        <p:nvSpPr>
          <p:cNvPr id="10" name="Text 8"/>
          <p:cNvSpPr/>
          <p:nvPr/>
        </p:nvSpPr>
        <p:spPr>
          <a:xfrm>
            <a:off x="347472" y="2450592"/>
            <a:ext cx="2926080" cy="594360"/>
          </a:xfrm>
          <a:prstGeom prst="rect">
            <a:avLst/>
          </a:prstGeom>
          <a:noFill/>
          <a:ln/>
        </p:spPr>
        <p:txBody>
          <a:bodyPr wrap="square" lIns="0" tIns="0" rIns="0" bIns="0" rtlCol="0" anchor="ctr"/>
          <a:lstStyle/>
          <a:p>
            <a:pPr algn="ctr" indent="0" marL="0">
              <a:buNone/>
            </a:pPr>
            <a:r>
              <a:rPr lang="en-US" sz="3200" b="1" dirty="0">
                <a:solidFill>
                  <a:srgbClr val="3B82F6"/>
                </a:solidFill>
                <a:latin typeface="Georgia" pitchFamily="34" charset="0"/>
                <a:ea typeface="Georgia" pitchFamily="34" charset="-122"/>
                <a:cs typeface="Georgia" pitchFamily="34" charset="-120"/>
              </a:rPr>
              <a:t>&lt; 1%</a:t>
            </a:r>
            <a:endParaRPr lang="en-US" sz="3200" dirty="0"/>
          </a:p>
        </p:txBody>
      </p:sp>
      <p:sp>
        <p:nvSpPr>
          <p:cNvPr id="11" name="Text 9"/>
          <p:cNvSpPr/>
          <p:nvPr/>
        </p:nvSpPr>
        <p:spPr>
          <a:xfrm>
            <a:off x="347472" y="3072384"/>
            <a:ext cx="2926080" cy="310896"/>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Indic data in top open LLMs</a:t>
            </a:r>
            <a:endParaRPr lang="en-US" sz="1000" dirty="0"/>
          </a:p>
        </p:txBody>
      </p:sp>
      <p:sp>
        <p:nvSpPr>
          <p:cNvPr id="12" name="Shape 10"/>
          <p:cNvSpPr/>
          <p:nvPr/>
        </p:nvSpPr>
        <p:spPr>
          <a:xfrm>
            <a:off x="347472" y="3602736"/>
            <a:ext cx="2926080" cy="1115568"/>
          </a:xfrm>
          <a:prstGeom prst="rect">
            <a:avLst/>
          </a:prstGeom>
          <a:solidFill>
            <a:srgbClr val="1E4D8C"/>
          </a:solidFill>
          <a:ln/>
          <a:effectLst>
            <a:outerShdw sx="100000" sy="100000" kx="0" ky="0" algn="bl" rotWithShape="0" blurRad="101600" dist="38100" dir="8100000">
              <a:srgbClr val="000000">
                <a:alpha val="15000"/>
              </a:srgbClr>
            </a:outerShdw>
          </a:effectLst>
        </p:spPr>
      </p:sp>
      <p:sp>
        <p:nvSpPr>
          <p:cNvPr id="13" name="Text 11"/>
          <p:cNvSpPr/>
          <p:nvPr/>
        </p:nvSpPr>
        <p:spPr>
          <a:xfrm>
            <a:off x="347472" y="3694176"/>
            <a:ext cx="2926080" cy="594360"/>
          </a:xfrm>
          <a:prstGeom prst="rect">
            <a:avLst/>
          </a:prstGeom>
          <a:noFill/>
          <a:ln/>
        </p:spPr>
        <p:txBody>
          <a:bodyPr wrap="square" lIns="0" tIns="0" rIns="0" bIns="0" rtlCol="0" anchor="ctr"/>
          <a:lstStyle/>
          <a:p>
            <a:pPr algn="ctr" indent="0" marL="0">
              <a:buNone/>
            </a:pPr>
            <a:r>
              <a:rPr lang="en-US" sz="3200" b="1" dirty="0">
                <a:solidFill>
                  <a:srgbClr val="3B82F6"/>
                </a:solidFill>
                <a:latin typeface="Georgia" pitchFamily="34" charset="0"/>
                <a:ea typeface="Georgia" pitchFamily="34" charset="-122"/>
                <a:cs typeface="Georgia" pitchFamily="34" charset="-120"/>
              </a:rPr>
              <a:t>3–5×</a:t>
            </a:r>
            <a:endParaRPr lang="en-US" sz="3200" dirty="0"/>
          </a:p>
        </p:txBody>
      </p:sp>
      <p:sp>
        <p:nvSpPr>
          <p:cNvPr id="14" name="Text 12"/>
          <p:cNvSpPr/>
          <p:nvPr/>
        </p:nvSpPr>
        <p:spPr>
          <a:xfrm>
            <a:off x="347472" y="4315968"/>
            <a:ext cx="2926080" cy="310896"/>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Token fragmentation vs English</a:t>
            </a:r>
            <a:endParaRPr lang="en-US" sz="1000" dirty="0"/>
          </a:p>
        </p:txBody>
      </p:sp>
      <p:sp>
        <p:nvSpPr>
          <p:cNvPr id="15" name="Shape 13"/>
          <p:cNvSpPr/>
          <p:nvPr/>
        </p:nvSpPr>
        <p:spPr>
          <a:xfrm>
            <a:off x="3547872" y="1115568"/>
            <a:ext cx="5230368" cy="3584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6" name="Shape 14"/>
          <p:cNvSpPr/>
          <p:nvPr/>
        </p:nvSpPr>
        <p:spPr>
          <a:xfrm>
            <a:off x="3547872" y="1115568"/>
            <a:ext cx="73152" cy="3584448"/>
          </a:xfrm>
          <a:prstGeom prst="rect">
            <a:avLst/>
          </a:prstGeom>
          <a:solidFill>
            <a:srgbClr val="3B82F6"/>
          </a:solidFill>
          <a:ln/>
        </p:spPr>
      </p:sp>
      <p:sp>
        <p:nvSpPr>
          <p:cNvPr id="17" name="Text 15"/>
          <p:cNvSpPr/>
          <p:nvPr/>
        </p:nvSpPr>
        <p:spPr>
          <a:xfrm>
            <a:off x="3730752" y="1188720"/>
            <a:ext cx="4919472" cy="347472"/>
          </a:xfrm>
          <a:prstGeom prst="rect">
            <a:avLst/>
          </a:prstGeom>
          <a:noFill/>
          <a:ln/>
        </p:spPr>
        <p:txBody>
          <a:bodyPr wrap="square" lIns="0" tIns="0" rIns="0" bIns="0" rtlCol="0" anchor="ctr"/>
          <a:lstStyle/>
          <a:p>
            <a:pPr indent="0" marL="0">
              <a:buNone/>
            </a:pPr>
            <a:r>
              <a:rPr lang="en-US" sz="1400" b="1" dirty="0">
                <a:solidFill>
                  <a:srgbClr val="0D1B3E"/>
                </a:solidFill>
                <a:latin typeface="Georgia" pitchFamily="34" charset="0"/>
                <a:ea typeface="Georgia" pitchFamily="34" charset="-122"/>
                <a:cs typeface="Georgia" pitchFamily="34" charset="-120"/>
              </a:rPr>
              <a:t>Core Challenges</a:t>
            </a:r>
            <a:endParaRPr lang="en-US" sz="1400" dirty="0"/>
          </a:p>
        </p:txBody>
      </p:sp>
      <p:sp>
        <p:nvSpPr>
          <p:cNvPr id="18" name="Text 16"/>
          <p:cNvSpPr/>
          <p:nvPr/>
        </p:nvSpPr>
        <p:spPr>
          <a:xfrm>
            <a:off x="3730752" y="1572768"/>
            <a:ext cx="4919472" cy="2980944"/>
          </a:xfrm>
          <a:prstGeom prst="rect">
            <a:avLst/>
          </a:prstGeom>
          <a:noFill/>
          <a:ln/>
        </p:spPr>
        <p:txBody>
          <a:bodyPr wrap="square" lIns="0" tIns="101600" rIns="101600" bIns="0" rtlCol="0" anchor="ctr"/>
          <a:lstStyle/>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LLMs like LLaMA &amp; Gemma are 90%+ English-trained — poor Indic performance</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Indic scripts (Bengali, Odia, Gujarati) require specialized tokenization</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Noisy web data, code-mixing &amp; unstructured content degrade training quality</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Labeled QA datasets for Indic languages are almost non-existent</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Training large models from scratch requires compute infeasible in academia</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Existing initiatives (Sarvam AI, AI4Bharat) lack extensive benchmarking for all three target languages</a:t>
            </a:r>
            <a:endParaRPr lang="en-US" sz="1100" dirty="0"/>
          </a:p>
        </p:txBody>
      </p:sp>
      <p:sp>
        <p:nvSpPr>
          <p:cNvPr id="19" name="Shape 17"/>
          <p:cNvSpPr/>
          <p:nvPr/>
        </p:nvSpPr>
        <p:spPr>
          <a:xfrm>
            <a:off x="347472" y="4809744"/>
            <a:ext cx="8449056" cy="137160"/>
          </a:xfrm>
          <a:prstGeom prst="rect">
            <a:avLst/>
          </a:prstGeom>
          <a:solidFill>
            <a:srgbClr val="F0F5FF"/>
          </a:solidFill>
          <a:ln/>
        </p:spPr>
      </p:sp>
      <p:sp>
        <p:nvSpPr>
          <p:cNvPr id="20" name="Text 18"/>
          <p:cNvSpPr/>
          <p:nvPr/>
        </p:nvSpPr>
        <p:spPr>
          <a:xfrm>
            <a:off x="347472" y="4809744"/>
            <a:ext cx="8449056" cy="256032"/>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Bridging this gap enables inclusive access to healthcare, education, and government services for 600M+ native speakers.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Why Bengali, Odia &amp; Gujarati?</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Targeting high-impact, underrepresented Indic languages</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2761488" cy="3584448"/>
          </a:xfrm>
          <a:prstGeom prst="rect">
            <a:avLst/>
          </a:prstGeom>
          <a:solidFill>
            <a:srgbClr val="0D1B3E"/>
          </a:solidFill>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2761488" cy="457200"/>
          </a:xfrm>
          <a:prstGeom prst="rect">
            <a:avLst/>
          </a:prstGeom>
          <a:solidFill>
            <a:srgbClr val="3B82F6"/>
          </a:solidFill>
          <a:ln/>
        </p:spPr>
      </p:sp>
      <p:sp>
        <p:nvSpPr>
          <p:cNvPr id="8" name="Text 6"/>
          <p:cNvSpPr/>
          <p:nvPr/>
        </p:nvSpPr>
        <p:spPr>
          <a:xfrm>
            <a:off x="347472" y="1115568"/>
            <a:ext cx="2761488"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Bengali  বাংলা</a:t>
            </a:r>
            <a:endParaRPr lang="en-US" sz="1300" dirty="0"/>
          </a:p>
        </p:txBody>
      </p:sp>
      <p:sp>
        <p:nvSpPr>
          <p:cNvPr id="9" name="Shape 7"/>
          <p:cNvSpPr/>
          <p:nvPr/>
        </p:nvSpPr>
        <p:spPr>
          <a:xfrm>
            <a:off x="1335024" y="1700784"/>
            <a:ext cx="786384" cy="786384"/>
          </a:xfrm>
          <a:prstGeom prst="ellipse">
            <a:avLst/>
          </a:prstGeom>
          <a:solidFill>
            <a:srgbClr val="FFFFFF"/>
          </a:solidFill>
          <a:ln w="12700">
            <a:solidFill>
              <a:srgbClr val="93C5FD"/>
            </a:solidFill>
            <a:prstDash val="solid"/>
          </a:ln>
        </p:spPr>
      </p:sp>
      <p:sp>
        <p:nvSpPr>
          <p:cNvPr id="10" name="Text 8"/>
          <p:cNvSpPr/>
          <p:nvPr/>
        </p:nvSpPr>
        <p:spPr>
          <a:xfrm>
            <a:off x="1335024" y="1700784"/>
            <a:ext cx="786384" cy="786384"/>
          </a:xfrm>
          <a:prstGeom prst="rect">
            <a:avLst/>
          </a:prstGeom>
          <a:noFill/>
          <a:ln/>
        </p:spPr>
        <p:txBody>
          <a:bodyPr wrap="square" rtlCol="0" anchor="ctr"/>
          <a:lstStyle/>
          <a:p>
            <a:pPr algn="ctr" indent="0" marL="0">
              <a:buNone/>
            </a:pPr>
            <a:r>
              <a:rPr lang="en-US" sz="1500" b="1" dirty="0">
                <a:solidFill>
                  <a:srgbClr val="0D1B3E"/>
                </a:solidFill>
                <a:latin typeface="Georgia" pitchFamily="34" charset="0"/>
                <a:ea typeface="Georgia" pitchFamily="34" charset="-122"/>
                <a:cs typeface="Georgia" pitchFamily="34" charset="-120"/>
              </a:rPr>
              <a:t>bn</a:t>
            </a:r>
            <a:endParaRPr lang="en-US" sz="1500" dirty="0"/>
          </a:p>
        </p:txBody>
      </p:sp>
      <p:sp>
        <p:nvSpPr>
          <p:cNvPr id="11" name="Text 9"/>
          <p:cNvSpPr/>
          <p:nvPr/>
        </p:nvSpPr>
        <p:spPr>
          <a:xfrm>
            <a:off x="347472" y="2651760"/>
            <a:ext cx="2761488" cy="411480"/>
          </a:xfrm>
          <a:prstGeom prst="rect">
            <a:avLst/>
          </a:prstGeom>
          <a:noFill/>
          <a:ln/>
        </p:spPr>
        <p:txBody>
          <a:bodyPr wrap="square" lIns="0" tIns="0" rIns="0" bIns="0" rtlCol="0" anchor="ctr"/>
          <a:lstStyle/>
          <a:p>
            <a:pPr algn="ctr" indent="0" marL="0">
              <a:buNone/>
            </a:pPr>
            <a:r>
              <a:rPr lang="en-US" sz="2400" b="1" dirty="0">
                <a:solidFill>
                  <a:srgbClr val="3B82F6"/>
                </a:solidFill>
                <a:latin typeface="Georgia" pitchFamily="34" charset="0"/>
                <a:ea typeface="Georgia" pitchFamily="34" charset="-122"/>
                <a:cs typeface="Georgia" pitchFamily="34" charset="-120"/>
              </a:rPr>
              <a:t>230M+</a:t>
            </a:r>
            <a:endParaRPr lang="en-US" sz="2400" dirty="0"/>
          </a:p>
        </p:txBody>
      </p:sp>
      <p:sp>
        <p:nvSpPr>
          <p:cNvPr id="12" name="Text 10"/>
          <p:cNvSpPr/>
          <p:nvPr/>
        </p:nvSpPr>
        <p:spPr>
          <a:xfrm>
            <a:off x="347472" y="3072384"/>
            <a:ext cx="2761488" cy="219456"/>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speakers</a:t>
            </a:r>
            <a:endParaRPr lang="en-US" sz="1000" dirty="0"/>
          </a:p>
        </p:txBody>
      </p:sp>
      <p:sp>
        <p:nvSpPr>
          <p:cNvPr id="13" name="Text 11"/>
          <p:cNvSpPr/>
          <p:nvPr/>
        </p:nvSpPr>
        <p:spPr>
          <a:xfrm>
            <a:off x="457200" y="3346704"/>
            <a:ext cx="2542032" cy="274320"/>
          </a:xfrm>
          <a:prstGeom prst="rect">
            <a:avLst/>
          </a:prstGeom>
          <a:noFill/>
          <a:ln/>
        </p:spPr>
        <p:txBody>
          <a:bodyPr wrap="square" lIns="0" tIns="0" rIns="0" bIns="0" rtlCol="0" anchor="ctr"/>
          <a:lstStyle/>
          <a:p>
            <a:pPr algn="ctr" indent="0" marL="0">
              <a:buNone/>
            </a:pPr>
            <a:r>
              <a:rPr lang="en-US" sz="1000" i="1" dirty="0">
                <a:solidFill>
                  <a:srgbClr val="93C5FD"/>
                </a:solidFill>
                <a:latin typeface="Calibri" pitchFamily="34" charset="0"/>
                <a:ea typeface="Calibri" pitchFamily="34" charset="-122"/>
                <a:cs typeface="Calibri" pitchFamily="34" charset="-120"/>
              </a:rPr>
              <a:t>7th most spoken globally</a:t>
            </a:r>
            <a:endParaRPr lang="en-US" sz="1000" dirty="0"/>
          </a:p>
        </p:txBody>
      </p:sp>
      <p:sp>
        <p:nvSpPr>
          <p:cNvPr id="14" name="Text 12"/>
          <p:cNvSpPr/>
          <p:nvPr/>
        </p:nvSpPr>
        <p:spPr>
          <a:xfrm>
            <a:off x="457200" y="3675888"/>
            <a:ext cx="2542032" cy="896112"/>
          </a:xfrm>
          <a:prstGeom prst="rect">
            <a:avLst/>
          </a:prstGeom>
          <a:noFill/>
          <a:ln/>
        </p:spPr>
        <p:txBody>
          <a:bodyPr wrap="square" lIns="0" tIns="0" rIns="0" bIns="0" rtlCol="0" anchor="ctr"/>
          <a:lstStyle/>
          <a:p>
            <a:pPr algn="ctr" indent="0" marL="0">
              <a:buNone/>
            </a:pPr>
            <a:r>
              <a:rPr lang="en-US" sz="950" dirty="0">
                <a:solidFill>
                  <a:srgbClr val="93C5FD"/>
                </a:solidFill>
                <a:latin typeface="Calibri" pitchFamily="34" charset="0"/>
                <a:ea typeface="Calibri" pitchFamily="34" charset="-122"/>
                <a:cs typeface="Calibri" pitchFamily="34" charset="-120"/>
              </a:rPr>
              <a:t>Rich literature; strong NLP community but limited generative models</a:t>
            </a:r>
            <a:endParaRPr lang="en-US" sz="950" dirty="0"/>
          </a:p>
        </p:txBody>
      </p:sp>
      <p:sp>
        <p:nvSpPr>
          <p:cNvPr id="15" name="Shape 13"/>
          <p:cNvSpPr/>
          <p:nvPr/>
        </p:nvSpPr>
        <p:spPr>
          <a:xfrm>
            <a:off x="3255264" y="1115568"/>
            <a:ext cx="2761488" cy="3584448"/>
          </a:xfrm>
          <a:prstGeom prst="rect">
            <a:avLst/>
          </a:prstGeom>
          <a:solidFill>
            <a:srgbClr val="1E4D8C"/>
          </a:solidFill>
          <a:ln/>
          <a:effectLst>
            <a:outerShdw sx="100000" sy="100000" kx="0" ky="0" algn="bl" rotWithShape="0" blurRad="101600" dist="38100" dir="8100000">
              <a:srgbClr val="000000">
                <a:alpha val="15000"/>
              </a:srgbClr>
            </a:outerShdw>
          </a:effectLst>
        </p:spPr>
      </p:sp>
      <p:sp>
        <p:nvSpPr>
          <p:cNvPr id="16" name="Shape 14"/>
          <p:cNvSpPr/>
          <p:nvPr/>
        </p:nvSpPr>
        <p:spPr>
          <a:xfrm>
            <a:off x="3255264" y="1115568"/>
            <a:ext cx="2761488" cy="457200"/>
          </a:xfrm>
          <a:prstGeom prst="rect">
            <a:avLst/>
          </a:prstGeom>
          <a:solidFill>
            <a:srgbClr val="3B82F6"/>
          </a:solidFill>
          <a:ln/>
        </p:spPr>
      </p:sp>
      <p:sp>
        <p:nvSpPr>
          <p:cNvPr id="17" name="Text 15"/>
          <p:cNvSpPr/>
          <p:nvPr/>
        </p:nvSpPr>
        <p:spPr>
          <a:xfrm>
            <a:off x="3255264" y="1115568"/>
            <a:ext cx="2761488"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Odia  ଓଡ଼ିଆ</a:t>
            </a:r>
            <a:endParaRPr lang="en-US" sz="1300" dirty="0"/>
          </a:p>
        </p:txBody>
      </p:sp>
      <p:sp>
        <p:nvSpPr>
          <p:cNvPr id="18" name="Shape 16"/>
          <p:cNvSpPr/>
          <p:nvPr/>
        </p:nvSpPr>
        <p:spPr>
          <a:xfrm>
            <a:off x="4242816" y="1700784"/>
            <a:ext cx="786384" cy="786384"/>
          </a:xfrm>
          <a:prstGeom prst="ellipse">
            <a:avLst/>
          </a:prstGeom>
          <a:solidFill>
            <a:srgbClr val="FFFFFF"/>
          </a:solidFill>
          <a:ln w="12700">
            <a:solidFill>
              <a:srgbClr val="93C5FD"/>
            </a:solidFill>
            <a:prstDash val="solid"/>
          </a:ln>
        </p:spPr>
      </p:sp>
      <p:sp>
        <p:nvSpPr>
          <p:cNvPr id="19" name="Text 17"/>
          <p:cNvSpPr/>
          <p:nvPr/>
        </p:nvSpPr>
        <p:spPr>
          <a:xfrm>
            <a:off x="4242816" y="1700784"/>
            <a:ext cx="786384" cy="786384"/>
          </a:xfrm>
          <a:prstGeom prst="rect">
            <a:avLst/>
          </a:prstGeom>
          <a:noFill/>
          <a:ln/>
        </p:spPr>
        <p:txBody>
          <a:bodyPr wrap="square" rtlCol="0" anchor="ctr"/>
          <a:lstStyle/>
          <a:p>
            <a:pPr algn="ctr" indent="0" marL="0">
              <a:buNone/>
            </a:pPr>
            <a:r>
              <a:rPr lang="en-US" sz="1500" b="1" dirty="0">
                <a:solidFill>
                  <a:srgbClr val="1E4D8C"/>
                </a:solidFill>
                <a:latin typeface="Georgia" pitchFamily="34" charset="0"/>
                <a:ea typeface="Georgia" pitchFamily="34" charset="-122"/>
                <a:cs typeface="Georgia" pitchFamily="34" charset="-120"/>
              </a:rPr>
              <a:t>or</a:t>
            </a:r>
            <a:endParaRPr lang="en-US" sz="1500" dirty="0"/>
          </a:p>
        </p:txBody>
      </p:sp>
      <p:sp>
        <p:nvSpPr>
          <p:cNvPr id="20" name="Text 18"/>
          <p:cNvSpPr/>
          <p:nvPr/>
        </p:nvSpPr>
        <p:spPr>
          <a:xfrm>
            <a:off x="3255264" y="2651760"/>
            <a:ext cx="2761488" cy="411480"/>
          </a:xfrm>
          <a:prstGeom prst="rect">
            <a:avLst/>
          </a:prstGeom>
          <a:noFill/>
          <a:ln/>
        </p:spPr>
        <p:txBody>
          <a:bodyPr wrap="square" lIns="0" tIns="0" rIns="0" bIns="0" rtlCol="0" anchor="ctr"/>
          <a:lstStyle/>
          <a:p>
            <a:pPr algn="ctr" indent="0" marL="0">
              <a:buNone/>
            </a:pPr>
            <a:r>
              <a:rPr lang="en-US" sz="2400" b="1" dirty="0">
                <a:solidFill>
                  <a:srgbClr val="3B82F6"/>
                </a:solidFill>
                <a:latin typeface="Georgia" pitchFamily="34" charset="0"/>
                <a:ea typeface="Georgia" pitchFamily="34" charset="-122"/>
                <a:cs typeface="Georgia" pitchFamily="34" charset="-120"/>
              </a:rPr>
              <a:t>50M+</a:t>
            </a:r>
            <a:endParaRPr lang="en-US" sz="2400" dirty="0"/>
          </a:p>
        </p:txBody>
      </p:sp>
      <p:sp>
        <p:nvSpPr>
          <p:cNvPr id="21" name="Text 19"/>
          <p:cNvSpPr/>
          <p:nvPr/>
        </p:nvSpPr>
        <p:spPr>
          <a:xfrm>
            <a:off x="3255264" y="3072384"/>
            <a:ext cx="2761488" cy="219456"/>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speakers</a:t>
            </a:r>
            <a:endParaRPr lang="en-US" sz="1000" dirty="0"/>
          </a:p>
        </p:txBody>
      </p:sp>
      <p:sp>
        <p:nvSpPr>
          <p:cNvPr id="22" name="Text 20"/>
          <p:cNvSpPr/>
          <p:nvPr/>
        </p:nvSpPr>
        <p:spPr>
          <a:xfrm>
            <a:off x="3364992" y="3346704"/>
            <a:ext cx="2542032" cy="274320"/>
          </a:xfrm>
          <a:prstGeom prst="rect">
            <a:avLst/>
          </a:prstGeom>
          <a:noFill/>
          <a:ln/>
        </p:spPr>
        <p:txBody>
          <a:bodyPr wrap="square" lIns="0" tIns="0" rIns="0" bIns="0" rtlCol="0" anchor="ctr"/>
          <a:lstStyle/>
          <a:p>
            <a:pPr algn="ctr" indent="0" marL="0">
              <a:buNone/>
            </a:pPr>
            <a:r>
              <a:rPr lang="en-US" sz="1000" i="1" dirty="0">
                <a:solidFill>
                  <a:srgbClr val="93C5FD"/>
                </a:solidFill>
                <a:latin typeface="Calibri" pitchFamily="34" charset="0"/>
                <a:ea typeface="Calibri" pitchFamily="34" charset="-122"/>
                <a:cs typeface="Calibri" pitchFamily="34" charset="-120"/>
              </a:rPr>
              <a:t>Scheduled language of India</a:t>
            </a:r>
            <a:endParaRPr lang="en-US" sz="1000" dirty="0"/>
          </a:p>
        </p:txBody>
      </p:sp>
      <p:sp>
        <p:nvSpPr>
          <p:cNvPr id="23" name="Text 21"/>
          <p:cNvSpPr/>
          <p:nvPr/>
        </p:nvSpPr>
        <p:spPr>
          <a:xfrm>
            <a:off x="3364992" y="3675888"/>
            <a:ext cx="2542032" cy="896112"/>
          </a:xfrm>
          <a:prstGeom prst="rect">
            <a:avLst/>
          </a:prstGeom>
          <a:noFill/>
          <a:ln/>
        </p:spPr>
        <p:txBody>
          <a:bodyPr wrap="square" lIns="0" tIns="0" rIns="0" bIns="0" rtlCol="0" anchor="ctr"/>
          <a:lstStyle/>
          <a:p>
            <a:pPr algn="ctr" indent="0" marL="0">
              <a:buNone/>
            </a:pPr>
            <a:r>
              <a:rPr lang="en-US" sz="950" dirty="0">
                <a:solidFill>
                  <a:srgbClr val="93C5FD"/>
                </a:solidFill>
                <a:latin typeface="Calibri" pitchFamily="34" charset="0"/>
                <a:ea typeface="Calibri" pitchFamily="34" charset="-122"/>
                <a:cs typeface="Calibri" pitchFamily="34" charset="-120"/>
              </a:rPr>
              <a:t>Extremely low-resource; almost no modern NLP benchmarks exist</a:t>
            </a:r>
            <a:endParaRPr lang="en-US" sz="950" dirty="0"/>
          </a:p>
        </p:txBody>
      </p:sp>
      <p:sp>
        <p:nvSpPr>
          <p:cNvPr id="24" name="Shape 22"/>
          <p:cNvSpPr/>
          <p:nvPr/>
        </p:nvSpPr>
        <p:spPr>
          <a:xfrm>
            <a:off x="6163056" y="1115568"/>
            <a:ext cx="2761488" cy="3584448"/>
          </a:xfrm>
          <a:prstGeom prst="rect">
            <a:avLst/>
          </a:prstGeom>
          <a:solidFill>
            <a:srgbClr val="1A3A6E"/>
          </a:solidFill>
          <a:ln/>
          <a:effectLst>
            <a:outerShdw sx="100000" sy="100000" kx="0" ky="0" algn="bl" rotWithShape="0" blurRad="101600" dist="38100" dir="8100000">
              <a:srgbClr val="000000">
                <a:alpha val="15000"/>
              </a:srgbClr>
            </a:outerShdw>
          </a:effectLst>
        </p:spPr>
      </p:sp>
      <p:sp>
        <p:nvSpPr>
          <p:cNvPr id="25" name="Shape 23"/>
          <p:cNvSpPr/>
          <p:nvPr/>
        </p:nvSpPr>
        <p:spPr>
          <a:xfrm>
            <a:off x="6163056" y="1115568"/>
            <a:ext cx="2761488" cy="457200"/>
          </a:xfrm>
          <a:prstGeom prst="rect">
            <a:avLst/>
          </a:prstGeom>
          <a:solidFill>
            <a:srgbClr val="3B82F6"/>
          </a:solidFill>
          <a:ln/>
        </p:spPr>
      </p:sp>
      <p:sp>
        <p:nvSpPr>
          <p:cNvPr id="26" name="Text 24"/>
          <p:cNvSpPr/>
          <p:nvPr/>
        </p:nvSpPr>
        <p:spPr>
          <a:xfrm>
            <a:off x="6163056" y="1115568"/>
            <a:ext cx="2761488"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Gujarati  ગુજરાતી</a:t>
            </a:r>
            <a:endParaRPr lang="en-US" sz="1300" dirty="0"/>
          </a:p>
        </p:txBody>
      </p:sp>
      <p:sp>
        <p:nvSpPr>
          <p:cNvPr id="27" name="Shape 25"/>
          <p:cNvSpPr/>
          <p:nvPr/>
        </p:nvSpPr>
        <p:spPr>
          <a:xfrm>
            <a:off x="7150608" y="1700784"/>
            <a:ext cx="786384" cy="786384"/>
          </a:xfrm>
          <a:prstGeom prst="ellipse">
            <a:avLst/>
          </a:prstGeom>
          <a:solidFill>
            <a:srgbClr val="FFFFFF"/>
          </a:solidFill>
          <a:ln w="12700">
            <a:solidFill>
              <a:srgbClr val="93C5FD"/>
            </a:solidFill>
            <a:prstDash val="solid"/>
          </a:ln>
        </p:spPr>
      </p:sp>
      <p:sp>
        <p:nvSpPr>
          <p:cNvPr id="28" name="Text 26"/>
          <p:cNvSpPr/>
          <p:nvPr/>
        </p:nvSpPr>
        <p:spPr>
          <a:xfrm>
            <a:off x="7150608" y="1700784"/>
            <a:ext cx="786384" cy="786384"/>
          </a:xfrm>
          <a:prstGeom prst="rect">
            <a:avLst/>
          </a:prstGeom>
          <a:noFill/>
          <a:ln/>
        </p:spPr>
        <p:txBody>
          <a:bodyPr wrap="square" rtlCol="0" anchor="ctr"/>
          <a:lstStyle/>
          <a:p>
            <a:pPr algn="ctr" indent="0" marL="0">
              <a:buNone/>
            </a:pPr>
            <a:r>
              <a:rPr lang="en-US" sz="1500" b="1" dirty="0">
                <a:solidFill>
                  <a:srgbClr val="1A3A6E"/>
                </a:solidFill>
                <a:latin typeface="Georgia" pitchFamily="34" charset="0"/>
                <a:ea typeface="Georgia" pitchFamily="34" charset="-122"/>
                <a:cs typeface="Georgia" pitchFamily="34" charset="-120"/>
              </a:rPr>
              <a:t>gu</a:t>
            </a:r>
            <a:endParaRPr lang="en-US" sz="1500" dirty="0"/>
          </a:p>
        </p:txBody>
      </p:sp>
      <p:sp>
        <p:nvSpPr>
          <p:cNvPr id="29" name="Text 27"/>
          <p:cNvSpPr/>
          <p:nvPr/>
        </p:nvSpPr>
        <p:spPr>
          <a:xfrm>
            <a:off x="6163056" y="2651760"/>
            <a:ext cx="2761488" cy="411480"/>
          </a:xfrm>
          <a:prstGeom prst="rect">
            <a:avLst/>
          </a:prstGeom>
          <a:noFill/>
          <a:ln/>
        </p:spPr>
        <p:txBody>
          <a:bodyPr wrap="square" lIns="0" tIns="0" rIns="0" bIns="0" rtlCol="0" anchor="ctr"/>
          <a:lstStyle/>
          <a:p>
            <a:pPr algn="ctr" indent="0" marL="0">
              <a:buNone/>
            </a:pPr>
            <a:r>
              <a:rPr lang="en-US" sz="2400" b="1" dirty="0">
                <a:solidFill>
                  <a:srgbClr val="3B82F6"/>
                </a:solidFill>
                <a:latin typeface="Georgia" pitchFamily="34" charset="0"/>
                <a:ea typeface="Georgia" pitchFamily="34" charset="-122"/>
                <a:cs typeface="Georgia" pitchFamily="34" charset="-120"/>
              </a:rPr>
              <a:t>60M+</a:t>
            </a:r>
            <a:endParaRPr lang="en-US" sz="2400" dirty="0"/>
          </a:p>
        </p:txBody>
      </p:sp>
      <p:sp>
        <p:nvSpPr>
          <p:cNvPr id="30" name="Text 28"/>
          <p:cNvSpPr/>
          <p:nvPr/>
        </p:nvSpPr>
        <p:spPr>
          <a:xfrm>
            <a:off x="6163056" y="3072384"/>
            <a:ext cx="2761488" cy="219456"/>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speakers</a:t>
            </a:r>
            <a:endParaRPr lang="en-US" sz="1000" dirty="0"/>
          </a:p>
        </p:txBody>
      </p:sp>
      <p:sp>
        <p:nvSpPr>
          <p:cNvPr id="31" name="Text 29"/>
          <p:cNvSpPr/>
          <p:nvPr/>
        </p:nvSpPr>
        <p:spPr>
          <a:xfrm>
            <a:off x="6272784" y="3346704"/>
            <a:ext cx="2542032" cy="274320"/>
          </a:xfrm>
          <a:prstGeom prst="rect">
            <a:avLst/>
          </a:prstGeom>
          <a:noFill/>
          <a:ln/>
        </p:spPr>
        <p:txBody>
          <a:bodyPr wrap="square" lIns="0" tIns="0" rIns="0" bIns="0" rtlCol="0" anchor="ctr"/>
          <a:lstStyle/>
          <a:p>
            <a:pPr algn="ctr" indent="0" marL="0">
              <a:buNone/>
            </a:pPr>
            <a:r>
              <a:rPr lang="en-US" sz="1000" i="1" dirty="0">
                <a:solidFill>
                  <a:srgbClr val="93C5FD"/>
                </a:solidFill>
                <a:latin typeface="Calibri" pitchFamily="34" charset="0"/>
                <a:ea typeface="Calibri" pitchFamily="34" charset="-122"/>
                <a:cs typeface="Calibri" pitchFamily="34" charset="-120"/>
              </a:rPr>
              <a:t>Major trade language</a:t>
            </a:r>
            <a:endParaRPr lang="en-US" sz="1000" dirty="0"/>
          </a:p>
        </p:txBody>
      </p:sp>
      <p:sp>
        <p:nvSpPr>
          <p:cNvPr id="32" name="Text 30"/>
          <p:cNvSpPr/>
          <p:nvPr/>
        </p:nvSpPr>
        <p:spPr>
          <a:xfrm>
            <a:off x="6272784" y="3675888"/>
            <a:ext cx="2542032" cy="896112"/>
          </a:xfrm>
          <a:prstGeom prst="rect">
            <a:avLst/>
          </a:prstGeom>
          <a:noFill/>
          <a:ln/>
        </p:spPr>
        <p:txBody>
          <a:bodyPr wrap="square" lIns="0" tIns="0" rIns="0" bIns="0" rtlCol="0" anchor="ctr"/>
          <a:lstStyle/>
          <a:p>
            <a:pPr algn="ctr" indent="0" marL="0">
              <a:buNone/>
            </a:pPr>
            <a:r>
              <a:rPr lang="en-US" sz="950" dirty="0">
                <a:solidFill>
                  <a:srgbClr val="93C5FD"/>
                </a:solidFill>
                <a:latin typeface="Calibri" pitchFamily="34" charset="0"/>
                <a:ea typeface="Calibri" pitchFamily="34" charset="-122"/>
                <a:cs typeface="Calibri" pitchFamily="34" charset="-120"/>
              </a:rPr>
              <a:t>Script complexity &amp; morphological richness challenge standard tokenizers</a:t>
            </a:r>
            <a:endParaRPr lang="en-US" sz="950" dirty="0"/>
          </a:p>
        </p:txBody>
      </p:sp>
      <p:sp>
        <p:nvSpPr>
          <p:cNvPr id="33" name="Shape 31"/>
          <p:cNvSpPr/>
          <p:nvPr/>
        </p:nvSpPr>
        <p:spPr>
          <a:xfrm>
            <a:off x="347472" y="4809744"/>
            <a:ext cx="8449056" cy="0"/>
          </a:xfrm>
          <a:prstGeom prst="rect">
            <a:avLst/>
          </a:prstGeom>
          <a:solidFill>
            <a:srgbClr val="F0F5FF"/>
          </a:solidFill>
          <a:ln/>
        </p:spPr>
      </p:sp>
      <p:sp>
        <p:nvSpPr>
          <p:cNvPr id="34" name="Text 32"/>
          <p:cNvSpPr/>
          <p:nvPr/>
        </p:nvSpPr>
        <p:spPr>
          <a:xfrm>
            <a:off x="347472" y="4809744"/>
            <a:ext cx="8449056" cy="256032"/>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Combined, these three languages serve over 340 million speakers — a critical and underserved demographic in the AI landscape.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Background Study</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Foundations established before project implementation</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2743200"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2743200" cy="64008"/>
          </a:xfrm>
          <a:prstGeom prst="rect">
            <a:avLst/>
          </a:prstGeom>
          <a:solidFill>
            <a:srgbClr val="3B82F6"/>
          </a:solidFill>
          <a:ln/>
        </p:spPr>
      </p:sp>
      <p:sp>
        <p:nvSpPr>
          <p:cNvPr id="8" name="Shape 6"/>
          <p:cNvSpPr/>
          <p:nvPr/>
        </p:nvSpPr>
        <p:spPr>
          <a:xfrm>
            <a:off x="475488" y="1298448"/>
            <a:ext cx="438912" cy="438912"/>
          </a:xfrm>
          <a:prstGeom prst="ellipse">
            <a:avLst/>
          </a:prstGeom>
          <a:solidFill>
            <a:srgbClr val="0D1B3E"/>
          </a:solidFill>
          <a:ln/>
        </p:spPr>
      </p:sp>
      <p:pic>
        <p:nvPicPr>
          <p:cNvPr id="9" name="Image 0" descr="preencoded.png">    </p:cNvPr>
          <p:cNvPicPr>
            <a:picLocks noChangeAspect="1"/>
          </p:cNvPicPr>
          <p:nvPr/>
        </p:nvPicPr>
        <p:blipFill>
          <a:blip r:embed="rId1"/>
          <a:stretch>
            <a:fillRect/>
          </a:stretch>
        </p:blipFill>
        <p:spPr>
          <a:xfrm>
            <a:off x="512064" y="1335024"/>
            <a:ext cx="365760" cy="365760"/>
          </a:xfrm>
          <a:prstGeom prst="rect">
            <a:avLst/>
          </a:prstGeom>
        </p:spPr>
      </p:pic>
      <p:sp>
        <p:nvSpPr>
          <p:cNvPr id="10" name="Text 7"/>
          <p:cNvSpPr/>
          <p:nvPr/>
        </p:nvSpPr>
        <p:spPr>
          <a:xfrm>
            <a:off x="1005840" y="1316736"/>
            <a:ext cx="1993392" cy="402336"/>
          </a:xfrm>
          <a:prstGeom prst="rect">
            <a:avLst/>
          </a:prstGeom>
          <a:noFill/>
          <a:ln/>
        </p:spPr>
        <p:txBody>
          <a:bodyPr wrap="square" lIns="0" tIns="0" rIns="0" bIns="0" rtlCol="0" anchor="ctr"/>
          <a:lstStyle/>
          <a:p>
            <a:pPr indent="0" marL="0">
              <a:buNone/>
            </a:pPr>
            <a:r>
              <a:rPr lang="en-US" sz="1200" b="1" dirty="0">
                <a:solidFill>
                  <a:srgbClr val="0D1B3E"/>
                </a:solidFill>
                <a:latin typeface="Georgia" pitchFamily="34" charset="0"/>
                <a:ea typeface="Georgia" pitchFamily="34" charset="-122"/>
                <a:cs typeface="Georgia" pitchFamily="34" charset="-120"/>
              </a:rPr>
              <a:t>PyTorch Framework</a:t>
            </a:r>
            <a:endParaRPr lang="en-US" sz="1200" dirty="0"/>
          </a:p>
        </p:txBody>
      </p:sp>
      <p:sp>
        <p:nvSpPr>
          <p:cNvPr id="11" name="Text 8"/>
          <p:cNvSpPr/>
          <p:nvPr/>
        </p:nvSpPr>
        <p:spPr>
          <a:xfrm>
            <a:off x="475488" y="1810512"/>
            <a:ext cx="2542032" cy="8412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Model building, tensor ops, backpropagation, gradient descent, optimizers (Adam, AdamW)</a:t>
            </a:r>
            <a:endParaRPr lang="en-US" sz="1000" dirty="0"/>
          </a:p>
        </p:txBody>
      </p:sp>
      <p:sp>
        <p:nvSpPr>
          <p:cNvPr id="12" name="Shape 9"/>
          <p:cNvSpPr/>
          <p:nvPr/>
        </p:nvSpPr>
        <p:spPr>
          <a:xfrm>
            <a:off x="3200400" y="1115568"/>
            <a:ext cx="2743200"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3" name="Shape 10"/>
          <p:cNvSpPr/>
          <p:nvPr/>
        </p:nvSpPr>
        <p:spPr>
          <a:xfrm>
            <a:off x="3200400" y="1115568"/>
            <a:ext cx="2743200" cy="64008"/>
          </a:xfrm>
          <a:prstGeom prst="rect">
            <a:avLst/>
          </a:prstGeom>
          <a:solidFill>
            <a:srgbClr val="3B82F6"/>
          </a:solidFill>
          <a:ln/>
        </p:spPr>
      </p:sp>
      <p:sp>
        <p:nvSpPr>
          <p:cNvPr id="14" name="Shape 11"/>
          <p:cNvSpPr/>
          <p:nvPr/>
        </p:nvSpPr>
        <p:spPr>
          <a:xfrm>
            <a:off x="3328416" y="1298448"/>
            <a:ext cx="438912" cy="438912"/>
          </a:xfrm>
          <a:prstGeom prst="ellipse">
            <a:avLst/>
          </a:prstGeom>
          <a:solidFill>
            <a:srgbClr val="0D1B3E"/>
          </a:solidFill>
          <a:ln/>
        </p:spPr>
      </p:sp>
      <p:pic>
        <p:nvPicPr>
          <p:cNvPr id="15" name="Image 1" descr="preencoded.png">    </p:cNvPr>
          <p:cNvPicPr>
            <a:picLocks noChangeAspect="1"/>
          </p:cNvPicPr>
          <p:nvPr/>
        </p:nvPicPr>
        <p:blipFill>
          <a:blip r:embed="rId2"/>
          <a:stretch>
            <a:fillRect/>
          </a:stretch>
        </p:blipFill>
        <p:spPr>
          <a:xfrm>
            <a:off x="3364992" y="1335024"/>
            <a:ext cx="365760" cy="365760"/>
          </a:xfrm>
          <a:prstGeom prst="rect">
            <a:avLst/>
          </a:prstGeom>
        </p:spPr>
      </p:pic>
      <p:sp>
        <p:nvSpPr>
          <p:cNvPr id="16" name="Text 12"/>
          <p:cNvSpPr/>
          <p:nvPr/>
        </p:nvSpPr>
        <p:spPr>
          <a:xfrm>
            <a:off x="3858768" y="1316736"/>
            <a:ext cx="1993392" cy="402336"/>
          </a:xfrm>
          <a:prstGeom prst="rect">
            <a:avLst/>
          </a:prstGeom>
          <a:noFill/>
          <a:ln/>
        </p:spPr>
        <p:txBody>
          <a:bodyPr wrap="square" lIns="0" tIns="0" rIns="0" bIns="0" rtlCol="0" anchor="ctr"/>
          <a:lstStyle/>
          <a:p>
            <a:pPr indent="0" marL="0">
              <a:buNone/>
            </a:pPr>
            <a:r>
              <a:rPr lang="en-US" sz="1200" b="1" dirty="0">
                <a:solidFill>
                  <a:srgbClr val="0D1B3E"/>
                </a:solidFill>
                <a:latin typeface="Georgia" pitchFamily="34" charset="0"/>
                <a:ea typeface="Georgia" pitchFamily="34" charset="-122"/>
                <a:cs typeface="Georgia" pitchFamily="34" charset="-120"/>
              </a:rPr>
              <a:t>Neural Network Concepts</a:t>
            </a:r>
            <a:endParaRPr lang="en-US" sz="1200" dirty="0"/>
          </a:p>
        </p:txBody>
      </p:sp>
      <p:sp>
        <p:nvSpPr>
          <p:cNvPr id="17" name="Text 13"/>
          <p:cNvSpPr/>
          <p:nvPr/>
        </p:nvSpPr>
        <p:spPr>
          <a:xfrm>
            <a:off x="3328416" y="1810512"/>
            <a:ext cx="2542032" cy="8412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Activation functions (ReLU, GELU), Feedforward Networks, layer normalization, dropout</a:t>
            </a:r>
            <a:endParaRPr lang="en-US" sz="1000" dirty="0"/>
          </a:p>
        </p:txBody>
      </p:sp>
      <p:sp>
        <p:nvSpPr>
          <p:cNvPr id="18" name="Shape 14"/>
          <p:cNvSpPr/>
          <p:nvPr/>
        </p:nvSpPr>
        <p:spPr>
          <a:xfrm>
            <a:off x="6053328" y="1115568"/>
            <a:ext cx="2743200"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9" name="Shape 15"/>
          <p:cNvSpPr/>
          <p:nvPr/>
        </p:nvSpPr>
        <p:spPr>
          <a:xfrm>
            <a:off x="6053328" y="1115568"/>
            <a:ext cx="2743200" cy="64008"/>
          </a:xfrm>
          <a:prstGeom prst="rect">
            <a:avLst/>
          </a:prstGeom>
          <a:solidFill>
            <a:srgbClr val="3B82F6"/>
          </a:solidFill>
          <a:ln/>
        </p:spPr>
      </p:sp>
      <p:sp>
        <p:nvSpPr>
          <p:cNvPr id="20" name="Shape 16"/>
          <p:cNvSpPr/>
          <p:nvPr/>
        </p:nvSpPr>
        <p:spPr>
          <a:xfrm>
            <a:off x="6181344" y="1298448"/>
            <a:ext cx="438912" cy="438912"/>
          </a:xfrm>
          <a:prstGeom prst="ellipse">
            <a:avLst/>
          </a:prstGeom>
          <a:solidFill>
            <a:srgbClr val="0D1B3E"/>
          </a:solidFill>
          <a:ln/>
        </p:spPr>
      </p:sp>
      <p:pic>
        <p:nvPicPr>
          <p:cNvPr id="21" name="Image 2" descr="preencoded.png">    </p:cNvPr>
          <p:cNvPicPr>
            <a:picLocks noChangeAspect="1"/>
          </p:cNvPicPr>
          <p:nvPr/>
        </p:nvPicPr>
        <p:blipFill>
          <a:blip r:embed="rId3"/>
          <a:stretch>
            <a:fillRect/>
          </a:stretch>
        </p:blipFill>
        <p:spPr>
          <a:xfrm>
            <a:off x="6217920" y="1335024"/>
            <a:ext cx="365760" cy="365760"/>
          </a:xfrm>
          <a:prstGeom prst="rect">
            <a:avLst/>
          </a:prstGeom>
        </p:spPr>
      </p:pic>
      <p:sp>
        <p:nvSpPr>
          <p:cNvPr id="22" name="Text 17"/>
          <p:cNvSpPr/>
          <p:nvPr/>
        </p:nvSpPr>
        <p:spPr>
          <a:xfrm>
            <a:off x="6711696" y="1316736"/>
            <a:ext cx="1993392" cy="402336"/>
          </a:xfrm>
          <a:prstGeom prst="rect">
            <a:avLst/>
          </a:prstGeom>
          <a:noFill/>
          <a:ln/>
        </p:spPr>
        <p:txBody>
          <a:bodyPr wrap="square" lIns="0" tIns="0" rIns="0" bIns="0" rtlCol="0" anchor="ctr"/>
          <a:lstStyle/>
          <a:p>
            <a:pPr indent="0" marL="0">
              <a:buNone/>
            </a:pPr>
            <a:r>
              <a:rPr lang="en-US" sz="1200" b="1" dirty="0">
                <a:solidFill>
                  <a:srgbClr val="0D1B3E"/>
                </a:solidFill>
                <a:latin typeface="Georgia" pitchFamily="34" charset="0"/>
                <a:ea typeface="Georgia" pitchFamily="34" charset="-122"/>
                <a:cs typeface="Georgia" pitchFamily="34" charset="-120"/>
              </a:rPr>
              <a:t>Attention Mechanism</a:t>
            </a:r>
            <a:endParaRPr lang="en-US" sz="1200" dirty="0"/>
          </a:p>
        </p:txBody>
      </p:sp>
      <p:sp>
        <p:nvSpPr>
          <p:cNvPr id="23" name="Text 18"/>
          <p:cNvSpPr/>
          <p:nvPr/>
        </p:nvSpPr>
        <p:spPr>
          <a:xfrm>
            <a:off x="6181344" y="1810512"/>
            <a:ext cx="2542032" cy="8412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Scaled dot-product attention, self-attention, multi-head attention, context-aware representations</a:t>
            </a:r>
            <a:endParaRPr lang="en-US" sz="1000" dirty="0"/>
          </a:p>
        </p:txBody>
      </p:sp>
      <p:sp>
        <p:nvSpPr>
          <p:cNvPr id="24" name="Shape 19"/>
          <p:cNvSpPr/>
          <p:nvPr/>
        </p:nvSpPr>
        <p:spPr>
          <a:xfrm>
            <a:off x="347472" y="2907792"/>
            <a:ext cx="2743200"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25" name="Shape 20"/>
          <p:cNvSpPr/>
          <p:nvPr/>
        </p:nvSpPr>
        <p:spPr>
          <a:xfrm>
            <a:off x="347472" y="2907792"/>
            <a:ext cx="2743200" cy="64008"/>
          </a:xfrm>
          <a:prstGeom prst="rect">
            <a:avLst/>
          </a:prstGeom>
          <a:solidFill>
            <a:srgbClr val="3B82F6"/>
          </a:solidFill>
          <a:ln/>
        </p:spPr>
      </p:sp>
      <p:sp>
        <p:nvSpPr>
          <p:cNvPr id="26" name="Shape 21"/>
          <p:cNvSpPr/>
          <p:nvPr/>
        </p:nvSpPr>
        <p:spPr>
          <a:xfrm>
            <a:off x="475488" y="3090672"/>
            <a:ext cx="438912" cy="438912"/>
          </a:xfrm>
          <a:prstGeom prst="ellipse">
            <a:avLst/>
          </a:prstGeom>
          <a:solidFill>
            <a:srgbClr val="0D1B3E"/>
          </a:solidFill>
          <a:ln/>
        </p:spPr>
      </p:sp>
      <p:pic>
        <p:nvPicPr>
          <p:cNvPr id="27" name="Image 3" descr="preencoded.png">    </p:cNvPr>
          <p:cNvPicPr>
            <a:picLocks noChangeAspect="1"/>
          </p:cNvPicPr>
          <p:nvPr/>
        </p:nvPicPr>
        <p:blipFill>
          <a:blip r:embed="rId4"/>
          <a:stretch>
            <a:fillRect/>
          </a:stretch>
        </p:blipFill>
        <p:spPr>
          <a:xfrm>
            <a:off x="512064" y="3127248"/>
            <a:ext cx="365760" cy="365760"/>
          </a:xfrm>
          <a:prstGeom prst="rect">
            <a:avLst/>
          </a:prstGeom>
        </p:spPr>
      </p:pic>
      <p:sp>
        <p:nvSpPr>
          <p:cNvPr id="28" name="Text 22"/>
          <p:cNvSpPr/>
          <p:nvPr/>
        </p:nvSpPr>
        <p:spPr>
          <a:xfrm>
            <a:off x="1005840" y="3108960"/>
            <a:ext cx="1993392" cy="402336"/>
          </a:xfrm>
          <a:prstGeom prst="rect">
            <a:avLst/>
          </a:prstGeom>
          <a:noFill/>
          <a:ln/>
        </p:spPr>
        <p:txBody>
          <a:bodyPr wrap="square" lIns="0" tIns="0" rIns="0" bIns="0" rtlCol="0" anchor="ctr"/>
          <a:lstStyle/>
          <a:p>
            <a:pPr indent="0" marL="0">
              <a:buNone/>
            </a:pPr>
            <a:r>
              <a:rPr lang="en-US" sz="1200" b="1" dirty="0">
                <a:solidFill>
                  <a:srgbClr val="0D1B3E"/>
                </a:solidFill>
                <a:latin typeface="Georgia" pitchFamily="34" charset="0"/>
                <a:ea typeface="Georgia" pitchFamily="34" charset="-122"/>
                <a:cs typeface="Georgia" pitchFamily="34" charset="-120"/>
              </a:rPr>
              <a:t>Transformer Architecture</a:t>
            </a:r>
            <a:endParaRPr lang="en-US" sz="1200" dirty="0"/>
          </a:p>
        </p:txBody>
      </p:sp>
      <p:sp>
        <p:nvSpPr>
          <p:cNvPr id="29" name="Text 23"/>
          <p:cNvSpPr/>
          <p:nvPr/>
        </p:nvSpPr>
        <p:spPr>
          <a:xfrm>
            <a:off x="475488" y="3602736"/>
            <a:ext cx="2542032" cy="8412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Encoder-decoder structure, positional encoding, FFN layers — backbone of all modern LLMs</a:t>
            </a:r>
            <a:endParaRPr lang="en-US" sz="1000" dirty="0"/>
          </a:p>
        </p:txBody>
      </p:sp>
      <p:sp>
        <p:nvSpPr>
          <p:cNvPr id="30" name="Shape 24"/>
          <p:cNvSpPr/>
          <p:nvPr/>
        </p:nvSpPr>
        <p:spPr>
          <a:xfrm>
            <a:off x="3200400" y="2907792"/>
            <a:ext cx="2743200"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31" name="Shape 25"/>
          <p:cNvSpPr/>
          <p:nvPr/>
        </p:nvSpPr>
        <p:spPr>
          <a:xfrm>
            <a:off x="3200400" y="2907792"/>
            <a:ext cx="2743200" cy="64008"/>
          </a:xfrm>
          <a:prstGeom prst="rect">
            <a:avLst/>
          </a:prstGeom>
          <a:solidFill>
            <a:srgbClr val="3B82F6"/>
          </a:solidFill>
          <a:ln/>
        </p:spPr>
      </p:sp>
      <p:sp>
        <p:nvSpPr>
          <p:cNvPr id="32" name="Shape 26"/>
          <p:cNvSpPr/>
          <p:nvPr/>
        </p:nvSpPr>
        <p:spPr>
          <a:xfrm>
            <a:off x="3328416" y="3090672"/>
            <a:ext cx="438912" cy="438912"/>
          </a:xfrm>
          <a:prstGeom prst="ellipse">
            <a:avLst/>
          </a:prstGeom>
          <a:solidFill>
            <a:srgbClr val="0D1B3E"/>
          </a:solidFill>
          <a:ln/>
        </p:spPr>
      </p:sp>
      <p:pic>
        <p:nvPicPr>
          <p:cNvPr id="33" name="Image 4" descr="preencoded.png">    </p:cNvPr>
          <p:cNvPicPr>
            <a:picLocks noChangeAspect="1"/>
          </p:cNvPicPr>
          <p:nvPr/>
        </p:nvPicPr>
        <p:blipFill>
          <a:blip r:embed="rId5"/>
          <a:stretch>
            <a:fillRect/>
          </a:stretch>
        </p:blipFill>
        <p:spPr>
          <a:xfrm>
            <a:off x="3364992" y="3127248"/>
            <a:ext cx="365760" cy="365760"/>
          </a:xfrm>
          <a:prstGeom prst="rect">
            <a:avLst/>
          </a:prstGeom>
        </p:spPr>
      </p:pic>
      <p:sp>
        <p:nvSpPr>
          <p:cNvPr id="34" name="Text 27"/>
          <p:cNvSpPr/>
          <p:nvPr/>
        </p:nvSpPr>
        <p:spPr>
          <a:xfrm>
            <a:off x="3858768" y="3108960"/>
            <a:ext cx="1993392" cy="402336"/>
          </a:xfrm>
          <a:prstGeom prst="rect">
            <a:avLst/>
          </a:prstGeom>
          <a:noFill/>
          <a:ln/>
        </p:spPr>
        <p:txBody>
          <a:bodyPr wrap="square" lIns="0" tIns="0" rIns="0" bIns="0" rtlCol="0" anchor="ctr"/>
          <a:lstStyle/>
          <a:p>
            <a:pPr indent="0" marL="0">
              <a:buNone/>
            </a:pPr>
            <a:r>
              <a:rPr lang="en-US" sz="1200" b="1" dirty="0">
                <a:solidFill>
                  <a:srgbClr val="0D1B3E"/>
                </a:solidFill>
                <a:latin typeface="Georgia" pitchFamily="34" charset="0"/>
                <a:ea typeface="Georgia" pitchFamily="34" charset="-122"/>
                <a:cs typeface="Georgia" pitchFamily="34" charset="-120"/>
              </a:rPr>
              <a:t>Research Papers Reviewed</a:t>
            </a:r>
            <a:endParaRPr lang="en-US" sz="1200" dirty="0"/>
          </a:p>
        </p:txBody>
      </p:sp>
      <p:sp>
        <p:nvSpPr>
          <p:cNvPr id="35" name="Text 28"/>
          <p:cNvSpPr/>
          <p:nvPr/>
        </p:nvSpPr>
        <p:spPr>
          <a:xfrm>
            <a:off x="3328416" y="3602736"/>
            <a:ext cx="2542032" cy="8412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'Attention Is All You Need', 'Survey on LLM Compression', 'Few-Shot Multilingual Learners'</a:t>
            </a:r>
            <a:endParaRPr lang="en-US" sz="1000" dirty="0"/>
          </a:p>
        </p:txBody>
      </p:sp>
      <p:sp>
        <p:nvSpPr>
          <p:cNvPr id="36" name="Shape 29"/>
          <p:cNvSpPr/>
          <p:nvPr/>
        </p:nvSpPr>
        <p:spPr>
          <a:xfrm>
            <a:off x="6053328" y="2907792"/>
            <a:ext cx="2743200"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37" name="Shape 30"/>
          <p:cNvSpPr/>
          <p:nvPr/>
        </p:nvSpPr>
        <p:spPr>
          <a:xfrm>
            <a:off x="6053328" y="2907792"/>
            <a:ext cx="2743200" cy="64008"/>
          </a:xfrm>
          <a:prstGeom prst="rect">
            <a:avLst/>
          </a:prstGeom>
          <a:solidFill>
            <a:srgbClr val="3B82F6"/>
          </a:solidFill>
          <a:ln/>
        </p:spPr>
      </p:sp>
      <p:sp>
        <p:nvSpPr>
          <p:cNvPr id="38" name="Shape 31"/>
          <p:cNvSpPr/>
          <p:nvPr/>
        </p:nvSpPr>
        <p:spPr>
          <a:xfrm>
            <a:off x="6181344" y="3090672"/>
            <a:ext cx="438912" cy="438912"/>
          </a:xfrm>
          <a:prstGeom prst="ellipse">
            <a:avLst/>
          </a:prstGeom>
          <a:solidFill>
            <a:srgbClr val="0D1B3E"/>
          </a:solidFill>
          <a:ln/>
        </p:spPr>
      </p:sp>
      <p:pic>
        <p:nvPicPr>
          <p:cNvPr id="39" name="Image 5" descr="preencoded.png">    </p:cNvPr>
          <p:cNvPicPr>
            <a:picLocks noChangeAspect="1"/>
          </p:cNvPicPr>
          <p:nvPr/>
        </p:nvPicPr>
        <p:blipFill>
          <a:blip r:embed="rId6"/>
          <a:stretch>
            <a:fillRect/>
          </a:stretch>
        </p:blipFill>
        <p:spPr>
          <a:xfrm>
            <a:off x="6217920" y="3127248"/>
            <a:ext cx="365760" cy="365760"/>
          </a:xfrm>
          <a:prstGeom prst="rect">
            <a:avLst/>
          </a:prstGeom>
        </p:spPr>
      </p:pic>
      <p:sp>
        <p:nvSpPr>
          <p:cNvPr id="40" name="Text 32"/>
          <p:cNvSpPr/>
          <p:nvPr/>
        </p:nvSpPr>
        <p:spPr>
          <a:xfrm>
            <a:off x="6711696" y="3108960"/>
            <a:ext cx="1993392" cy="402336"/>
          </a:xfrm>
          <a:prstGeom prst="rect">
            <a:avLst/>
          </a:prstGeom>
          <a:noFill/>
          <a:ln/>
        </p:spPr>
        <p:txBody>
          <a:bodyPr wrap="square" lIns="0" tIns="0" rIns="0" bIns="0" rtlCol="0" anchor="ctr"/>
          <a:lstStyle/>
          <a:p>
            <a:pPr indent="0" marL="0">
              <a:buNone/>
            </a:pPr>
            <a:r>
              <a:rPr lang="en-US" sz="1200" b="1" dirty="0">
                <a:solidFill>
                  <a:srgbClr val="0D1B3E"/>
                </a:solidFill>
                <a:latin typeface="Georgia" pitchFamily="34" charset="0"/>
                <a:ea typeface="Georgia" pitchFamily="34" charset="-122"/>
                <a:cs typeface="Georgia" pitchFamily="34" charset="-120"/>
              </a:rPr>
              <a:t>Model Compression</a:t>
            </a:r>
            <a:endParaRPr lang="en-US" sz="1200" dirty="0"/>
          </a:p>
        </p:txBody>
      </p:sp>
      <p:sp>
        <p:nvSpPr>
          <p:cNvPr id="41" name="Text 33"/>
          <p:cNvSpPr/>
          <p:nvPr/>
        </p:nvSpPr>
        <p:spPr>
          <a:xfrm>
            <a:off x="6181344" y="3602736"/>
            <a:ext cx="2542032" cy="8412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Pruning, quantization (4-bit, 8-bit), knowledge distillation — essential for SLMs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Transformer Architecture</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The backbone of all modern Large Language Models</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3977640" cy="365760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73152" cy="3657600"/>
          </a:xfrm>
          <a:prstGeom prst="rect">
            <a:avLst/>
          </a:prstGeom>
          <a:solidFill>
            <a:srgbClr val="3B82F6"/>
          </a:solidFill>
          <a:ln/>
        </p:spPr>
      </p:sp>
      <p:sp>
        <p:nvSpPr>
          <p:cNvPr id="8" name="Text 6"/>
          <p:cNvSpPr/>
          <p:nvPr/>
        </p:nvSpPr>
        <p:spPr>
          <a:xfrm>
            <a:off x="530352" y="1188720"/>
            <a:ext cx="3657600" cy="347472"/>
          </a:xfrm>
          <a:prstGeom prst="rect">
            <a:avLst/>
          </a:prstGeom>
          <a:noFill/>
          <a:ln/>
        </p:spPr>
        <p:txBody>
          <a:bodyPr wrap="square" lIns="0" tIns="0" rIns="0" bIns="0" rtlCol="0" anchor="ctr"/>
          <a:lstStyle/>
          <a:p>
            <a:pPr indent="0" marL="0">
              <a:buNone/>
            </a:pPr>
            <a:r>
              <a:rPr lang="en-US" sz="1400" b="1" dirty="0">
                <a:solidFill>
                  <a:srgbClr val="0D1B3E"/>
                </a:solidFill>
                <a:latin typeface="Georgia" pitchFamily="34" charset="0"/>
                <a:ea typeface="Georgia" pitchFamily="34" charset="-122"/>
                <a:cs typeface="Georgia" pitchFamily="34" charset="-120"/>
              </a:rPr>
              <a:t>Key Components</a:t>
            </a:r>
            <a:endParaRPr lang="en-US" sz="1400" dirty="0"/>
          </a:p>
        </p:txBody>
      </p:sp>
      <p:sp>
        <p:nvSpPr>
          <p:cNvPr id="9" name="Text 7"/>
          <p:cNvSpPr/>
          <p:nvPr/>
        </p:nvSpPr>
        <p:spPr>
          <a:xfrm>
            <a:off x="548640" y="1627632"/>
            <a:ext cx="3657600" cy="256032"/>
          </a:xfrm>
          <a:prstGeom prst="rect">
            <a:avLst/>
          </a:prstGeom>
          <a:noFill/>
          <a:ln/>
        </p:spPr>
        <p:txBody>
          <a:bodyPr wrap="square" lIns="0" tIns="0" rIns="0" bIns="0" rtlCol="0" anchor="ctr"/>
          <a:lstStyle/>
          <a:p>
            <a:pPr indent="0" marL="0">
              <a:buNone/>
            </a:pPr>
            <a:r>
              <a:rPr lang="en-US" sz="1150" b="1" dirty="0">
                <a:solidFill>
                  <a:srgbClr val="0D1B3E"/>
                </a:solidFill>
                <a:latin typeface="Georgia" pitchFamily="34" charset="0"/>
                <a:ea typeface="Georgia" pitchFamily="34" charset="-122"/>
                <a:cs typeface="Georgia" pitchFamily="34" charset="-120"/>
              </a:rPr>
              <a:t>Multi-Head Attention</a:t>
            </a:r>
            <a:endParaRPr lang="en-US" sz="1150" dirty="0"/>
          </a:p>
        </p:txBody>
      </p:sp>
      <p:sp>
        <p:nvSpPr>
          <p:cNvPr id="10" name="Text 8"/>
          <p:cNvSpPr/>
          <p:nvPr/>
        </p:nvSpPr>
        <p:spPr>
          <a:xfrm>
            <a:off x="548640" y="1883664"/>
            <a:ext cx="36576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Captures different types of token relationships simultaneously across multiple heads</a:t>
            </a:r>
            <a:endParaRPr lang="en-US" sz="950" dirty="0"/>
          </a:p>
        </p:txBody>
      </p:sp>
      <p:sp>
        <p:nvSpPr>
          <p:cNvPr id="11" name="Text 9"/>
          <p:cNvSpPr/>
          <p:nvPr/>
        </p:nvSpPr>
        <p:spPr>
          <a:xfrm>
            <a:off x="548640" y="2267712"/>
            <a:ext cx="3657600" cy="256032"/>
          </a:xfrm>
          <a:prstGeom prst="rect">
            <a:avLst/>
          </a:prstGeom>
          <a:noFill/>
          <a:ln/>
        </p:spPr>
        <p:txBody>
          <a:bodyPr wrap="square" lIns="0" tIns="0" rIns="0" bIns="0" rtlCol="0" anchor="ctr"/>
          <a:lstStyle/>
          <a:p>
            <a:pPr indent="0" marL="0">
              <a:buNone/>
            </a:pPr>
            <a:r>
              <a:rPr lang="en-US" sz="1150" b="1" dirty="0">
                <a:solidFill>
                  <a:srgbClr val="0D1B3E"/>
                </a:solidFill>
                <a:latin typeface="Georgia" pitchFamily="34" charset="0"/>
                <a:ea typeface="Georgia" pitchFamily="34" charset="-122"/>
                <a:cs typeface="Georgia" pitchFamily="34" charset="-120"/>
              </a:rPr>
              <a:t>Positional Encoding</a:t>
            </a:r>
            <a:endParaRPr lang="en-US" sz="1150" dirty="0"/>
          </a:p>
        </p:txBody>
      </p:sp>
      <p:sp>
        <p:nvSpPr>
          <p:cNvPr id="12" name="Text 10"/>
          <p:cNvSpPr/>
          <p:nvPr/>
        </p:nvSpPr>
        <p:spPr>
          <a:xfrm>
            <a:off x="548640" y="2523744"/>
            <a:ext cx="36576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Injects sequence order information into the model (no recurrence needed)</a:t>
            </a:r>
            <a:endParaRPr lang="en-US" sz="950" dirty="0"/>
          </a:p>
        </p:txBody>
      </p:sp>
      <p:sp>
        <p:nvSpPr>
          <p:cNvPr id="13" name="Text 11"/>
          <p:cNvSpPr/>
          <p:nvPr/>
        </p:nvSpPr>
        <p:spPr>
          <a:xfrm>
            <a:off x="548640" y="2907792"/>
            <a:ext cx="3657600" cy="256032"/>
          </a:xfrm>
          <a:prstGeom prst="rect">
            <a:avLst/>
          </a:prstGeom>
          <a:noFill/>
          <a:ln/>
        </p:spPr>
        <p:txBody>
          <a:bodyPr wrap="square" lIns="0" tIns="0" rIns="0" bIns="0" rtlCol="0" anchor="ctr"/>
          <a:lstStyle/>
          <a:p>
            <a:pPr indent="0" marL="0">
              <a:buNone/>
            </a:pPr>
            <a:r>
              <a:rPr lang="en-US" sz="1150" b="1" dirty="0">
                <a:solidFill>
                  <a:srgbClr val="0D1B3E"/>
                </a:solidFill>
                <a:latin typeface="Georgia" pitchFamily="34" charset="0"/>
                <a:ea typeface="Georgia" pitchFamily="34" charset="-122"/>
                <a:cs typeface="Georgia" pitchFamily="34" charset="-120"/>
              </a:rPr>
              <a:t>Feed-Forward Network</a:t>
            </a:r>
            <a:endParaRPr lang="en-US" sz="1150" dirty="0"/>
          </a:p>
        </p:txBody>
      </p:sp>
      <p:sp>
        <p:nvSpPr>
          <p:cNvPr id="14" name="Text 12"/>
          <p:cNvSpPr/>
          <p:nvPr/>
        </p:nvSpPr>
        <p:spPr>
          <a:xfrm>
            <a:off x="548640" y="3163824"/>
            <a:ext cx="36576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Applied per-position after attention to transform representations non-linearly</a:t>
            </a:r>
            <a:endParaRPr lang="en-US" sz="950" dirty="0"/>
          </a:p>
        </p:txBody>
      </p:sp>
      <p:sp>
        <p:nvSpPr>
          <p:cNvPr id="15" name="Text 13"/>
          <p:cNvSpPr/>
          <p:nvPr/>
        </p:nvSpPr>
        <p:spPr>
          <a:xfrm>
            <a:off x="548640" y="3547872"/>
            <a:ext cx="3657600" cy="256032"/>
          </a:xfrm>
          <a:prstGeom prst="rect">
            <a:avLst/>
          </a:prstGeom>
          <a:noFill/>
          <a:ln/>
        </p:spPr>
        <p:txBody>
          <a:bodyPr wrap="square" lIns="0" tIns="0" rIns="0" bIns="0" rtlCol="0" anchor="ctr"/>
          <a:lstStyle/>
          <a:p>
            <a:pPr indent="0" marL="0">
              <a:buNone/>
            </a:pPr>
            <a:r>
              <a:rPr lang="en-US" sz="1150" b="1" dirty="0">
                <a:solidFill>
                  <a:srgbClr val="0D1B3E"/>
                </a:solidFill>
                <a:latin typeface="Georgia" pitchFamily="34" charset="0"/>
                <a:ea typeface="Georgia" pitchFamily="34" charset="-122"/>
                <a:cs typeface="Georgia" pitchFamily="34" charset="-120"/>
              </a:rPr>
              <a:t>Layer Normalization</a:t>
            </a:r>
            <a:endParaRPr lang="en-US" sz="1150" dirty="0"/>
          </a:p>
        </p:txBody>
      </p:sp>
      <p:sp>
        <p:nvSpPr>
          <p:cNvPr id="16" name="Text 14"/>
          <p:cNvSpPr/>
          <p:nvPr/>
        </p:nvSpPr>
        <p:spPr>
          <a:xfrm>
            <a:off x="548640" y="3803904"/>
            <a:ext cx="36576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Stabilizes training by normalizing activations at each layer</a:t>
            </a:r>
            <a:endParaRPr lang="en-US" sz="950" dirty="0"/>
          </a:p>
        </p:txBody>
      </p:sp>
      <p:sp>
        <p:nvSpPr>
          <p:cNvPr id="17" name="Text 15"/>
          <p:cNvSpPr/>
          <p:nvPr/>
        </p:nvSpPr>
        <p:spPr>
          <a:xfrm>
            <a:off x="548640" y="4187952"/>
            <a:ext cx="3657600" cy="256032"/>
          </a:xfrm>
          <a:prstGeom prst="rect">
            <a:avLst/>
          </a:prstGeom>
          <a:noFill/>
          <a:ln/>
        </p:spPr>
        <p:txBody>
          <a:bodyPr wrap="square" lIns="0" tIns="0" rIns="0" bIns="0" rtlCol="0" anchor="ctr"/>
          <a:lstStyle/>
          <a:p>
            <a:pPr indent="0" marL="0">
              <a:buNone/>
            </a:pPr>
            <a:r>
              <a:rPr lang="en-US" sz="1150" b="1" dirty="0">
                <a:solidFill>
                  <a:srgbClr val="0D1B3E"/>
                </a:solidFill>
                <a:latin typeface="Georgia" pitchFamily="34" charset="0"/>
                <a:ea typeface="Georgia" pitchFamily="34" charset="-122"/>
                <a:cs typeface="Georgia" pitchFamily="34" charset="-120"/>
              </a:rPr>
              <a:t>Residual Connections</a:t>
            </a:r>
            <a:endParaRPr lang="en-US" sz="1150" dirty="0"/>
          </a:p>
        </p:txBody>
      </p:sp>
      <p:sp>
        <p:nvSpPr>
          <p:cNvPr id="18" name="Text 16"/>
          <p:cNvSpPr/>
          <p:nvPr/>
        </p:nvSpPr>
        <p:spPr>
          <a:xfrm>
            <a:off x="548640" y="4443984"/>
            <a:ext cx="36576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Skip connections prevent vanishing gradients in deep networks</a:t>
            </a:r>
            <a:endParaRPr lang="en-US" sz="950" dirty="0"/>
          </a:p>
        </p:txBody>
      </p:sp>
      <p:sp>
        <p:nvSpPr>
          <p:cNvPr id="19" name="Shape 17"/>
          <p:cNvSpPr/>
          <p:nvPr/>
        </p:nvSpPr>
        <p:spPr>
          <a:xfrm>
            <a:off x="4572000" y="1115568"/>
            <a:ext cx="4206240" cy="3657600"/>
          </a:xfrm>
          <a:prstGeom prst="rect">
            <a:avLst/>
          </a:prstGeom>
          <a:solidFill>
            <a:srgbClr val="0F172A"/>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20" name="Shape 18"/>
          <p:cNvSpPr/>
          <p:nvPr/>
        </p:nvSpPr>
        <p:spPr>
          <a:xfrm>
            <a:off x="4572000" y="1115568"/>
            <a:ext cx="4206240" cy="402336"/>
          </a:xfrm>
          <a:prstGeom prst="rect">
            <a:avLst/>
          </a:prstGeom>
          <a:solidFill>
            <a:srgbClr val="0D1B3E"/>
          </a:solidFill>
          <a:ln/>
        </p:spPr>
      </p:sp>
      <p:pic>
        <p:nvPicPr>
          <p:cNvPr id="21" name="Image 0" descr="preencoded.png">    </p:cNvPr>
          <p:cNvPicPr>
            <a:picLocks noChangeAspect="1"/>
          </p:cNvPicPr>
          <p:nvPr/>
        </p:nvPicPr>
        <p:blipFill>
          <a:blip r:embed="rId1"/>
          <a:stretch>
            <a:fillRect/>
          </a:stretch>
        </p:blipFill>
        <p:spPr>
          <a:xfrm>
            <a:off x="4681728" y="1188720"/>
            <a:ext cx="256032" cy="256032"/>
          </a:xfrm>
          <a:prstGeom prst="rect">
            <a:avLst/>
          </a:prstGeom>
        </p:spPr>
      </p:pic>
      <p:sp>
        <p:nvSpPr>
          <p:cNvPr id="22" name="Text 19"/>
          <p:cNvSpPr/>
          <p:nvPr/>
        </p:nvSpPr>
        <p:spPr>
          <a:xfrm>
            <a:off x="5010912" y="1188720"/>
            <a:ext cx="3657600"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Self-Attention — PyTorch</a:t>
            </a:r>
            <a:endParaRPr lang="en-US" sz="1200" dirty="0"/>
          </a:p>
        </p:txBody>
      </p:sp>
      <p:sp>
        <p:nvSpPr>
          <p:cNvPr id="23" name="Shape 20"/>
          <p:cNvSpPr/>
          <p:nvPr/>
        </p:nvSpPr>
        <p:spPr>
          <a:xfrm>
            <a:off x="4572000" y="1517904"/>
            <a:ext cx="4206240" cy="3255264"/>
          </a:xfrm>
          <a:prstGeom prst="rect">
            <a:avLst/>
          </a:prstGeom>
          <a:solidFill>
            <a:srgbClr val="0F172A"/>
          </a:solidFill>
          <a:ln/>
          <a:effectLst>
            <a:outerShdw sx="100000" sy="100000" kx="0" ky="0" algn="bl" rotWithShape="0" blurRad="101600" dist="38100" dir="8100000">
              <a:srgbClr val="000000">
                <a:alpha val="15000"/>
              </a:srgbClr>
            </a:outerShdw>
          </a:effectLst>
        </p:spPr>
      </p:sp>
      <p:sp>
        <p:nvSpPr>
          <p:cNvPr id="24" name="Text 21"/>
          <p:cNvSpPr/>
          <p:nvPr/>
        </p:nvSpPr>
        <p:spPr>
          <a:xfrm>
            <a:off x="4700016" y="1609344"/>
            <a:ext cx="3950208" cy="3072384"/>
          </a:xfrm>
          <a:prstGeom prst="rect">
            <a:avLst/>
          </a:prstGeom>
          <a:noFill/>
          <a:ln/>
        </p:spPr>
        <p:txBody>
          <a:bodyPr wrap="square" lIns="0" tIns="0" rIns="0" bIns="0" rtlCol="0" anchor="t"/>
          <a:lstStyle/>
          <a:p>
            <a:pPr indent="0" marL="0">
              <a:buNone/>
            </a:pPr>
            <a:r>
              <a:rPr lang="en-US" sz="900" dirty="0">
                <a:solidFill>
                  <a:srgbClr val="E5E7EB"/>
                </a:solidFill>
                <a:latin typeface="Courier New" pitchFamily="34" charset="0"/>
                <a:ea typeface="Courier New" pitchFamily="34" charset="-122"/>
                <a:cs typeface="Courier New" pitchFamily="34" charset="-120"/>
              </a:rPr>
              <a:t>import math, torch, torch.nn as nn</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class SelfAttention(nn.Module):</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def __init__(self, d_model, n_heads):</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super().__init__()</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self.n_heads = n_heads</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self.d_k = d_model // n_heads</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self.qkv = nn.Linear(d_model, 3*d_model)</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self.out = nn.Linear(d_model, d_model)</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def forward(self, x):</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B, T, C = x.shape</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 Compute Q, K, V projections</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q,k,v = self.qkv(x).chunk(3,dim=-1)</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 Scaled dot-product attention</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attn = (q@k.transpose(-2,-1))</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 math.sqrt(self.d_k)</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return self.out(attn.softmax(-1) @ v)</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Related Work — Encoder Models</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Early multilingual models built for Indic language understanding</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4041648" cy="3584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4041648" cy="402336"/>
          </a:xfrm>
          <a:prstGeom prst="rect">
            <a:avLst/>
          </a:prstGeom>
          <a:solidFill>
            <a:srgbClr val="0D1B3E"/>
          </a:solidFill>
          <a:ln/>
        </p:spPr>
      </p:sp>
      <p:pic>
        <p:nvPicPr>
          <p:cNvPr id="8" name="Image 0" descr="preencoded.png">    </p:cNvPr>
          <p:cNvPicPr>
            <a:picLocks noChangeAspect="1"/>
          </p:cNvPicPr>
          <p:nvPr/>
        </p:nvPicPr>
        <p:blipFill>
          <a:blip r:embed="rId1"/>
          <a:stretch>
            <a:fillRect/>
          </a:stretch>
        </p:blipFill>
        <p:spPr>
          <a:xfrm>
            <a:off x="438912" y="1188720"/>
            <a:ext cx="256032" cy="256032"/>
          </a:xfrm>
          <a:prstGeom prst="rect">
            <a:avLst/>
          </a:prstGeom>
        </p:spPr>
      </p:pic>
      <p:sp>
        <p:nvSpPr>
          <p:cNvPr id="9" name="Text 6"/>
          <p:cNvSpPr/>
          <p:nvPr/>
        </p:nvSpPr>
        <p:spPr>
          <a:xfrm>
            <a:off x="758952" y="1197864"/>
            <a:ext cx="3538728" cy="237744"/>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IndicBERT (AI4Bharat)</a:t>
            </a:r>
            <a:endParaRPr lang="en-US" sz="1200" dirty="0"/>
          </a:p>
        </p:txBody>
      </p:sp>
      <p:sp>
        <p:nvSpPr>
          <p:cNvPr id="10" name="Text 7"/>
          <p:cNvSpPr/>
          <p:nvPr/>
        </p:nvSpPr>
        <p:spPr>
          <a:xfrm>
            <a:off x="475488" y="1572768"/>
            <a:ext cx="3785616"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Architecture: ALBERT-based encoder  |  Params: ~17M  |  Languages: 12 Indic</a:t>
            </a:r>
            <a:endParaRPr lang="en-US" sz="950" dirty="0"/>
          </a:p>
        </p:txBody>
      </p:sp>
      <p:sp>
        <p:nvSpPr>
          <p:cNvPr id="11" name="Text 8"/>
          <p:cNvSpPr/>
          <p:nvPr/>
        </p:nvSpPr>
        <p:spPr>
          <a:xfrm>
            <a:off x="475488" y="1883664"/>
            <a:ext cx="3785616" cy="2606040"/>
          </a:xfrm>
          <a:prstGeom prst="rect">
            <a:avLst/>
          </a:prstGeom>
          <a:noFill/>
          <a:ln/>
        </p:spPr>
        <p:txBody>
          <a:bodyPr wrap="square" lIns="0" tIns="101600" rIns="101600" bIns="0" rtlCol="0" anchor="ctr"/>
          <a:lstStyle/>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Trained on 9B tokens across 12 Indic languages</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Masked Language Modeling (MLM) pretraining</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Strong on: Text classification, NER, Sentiment analysis</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Limitation: Encoder-only — cannot generate text</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Limitation: Limited contextual reasoning vs modern LLMs</a:t>
            </a:r>
            <a:endParaRPr lang="en-US" sz="1100" dirty="0"/>
          </a:p>
        </p:txBody>
      </p:sp>
      <p:sp>
        <p:nvSpPr>
          <p:cNvPr id="12" name="Shape 9"/>
          <p:cNvSpPr/>
          <p:nvPr/>
        </p:nvSpPr>
        <p:spPr>
          <a:xfrm>
            <a:off x="4736592" y="1115568"/>
            <a:ext cx="4041648" cy="3584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3" name="Shape 10"/>
          <p:cNvSpPr/>
          <p:nvPr/>
        </p:nvSpPr>
        <p:spPr>
          <a:xfrm>
            <a:off x="4736592" y="1115568"/>
            <a:ext cx="4041648" cy="402336"/>
          </a:xfrm>
          <a:prstGeom prst="rect">
            <a:avLst/>
          </a:prstGeom>
          <a:solidFill>
            <a:srgbClr val="1E4D8C"/>
          </a:solidFill>
          <a:ln/>
        </p:spPr>
      </p:sp>
      <p:pic>
        <p:nvPicPr>
          <p:cNvPr id="14" name="Image 1" descr="preencoded.png">    </p:cNvPr>
          <p:cNvPicPr>
            <a:picLocks noChangeAspect="1"/>
          </p:cNvPicPr>
          <p:nvPr/>
        </p:nvPicPr>
        <p:blipFill>
          <a:blip r:embed="rId2"/>
          <a:stretch>
            <a:fillRect/>
          </a:stretch>
        </p:blipFill>
        <p:spPr>
          <a:xfrm>
            <a:off x="4828032" y="1188720"/>
            <a:ext cx="256032" cy="256032"/>
          </a:xfrm>
          <a:prstGeom prst="rect">
            <a:avLst/>
          </a:prstGeom>
        </p:spPr>
      </p:pic>
      <p:sp>
        <p:nvSpPr>
          <p:cNvPr id="15" name="Text 11"/>
          <p:cNvSpPr/>
          <p:nvPr/>
        </p:nvSpPr>
        <p:spPr>
          <a:xfrm>
            <a:off x="5148072" y="1197864"/>
            <a:ext cx="3538728" cy="237744"/>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MuRIL — Google (2021)</a:t>
            </a:r>
            <a:endParaRPr lang="en-US" sz="1200" dirty="0"/>
          </a:p>
        </p:txBody>
      </p:sp>
      <p:sp>
        <p:nvSpPr>
          <p:cNvPr id="16" name="Text 12"/>
          <p:cNvSpPr/>
          <p:nvPr/>
        </p:nvSpPr>
        <p:spPr>
          <a:xfrm>
            <a:off x="4864608" y="1572768"/>
            <a:ext cx="3785616"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Architecture: BERT-extended  |  Params: ~236M  |  Languages: 17 Indian</a:t>
            </a:r>
            <a:endParaRPr lang="en-US" sz="950" dirty="0"/>
          </a:p>
        </p:txBody>
      </p:sp>
      <p:sp>
        <p:nvSpPr>
          <p:cNvPr id="17" name="Text 13"/>
          <p:cNvSpPr/>
          <p:nvPr/>
        </p:nvSpPr>
        <p:spPr>
          <a:xfrm>
            <a:off x="4864608" y="1883664"/>
            <a:ext cx="3785616" cy="2606040"/>
          </a:xfrm>
          <a:prstGeom prst="rect">
            <a:avLst/>
          </a:prstGeom>
          <a:noFill/>
          <a:ln/>
        </p:spPr>
        <p:txBody>
          <a:bodyPr wrap="square" lIns="0" tIns="101600" rIns="101600" bIns="0" rtlCol="0" anchor="ctr"/>
          <a:lstStyle/>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Trained on parallel corpora + transliteration pairs</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Handles code-mixed and transliterated text effectively</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Strong cross-lingual transfer learning capabilities</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Limitation: Encoder-only architecture — no text generation</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Limitation: Larger and slower than IndicBERT for classification</a:t>
            </a:r>
            <a:endParaRPr lang="en-US" sz="1100" dirty="0"/>
          </a:p>
        </p:txBody>
      </p:sp>
      <p:sp>
        <p:nvSpPr>
          <p:cNvPr id="18" name="Shape 14"/>
          <p:cNvSpPr/>
          <p:nvPr/>
        </p:nvSpPr>
        <p:spPr>
          <a:xfrm>
            <a:off x="347472" y="4818888"/>
            <a:ext cx="8449056" cy="347472"/>
          </a:xfrm>
          <a:prstGeom prst="rect">
            <a:avLst/>
          </a:prstGeom>
          <a:solidFill>
            <a:srgbClr val="0D1B3E"/>
          </a:solidFill>
          <a:ln/>
        </p:spPr>
      </p:sp>
      <p:pic>
        <p:nvPicPr>
          <p:cNvPr id="19" name="Image 2" descr="preencoded.png">    </p:cNvPr>
          <p:cNvPicPr>
            <a:picLocks noChangeAspect="1"/>
          </p:cNvPicPr>
          <p:nvPr/>
        </p:nvPicPr>
        <p:blipFill>
          <a:blip r:embed="rId3"/>
          <a:stretch>
            <a:fillRect/>
          </a:stretch>
        </p:blipFill>
        <p:spPr>
          <a:xfrm>
            <a:off x="475488" y="4882896"/>
            <a:ext cx="219456" cy="219456"/>
          </a:xfrm>
          <a:prstGeom prst="rect">
            <a:avLst/>
          </a:prstGeom>
        </p:spPr>
      </p:pic>
      <p:sp>
        <p:nvSpPr>
          <p:cNvPr id="20" name="Text 15"/>
          <p:cNvSpPr/>
          <p:nvPr/>
        </p:nvSpPr>
        <p:spPr>
          <a:xfrm>
            <a:off x="749808" y="4837176"/>
            <a:ext cx="7973568" cy="31089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Critical gap: Both models are encoder-only. They cannot answer questions, translate, or hold conversations — making them unsuitable for our generative SLM goal.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Related Work — Decoder Models</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Generative models with Indic language support</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2761488" cy="3584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2761488" cy="402336"/>
          </a:xfrm>
          <a:prstGeom prst="rect">
            <a:avLst/>
          </a:prstGeom>
          <a:solidFill>
            <a:srgbClr val="0D1B3E"/>
          </a:solidFill>
          <a:ln/>
        </p:spPr>
      </p:sp>
      <p:pic>
        <p:nvPicPr>
          <p:cNvPr id="8" name="Image 0" descr="preencoded.png">    </p:cNvPr>
          <p:cNvPicPr>
            <a:picLocks noChangeAspect="1"/>
          </p:cNvPicPr>
          <p:nvPr/>
        </p:nvPicPr>
        <p:blipFill>
          <a:blip r:embed="rId1"/>
          <a:stretch>
            <a:fillRect/>
          </a:stretch>
        </p:blipFill>
        <p:spPr>
          <a:xfrm>
            <a:off x="438912" y="1188720"/>
            <a:ext cx="256032" cy="256032"/>
          </a:xfrm>
          <a:prstGeom prst="rect">
            <a:avLst/>
          </a:prstGeom>
        </p:spPr>
      </p:pic>
      <p:sp>
        <p:nvSpPr>
          <p:cNvPr id="9" name="Text 6"/>
          <p:cNvSpPr/>
          <p:nvPr/>
        </p:nvSpPr>
        <p:spPr>
          <a:xfrm>
            <a:off x="758952" y="1197864"/>
            <a:ext cx="2258568" cy="237744"/>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Sarvam-1</a:t>
            </a:r>
            <a:endParaRPr lang="en-US" sz="1200" dirty="0"/>
          </a:p>
        </p:txBody>
      </p:sp>
      <p:sp>
        <p:nvSpPr>
          <p:cNvPr id="10" name="Text 7"/>
          <p:cNvSpPr/>
          <p:nvPr/>
        </p:nvSpPr>
        <p:spPr>
          <a:xfrm>
            <a:off x="457200" y="1572768"/>
            <a:ext cx="2542032"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Decoder  •  2B params  •  10+ Indic langs</a:t>
            </a:r>
            <a:endParaRPr lang="en-US" sz="900" dirty="0"/>
          </a:p>
        </p:txBody>
      </p:sp>
      <p:sp>
        <p:nvSpPr>
          <p:cNvPr id="11" name="Text 8"/>
          <p:cNvSpPr/>
          <p:nvPr/>
        </p:nvSpPr>
        <p:spPr>
          <a:xfrm>
            <a:off x="457200" y="1828800"/>
            <a:ext cx="2542032" cy="2724912"/>
          </a:xfrm>
          <a:prstGeom prst="rect">
            <a:avLst/>
          </a:prstGeom>
          <a:noFill/>
          <a:ln/>
        </p:spPr>
        <p:txBody>
          <a:bodyPr wrap="square" lIns="0" tIns="101600" rIns="101600" bIns="0" rtlCol="0" anchor="ctr"/>
          <a:lstStyle/>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Designed specifically for Indic generation</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Strong on QA, translation, conversation</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Trained on large Indic-focused corpus</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Limitation: Uneven low-resource performance</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Limitation: Limited public training details</a:t>
            </a:r>
            <a:endParaRPr lang="en-US" sz="1050" dirty="0"/>
          </a:p>
        </p:txBody>
      </p:sp>
      <p:sp>
        <p:nvSpPr>
          <p:cNvPr id="12" name="Shape 9"/>
          <p:cNvSpPr/>
          <p:nvPr/>
        </p:nvSpPr>
        <p:spPr>
          <a:xfrm>
            <a:off x="3255264" y="1115568"/>
            <a:ext cx="2761488" cy="3584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3" name="Shape 10"/>
          <p:cNvSpPr/>
          <p:nvPr/>
        </p:nvSpPr>
        <p:spPr>
          <a:xfrm>
            <a:off x="3255264" y="1115568"/>
            <a:ext cx="2761488" cy="402336"/>
          </a:xfrm>
          <a:prstGeom prst="rect">
            <a:avLst/>
          </a:prstGeom>
          <a:solidFill>
            <a:srgbClr val="1E4D8C"/>
          </a:solidFill>
          <a:ln/>
        </p:spPr>
      </p:sp>
      <p:pic>
        <p:nvPicPr>
          <p:cNvPr id="14" name="Image 1" descr="preencoded.png">    </p:cNvPr>
          <p:cNvPicPr>
            <a:picLocks noChangeAspect="1"/>
          </p:cNvPicPr>
          <p:nvPr/>
        </p:nvPicPr>
        <p:blipFill>
          <a:blip r:embed="rId2"/>
          <a:stretch>
            <a:fillRect/>
          </a:stretch>
        </p:blipFill>
        <p:spPr>
          <a:xfrm>
            <a:off x="3346704" y="1188720"/>
            <a:ext cx="256032" cy="256032"/>
          </a:xfrm>
          <a:prstGeom prst="rect">
            <a:avLst/>
          </a:prstGeom>
        </p:spPr>
      </p:pic>
      <p:sp>
        <p:nvSpPr>
          <p:cNvPr id="15" name="Text 11"/>
          <p:cNvSpPr/>
          <p:nvPr/>
        </p:nvSpPr>
        <p:spPr>
          <a:xfrm>
            <a:off x="3666744" y="1197864"/>
            <a:ext cx="2258568" cy="237744"/>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Nemotron-4-Mini-Hindi</a:t>
            </a:r>
            <a:endParaRPr lang="en-US" sz="1200" dirty="0"/>
          </a:p>
        </p:txBody>
      </p:sp>
      <p:sp>
        <p:nvSpPr>
          <p:cNvPr id="16" name="Text 12"/>
          <p:cNvSpPr/>
          <p:nvPr/>
        </p:nvSpPr>
        <p:spPr>
          <a:xfrm>
            <a:off x="3364992" y="1572768"/>
            <a:ext cx="2542032"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Decoder  •  4B params  •  Hindi-English</a:t>
            </a:r>
            <a:endParaRPr lang="en-US" sz="900" dirty="0"/>
          </a:p>
        </p:txBody>
      </p:sp>
      <p:sp>
        <p:nvSpPr>
          <p:cNvPr id="17" name="Text 13"/>
          <p:cNvSpPr/>
          <p:nvPr/>
        </p:nvSpPr>
        <p:spPr>
          <a:xfrm>
            <a:off x="3364992" y="1828800"/>
            <a:ext cx="2542032" cy="2724912"/>
          </a:xfrm>
          <a:prstGeom prst="rect">
            <a:avLst/>
          </a:prstGeom>
          <a:noFill/>
          <a:ln/>
        </p:spPr>
        <p:txBody>
          <a:bodyPr wrap="square" lIns="0" tIns="101600" rIns="101600" bIns="0" rtlCol="0" anchor="ctr"/>
          <a:lstStyle/>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Optimized via pruning &amp; distillation</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Fast inference; on-device deployment ready</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Limitation: Primarily Hindi-focused only</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Limitation: Limited multilingual generalization</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Limitation: Dependent on parent model quality</a:t>
            </a:r>
            <a:endParaRPr lang="en-US" sz="1050" dirty="0"/>
          </a:p>
        </p:txBody>
      </p:sp>
      <p:sp>
        <p:nvSpPr>
          <p:cNvPr id="18" name="Shape 14"/>
          <p:cNvSpPr/>
          <p:nvPr/>
        </p:nvSpPr>
        <p:spPr>
          <a:xfrm>
            <a:off x="6163056" y="1115568"/>
            <a:ext cx="2761488" cy="358444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9" name="Shape 15"/>
          <p:cNvSpPr/>
          <p:nvPr/>
        </p:nvSpPr>
        <p:spPr>
          <a:xfrm>
            <a:off x="6163056" y="1115568"/>
            <a:ext cx="2761488" cy="402336"/>
          </a:xfrm>
          <a:prstGeom prst="rect">
            <a:avLst/>
          </a:prstGeom>
          <a:solidFill>
            <a:srgbClr val="1A3A6E"/>
          </a:solidFill>
          <a:ln/>
        </p:spPr>
      </p:sp>
      <p:pic>
        <p:nvPicPr>
          <p:cNvPr id="20" name="Image 2" descr="preencoded.png">    </p:cNvPr>
          <p:cNvPicPr>
            <a:picLocks noChangeAspect="1"/>
          </p:cNvPicPr>
          <p:nvPr/>
        </p:nvPicPr>
        <p:blipFill>
          <a:blip r:embed="rId3"/>
          <a:stretch>
            <a:fillRect/>
          </a:stretch>
        </p:blipFill>
        <p:spPr>
          <a:xfrm>
            <a:off x="6254496" y="1188720"/>
            <a:ext cx="256032" cy="256032"/>
          </a:xfrm>
          <a:prstGeom prst="rect">
            <a:avLst/>
          </a:prstGeom>
        </p:spPr>
      </p:pic>
      <p:sp>
        <p:nvSpPr>
          <p:cNvPr id="21" name="Text 16"/>
          <p:cNvSpPr/>
          <p:nvPr/>
        </p:nvSpPr>
        <p:spPr>
          <a:xfrm>
            <a:off x="6574536" y="1197864"/>
            <a:ext cx="2258568" cy="237744"/>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Pragna-1B</a:t>
            </a:r>
            <a:endParaRPr lang="en-US" sz="1200" dirty="0"/>
          </a:p>
        </p:txBody>
      </p:sp>
      <p:sp>
        <p:nvSpPr>
          <p:cNvPr id="22" name="Text 17"/>
          <p:cNvSpPr/>
          <p:nvPr/>
        </p:nvSpPr>
        <p:spPr>
          <a:xfrm>
            <a:off x="6272784" y="1572768"/>
            <a:ext cx="2542032"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Decoder  •  1.25B params  •  4 Indic langs</a:t>
            </a:r>
            <a:endParaRPr lang="en-US" sz="900" dirty="0"/>
          </a:p>
        </p:txBody>
      </p:sp>
      <p:sp>
        <p:nvSpPr>
          <p:cNvPr id="23" name="Text 18"/>
          <p:cNvSpPr/>
          <p:nvPr/>
        </p:nvSpPr>
        <p:spPr>
          <a:xfrm>
            <a:off x="6272784" y="1828800"/>
            <a:ext cx="2542032" cy="2724912"/>
          </a:xfrm>
          <a:prstGeom prst="rect">
            <a:avLst/>
          </a:prstGeom>
          <a:noFill/>
          <a:ln/>
        </p:spPr>
        <p:txBody>
          <a:bodyPr wrap="square" lIns="0" tIns="101600" rIns="101600" bIns="0" rtlCol="0" anchor="ctr"/>
          <a:lstStyle/>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LLaMA-2 based with custom Indic tokenizer</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Supports Bengali, Gujarati, Hindi, English</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Reduces token fragmentation significantly</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Limitation: Limited reasoning capability</a:t>
            </a:r>
            <a:endParaRPr lang="en-US" sz="1050" dirty="0"/>
          </a:p>
          <a:p>
            <a:pPr marL="342900" indent="-342900">
              <a:spcAft>
                <a:spcPts val="600"/>
              </a:spcAft>
              <a:buSzPct val="100000"/>
              <a:buChar char="•"/>
            </a:pPr>
            <a:r>
              <a:rPr lang="en-US" sz="1050" dirty="0">
                <a:solidFill>
                  <a:srgbClr val="0D1B3E"/>
                </a:solidFill>
                <a:latin typeface="Calibri" pitchFamily="34" charset="0"/>
                <a:ea typeface="Calibri" pitchFamily="34" charset="-122"/>
                <a:cs typeface="Calibri" pitchFamily="34" charset="-120"/>
              </a:rPr>
              <a:t>Limitation: No large-scale benchmark evaluation</a:t>
            </a:r>
            <a:endParaRPr lang="en-US" sz="1050" dirty="0"/>
          </a:p>
        </p:txBody>
      </p:sp>
      <p:sp>
        <p:nvSpPr>
          <p:cNvPr id="24" name="Shape 19"/>
          <p:cNvSpPr/>
          <p:nvPr/>
        </p:nvSpPr>
        <p:spPr>
          <a:xfrm>
            <a:off x="347472" y="4818888"/>
            <a:ext cx="8449056" cy="347472"/>
          </a:xfrm>
          <a:prstGeom prst="rect">
            <a:avLst/>
          </a:prstGeom>
          <a:solidFill>
            <a:srgbClr val="0D9488"/>
          </a:solidFill>
          <a:ln/>
        </p:spPr>
      </p:sp>
      <p:pic>
        <p:nvPicPr>
          <p:cNvPr id="25" name="Image 3" descr="preencoded.png">    </p:cNvPr>
          <p:cNvPicPr>
            <a:picLocks noChangeAspect="1"/>
          </p:cNvPicPr>
          <p:nvPr/>
        </p:nvPicPr>
        <p:blipFill>
          <a:blip r:embed="rId4"/>
          <a:stretch>
            <a:fillRect/>
          </a:stretch>
        </p:blipFill>
        <p:spPr>
          <a:xfrm>
            <a:off x="475488" y="4882896"/>
            <a:ext cx="219456" cy="219456"/>
          </a:xfrm>
          <a:prstGeom prst="rect">
            <a:avLst/>
          </a:prstGeom>
        </p:spPr>
      </p:pic>
      <p:sp>
        <p:nvSpPr>
          <p:cNvPr id="26" name="Text 20"/>
          <p:cNvSpPr/>
          <p:nvPr/>
        </p:nvSpPr>
        <p:spPr>
          <a:xfrm>
            <a:off x="749808" y="4837176"/>
            <a:ext cx="7973568" cy="31089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None of these models provide comprehensive coverage of all three target languages (Bengali + Odia + Gujarati) with strong generative performance.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Model Comparison</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Full comparative analysis of Indic and multilingual language models</a:t>
            </a:r>
            <a:endParaRPr lang="en-US" sz="1100" dirty="0"/>
          </a:p>
        </p:txBody>
      </p:sp>
      <p:sp>
        <p:nvSpPr>
          <p:cNvPr id="5" name="Shape 3"/>
          <p:cNvSpPr/>
          <p:nvPr/>
        </p:nvSpPr>
        <p:spPr>
          <a:xfrm>
            <a:off x="411480" y="969264"/>
            <a:ext cx="8321040" cy="22860"/>
          </a:xfrm>
          <a:prstGeom prst="rect">
            <a:avLst/>
          </a:prstGeom>
          <a:solidFill>
            <a:srgbClr val="E2E8F0"/>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1115568"/>
          <a:ext cx="8595360" cy="3730752"/>
        </p:xfrm>
        <a:graphic>
          <a:graphicData uri="http://schemas.openxmlformats.org/drawingml/2006/table">
            <a:tbl>
              <a:tblPr/>
              <a:tblGrid>
                <a:gridCol w="1371600"/>
                <a:gridCol w="777240"/>
                <a:gridCol w="685800"/>
                <a:gridCol w="868680"/>
                <a:gridCol w="868680"/>
                <a:gridCol w="2194560"/>
                <a:gridCol w="182880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Params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Generative?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Indic Langs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Key Strength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Key Limitation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r>
              <a:tr h="384048">
                <a:tc>
                  <a:txBody>
                    <a:bodyPr/>
                    <a:lstStyle/>
                    <a:p>
                      <a:pPr algn="l" indent="0" marL="0">
                        <a:buNone/>
                      </a:pPr>
                      <a:r>
                        <a:rPr lang="en-US" sz="1000" b="1" dirty="0">
                          <a:solidFill>
                            <a:srgbClr val="0D1B3E"/>
                          </a:solidFill>
                          <a:latin typeface="Calibri" pitchFamily="34" charset="0"/>
                          <a:ea typeface="Calibri" pitchFamily="34" charset="-122"/>
                          <a:cs typeface="Calibri" pitchFamily="34" charset="-120"/>
                        </a:rPr>
                        <a:t>IndicBERT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D1B3E"/>
                          </a:solidFill>
                          <a:latin typeface="Calibri" pitchFamily="34" charset="0"/>
                          <a:ea typeface="Calibri" pitchFamily="34" charset="-122"/>
                          <a:cs typeface="Calibri" pitchFamily="34" charset="-120"/>
                        </a:rPr>
                        <a:t>Encoder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~17M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Lightweight classification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No text generation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D1B3E"/>
                          </a:solidFill>
                          <a:latin typeface="Calibri" pitchFamily="34" charset="0"/>
                          <a:ea typeface="Calibri" pitchFamily="34" charset="-122"/>
                          <a:cs typeface="Calibri" pitchFamily="34" charset="-120"/>
                        </a:rPr>
                        <a:t>MuRIL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00" dirty="0">
                          <a:solidFill>
                            <a:srgbClr val="0D1B3E"/>
                          </a:solidFill>
                          <a:latin typeface="Calibri" pitchFamily="34" charset="0"/>
                          <a:ea typeface="Calibri" pitchFamily="34" charset="-122"/>
                          <a:cs typeface="Calibri" pitchFamily="34" charset="-120"/>
                        </a:rPr>
                        <a:t>Encoder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~236M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Cross-lingual transfer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No generative tasks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r>
              <a:tr h="384048">
                <a:tc>
                  <a:txBody>
                    <a:bodyPr/>
                    <a:lstStyle/>
                    <a:p>
                      <a:pPr algn="l" indent="0" marL="0">
                        <a:buNone/>
                      </a:pPr>
                      <a:r>
                        <a:rPr lang="en-US" sz="1000" b="1" dirty="0">
                          <a:solidFill>
                            <a:srgbClr val="0D1B3E"/>
                          </a:solidFill>
                          <a:latin typeface="Calibri" pitchFamily="34" charset="0"/>
                          <a:ea typeface="Calibri" pitchFamily="34" charset="-122"/>
                          <a:cs typeface="Calibri" pitchFamily="34" charset="-120"/>
                        </a:rPr>
                        <a:t>Sarvam-1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D1B3E"/>
                          </a:solidFill>
                          <a:latin typeface="Calibri" pitchFamily="34" charset="0"/>
                          <a:ea typeface="Calibri" pitchFamily="34" charset="-122"/>
                          <a:cs typeface="Calibri" pitchFamily="34" charset="-120"/>
                        </a:rPr>
                        <a:t>Decoder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2B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Strong Indic QA &amp; translation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Uneven low-resource perf.</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D1B3E"/>
                          </a:solidFill>
                          <a:latin typeface="Calibri" pitchFamily="34" charset="0"/>
                          <a:ea typeface="Calibri" pitchFamily="34" charset="-122"/>
                          <a:cs typeface="Calibri" pitchFamily="34" charset="-120"/>
                        </a:rPr>
                        <a:t>Nemotron-4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00" dirty="0">
                          <a:solidFill>
                            <a:srgbClr val="0D1B3E"/>
                          </a:solidFill>
                          <a:latin typeface="Calibri" pitchFamily="34" charset="0"/>
                          <a:ea typeface="Calibri" pitchFamily="34" charset="-122"/>
                          <a:cs typeface="Calibri" pitchFamily="34" charset="-120"/>
                        </a:rPr>
                        <a:t>Decoder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4B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Hindi</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Efficient deployment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Hindi-only focus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r>
              <a:tr h="384048">
                <a:tc>
                  <a:txBody>
                    <a:bodyPr/>
                    <a:lstStyle/>
                    <a:p>
                      <a:pPr algn="l" indent="0" marL="0">
                        <a:buNone/>
                      </a:pPr>
                      <a:r>
                        <a:rPr lang="en-US" sz="1000" b="1" dirty="0">
                          <a:solidFill>
                            <a:srgbClr val="0D1B3E"/>
                          </a:solidFill>
                          <a:latin typeface="Calibri" pitchFamily="34" charset="0"/>
                          <a:ea typeface="Calibri" pitchFamily="34" charset="-122"/>
                          <a:cs typeface="Calibri" pitchFamily="34" charset="-120"/>
                        </a:rPr>
                        <a:t>Pragna-1B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D1B3E"/>
                          </a:solidFill>
                          <a:latin typeface="Calibri" pitchFamily="34" charset="0"/>
                          <a:ea typeface="Calibri" pitchFamily="34" charset="-122"/>
                          <a:cs typeface="Calibri" pitchFamily="34" charset="-120"/>
                        </a:rPr>
                        <a:t>Decoder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1.25B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Custom Indic tokenizer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Limited benchmarking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D1B3E"/>
                          </a:solidFill>
                          <a:latin typeface="Calibri" pitchFamily="34" charset="0"/>
                          <a:ea typeface="Calibri" pitchFamily="34" charset="-122"/>
                          <a:cs typeface="Calibri" pitchFamily="34" charset="-120"/>
                        </a:rPr>
                        <a:t>LLaMA / Gemma</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00" dirty="0">
                          <a:solidFill>
                            <a:srgbClr val="0D1B3E"/>
                          </a:solidFill>
                          <a:latin typeface="Calibri" pitchFamily="34" charset="0"/>
                          <a:ea typeface="Calibri" pitchFamily="34" charset="-122"/>
                          <a:cs typeface="Calibri" pitchFamily="34" charset="-120"/>
                        </a:rPr>
                        <a:t>Decoder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7B+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Minimal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Strong English reasoning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Poor Indic coverage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r>
              <a:tr h="384048">
                <a:tc>
                  <a:txBody>
                    <a:bodyPr/>
                    <a:lstStyle/>
                    <a:p>
                      <a:pPr algn="l" indent="0" marL="0">
                        <a:buNone/>
                      </a:pPr>
                      <a:r>
                        <a:rPr lang="en-US" sz="1000" b="1" dirty="0">
                          <a:solidFill>
                            <a:srgbClr val="0D1B3E"/>
                          </a:solidFill>
                          <a:latin typeface="Calibri" pitchFamily="34" charset="0"/>
                          <a:ea typeface="Calibri" pitchFamily="34" charset="-122"/>
                          <a:cs typeface="Calibri" pitchFamily="34" charset="-120"/>
                        </a:rPr>
                        <a:t>mT5 / BLOOM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D1B3E"/>
                          </a:solidFill>
                          <a:latin typeface="Calibri" pitchFamily="34" charset="0"/>
                          <a:ea typeface="Calibri" pitchFamily="34" charset="-122"/>
                          <a:cs typeface="Calibri" pitchFamily="34" charset="-120"/>
                        </a:rPr>
                        <a:t>Enc-Dec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13B+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B98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Broad language coverage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1B3E"/>
                          </a:solidFill>
                          <a:latin typeface="Calibri" pitchFamily="34" charset="0"/>
                          <a:ea typeface="Calibri" pitchFamily="34" charset="-122"/>
                          <a:cs typeface="Calibri" pitchFamily="34" charset="-120"/>
                        </a:rPr>
                        <a:t>Very high compute cost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4"/>
          <p:cNvSpPr/>
          <p:nvPr/>
        </p:nvSpPr>
        <p:spPr>
          <a:xfrm>
            <a:off x="274320" y="4956048"/>
            <a:ext cx="146304" cy="146304"/>
          </a:xfrm>
          <a:prstGeom prst="ellipse">
            <a:avLst/>
          </a:prstGeom>
          <a:solidFill>
            <a:srgbClr val="10B981"/>
          </a:solidFill>
          <a:ln/>
        </p:spPr>
      </p:sp>
      <p:sp>
        <p:nvSpPr>
          <p:cNvPr id="8" name="Text 5"/>
          <p:cNvSpPr/>
          <p:nvPr/>
        </p:nvSpPr>
        <p:spPr>
          <a:xfrm>
            <a:off x="475488" y="4937760"/>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Supports text generation</a:t>
            </a:r>
            <a:endParaRPr lang="en-US" sz="900" dirty="0"/>
          </a:p>
        </p:txBody>
      </p:sp>
      <p:sp>
        <p:nvSpPr>
          <p:cNvPr id="9" name="Shape 6"/>
          <p:cNvSpPr/>
          <p:nvPr/>
        </p:nvSpPr>
        <p:spPr>
          <a:xfrm>
            <a:off x="3108960" y="4956048"/>
            <a:ext cx="146304" cy="146304"/>
          </a:xfrm>
          <a:prstGeom prst="ellipse">
            <a:avLst/>
          </a:prstGeom>
          <a:solidFill>
            <a:srgbClr val="EF4444"/>
          </a:solidFill>
          <a:ln/>
        </p:spPr>
      </p:sp>
      <p:sp>
        <p:nvSpPr>
          <p:cNvPr id="10" name="Text 7"/>
          <p:cNvSpPr/>
          <p:nvPr/>
        </p:nvSpPr>
        <p:spPr>
          <a:xfrm>
            <a:off x="3310128" y="4937760"/>
            <a:ext cx="27432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Encoder-only — no generation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Data Collection Strategy</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Multi-source pipeline for low-resource language data</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2761488" cy="325526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2761488" cy="402336"/>
          </a:xfrm>
          <a:prstGeom prst="rect">
            <a:avLst/>
          </a:prstGeom>
          <a:solidFill>
            <a:srgbClr val="0D1B3E"/>
          </a:solidFill>
          <a:ln/>
        </p:spPr>
      </p:sp>
      <p:pic>
        <p:nvPicPr>
          <p:cNvPr id="8" name="Image 0" descr="preencoded.png">    </p:cNvPr>
          <p:cNvPicPr>
            <a:picLocks noChangeAspect="1"/>
          </p:cNvPicPr>
          <p:nvPr/>
        </p:nvPicPr>
        <p:blipFill>
          <a:blip r:embed="rId1"/>
          <a:stretch>
            <a:fillRect/>
          </a:stretch>
        </p:blipFill>
        <p:spPr>
          <a:xfrm>
            <a:off x="438912" y="1188720"/>
            <a:ext cx="256032" cy="256032"/>
          </a:xfrm>
          <a:prstGeom prst="rect">
            <a:avLst/>
          </a:prstGeom>
        </p:spPr>
      </p:pic>
      <p:sp>
        <p:nvSpPr>
          <p:cNvPr id="9" name="Text 6"/>
          <p:cNvSpPr/>
          <p:nvPr/>
        </p:nvSpPr>
        <p:spPr>
          <a:xfrm>
            <a:off x="758952" y="1197864"/>
            <a:ext cx="2258568" cy="237744"/>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Curated / Government</a:t>
            </a:r>
            <a:endParaRPr lang="en-US" sz="1200" dirty="0"/>
          </a:p>
        </p:txBody>
      </p:sp>
      <p:sp>
        <p:nvSpPr>
          <p:cNvPr id="10" name="Text 7"/>
          <p:cNvSpPr/>
          <p:nvPr/>
        </p:nvSpPr>
        <p:spPr>
          <a:xfrm>
            <a:off x="475488" y="1572768"/>
            <a:ext cx="2505456" cy="1828800"/>
          </a:xfrm>
          <a:prstGeom prst="rect">
            <a:avLst/>
          </a:prstGeom>
          <a:noFill/>
          <a:ln/>
        </p:spPr>
        <p:txBody>
          <a:bodyPr wrap="square" lIns="0" tIns="101600" rIns="101600" bIns="0" rtlCol="0" anchor="ctr"/>
          <a:lstStyle/>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AIKosh (IndiaAI Platform)</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AI4Bharat Datasets</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Sangraha (HuggingFace)</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OSCAR Web Corpus</a:t>
            </a:r>
            <a:endParaRPr lang="en-US" sz="1100" dirty="0"/>
          </a:p>
        </p:txBody>
      </p:sp>
      <p:sp>
        <p:nvSpPr>
          <p:cNvPr id="11" name="Shape 8"/>
          <p:cNvSpPr/>
          <p:nvPr/>
        </p:nvSpPr>
        <p:spPr>
          <a:xfrm>
            <a:off x="475488" y="3493008"/>
            <a:ext cx="2505456" cy="36576"/>
          </a:xfrm>
          <a:prstGeom prst="rect">
            <a:avLst/>
          </a:prstGeom>
          <a:solidFill>
            <a:srgbClr val="E2E8F0"/>
          </a:solidFill>
          <a:ln/>
        </p:spPr>
      </p:sp>
      <p:sp>
        <p:nvSpPr>
          <p:cNvPr id="12" name="Text 9"/>
          <p:cNvSpPr/>
          <p:nvPr/>
        </p:nvSpPr>
        <p:spPr>
          <a:xfrm>
            <a:off x="475488" y="3566160"/>
            <a:ext cx="2505456" cy="60350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Highest quality — structured and verified</a:t>
            </a:r>
            <a:endParaRPr lang="en-US" sz="950" dirty="0"/>
          </a:p>
        </p:txBody>
      </p:sp>
      <p:sp>
        <p:nvSpPr>
          <p:cNvPr id="13" name="Shape 10"/>
          <p:cNvSpPr/>
          <p:nvPr/>
        </p:nvSpPr>
        <p:spPr>
          <a:xfrm>
            <a:off x="3255264" y="1115568"/>
            <a:ext cx="2761488" cy="325526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4" name="Shape 11"/>
          <p:cNvSpPr/>
          <p:nvPr/>
        </p:nvSpPr>
        <p:spPr>
          <a:xfrm>
            <a:off x="3255264" y="1115568"/>
            <a:ext cx="2761488" cy="402336"/>
          </a:xfrm>
          <a:prstGeom prst="rect">
            <a:avLst/>
          </a:prstGeom>
          <a:solidFill>
            <a:srgbClr val="1E4D8C"/>
          </a:solidFill>
          <a:ln/>
        </p:spPr>
      </p:sp>
      <p:pic>
        <p:nvPicPr>
          <p:cNvPr id="15" name="Image 1" descr="preencoded.png">    </p:cNvPr>
          <p:cNvPicPr>
            <a:picLocks noChangeAspect="1"/>
          </p:cNvPicPr>
          <p:nvPr/>
        </p:nvPicPr>
        <p:blipFill>
          <a:blip r:embed="rId2"/>
          <a:stretch>
            <a:fillRect/>
          </a:stretch>
        </p:blipFill>
        <p:spPr>
          <a:xfrm>
            <a:off x="3346704" y="1188720"/>
            <a:ext cx="256032" cy="256032"/>
          </a:xfrm>
          <a:prstGeom prst="rect">
            <a:avLst/>
          </a:prstGeom>
        </p:spPr>
      </p:pic>
      <p:sp>
        <p:nvSpPr>
          <p:cNvPr id="16" name="Text 12"/>
          <p:cNvSpPr/>
          <p:nvPr/>
        </p:nvSpPr>
        <p:spPr>
          <a:xfrm>
            <a:off x="3666744" y="1197864"/>
            <a:ext cx="2258568" cy="237744"/>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Web Unlabelled Data</a:t>
            </a:r>
            <a:endParaRPr lang="en-US" sz="1200" dirty="0"/>
          </a:p>
        </p:txBody>
      </p:sp>
      <p:sp>
        <p:nvSpPr>
          <p:cNvPr id="17" name="Text 13"/>
          <p:cNvSpPr/>
          <p:nvPr/>
        </p:nvSpPr>
        <p:spPr>
          <a:xfrm>
            <a:off x="3383280" y="1572768"/>
            <a:ext cx="2505456" cy="1828800"/>
          </a:xfrm>
          <a:prstGeom prst="rect">
            <a:avLst/>
          </a:prstGeom>
          <a:noFill/>
          <a:ln/>
        </p:spPr>
        <p:txBody>
          <a:bodyPr wrap="square" lIns="0" tIns="101600" rIns="101600" bIns="0" rtlCol="0" anchor="ctr"/>
          <a:lstStyle/>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Wikipedia (Bengali, Odia, Gujarati)</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Anandabazar Patrika (Bengali)</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Sambad (Odia news)</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Gujarat Samachar</a:t>
            </a:r>
            <a:endParaRPr lang="en-US" sz="1100" dirty="0"/>
          </a:p>
        </p:txBody>
      </p:sp>
      <p:sp>
        <p:nvSpPr>
          <p:cNvPr id="18" name="Shape 14"/>
          <p:cNvSpPr/>
          <p:nvPr/>
        </p:nvSpPr>
        <p:spPr>
          <a:xfrm>
            <a:off x="3383280" y="3493008"/>
            <a:ext cx="2505456" cy="36576"/>
          </a:xfrm>
          <a:prstGeom prst="rect">
            <a:avLst/>
          </a:prstGeom>
          <a:solidFill>
            <a:srgbClr val="E2E8F0"/>
          </a:solidFill>
          <a:ln/>
        </p:spPr>
      </p:sp>
      <p:sp>
        <p:nvSpPr>
          <p:cNvPr id="19" name="Text 15"/>
          <p:cNvSpPr/>
          <p:nvPr/>
        </p:nvSpPr>
        <p:spPr>
          <a:xfrm>
            <a:off x="3383280" y="3566160"/>
            <a:ext cx="2505456" cy="60350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Grammatically rich; needs cleaning</a:t>
            </a:r>
            <a:endParaRPr lang="en-US" sz="950" dirty="0"/>
          </a:p>
        </p:txBody>
      </p:sp>
      <p:sp>
        <p:nvSpPr>
          <p:cNvPr id="20" name="Shape 16"/>
          <p:cNvSpPr/>
          <p:nvPr/>
        </p:nvSpPr>
        <p:spPr>
          <a:xfrm>
            <a:off x="6163056" y="1115568"/>
            <a:ext cx="2761488" cy="325526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21" name="Shape 17"/>
          <p:cNvSpPr/>
          <p:nvPr/>
        </p:nvSpPr>
        <p:spPr>
          <a:xfrm>
            <a:off x="6163056" y="1115568"/>
            <a:ext cx="2761488" cy="402336"/>
          </a:xfrm>
          <a:prstGeom prst="rect">
            <a:avLst/>
          </a:prstGeom>
          <a:solidFill>
            <a:srgbClr val="0D9488"/>
          </a:solidFill>
          <a:ln/>
        </p:spPr>
      </p:sp>
      <p:pic>
        <p:nvPicPr>
          <p:cNvPr id="22" name="Image 2" descr="preencoded.png">    </p:cNvPr>
          <p:cNvPicPr>
            <a:picLocks noChangeAspect="1"/>
          </p:cNvPicPr>
          <p:nvPr/>
        </p:nvPicPr>
        <p:blipFill>
          <a:blip r:embed="rId3"/>
          <a:stretch>
            <a:fillRect/>
          </a:stretch>
        </p:blipFill>
        <p:spPr>
          <a:xfrm>
            <a:off x="6254496" y="1188720"/>
            <a:ext cx="256032" cy="256032"/>
          </a:xfrm>
          <a:prstGeom prst="rect">
            <a:avLst/>
          </a:prstGeom>
        </p:spPr>
      </p:pic>
      <p:sp>
        <p:nvSpPr>
          <p:cNvPr id="23" name="Text 18"/>
          <p:cNvSpPr/>
          <p:nvPr/>
        </p:nvSpPr>
        <p:spPr>
          <a:xfrm>
            <a:off x="6574536" y="1197864"/>
            <a:ext cx="2258568" cy="237744"/>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Synthetic Generation</a:t>
            </a:r>
            <a:endParaRPr lang="en-US" sz="1200" dirty="0"/>
          </a:p>
        </p:txBody>
      </p:sp>
      <p:sp>
        <p:nvSpPr>
          <p:cNvPr id="24" name="Text 19"/>
          <p:cNvSpPr/>
          <p:nvPr/>
        </p:nvSpPr>
        <p:spPr>
          <a:xfrm>
            <a:off x="6291072" y="1572768"/>
            <a:ext cx="2505456" cy="1828800"/>
          </a:xfrm>
          <a:prstGeom prst="rect">
            <a:avLst/>
          </a:prstGeom>
          <a:noFill/>
          <a:ln/>
        </p:spPr>
        <p:txBody>
          <a:bodyPr wrap="square" lIns="0" tIns="101600" rIns="101600" bIns="0" rtlCol="0" anchor="ctr"/>
          <a:lstStyle/>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QA pair generation via LLMs</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Translation augmentation</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Dialogue data creation</a:t>
            </a:r>
            <a:endParaRPr lang="en-US" sz="1100" dirty="0"/>
          </a:p>
          <a:p>
            <a:pPr marL="342900" indent="-342900">
              <a:spcAft>
                <a:spcPts val="800"/>
              </a:spcAft>
              <a:buSzPct val="100000"/>
              <a:buChar char="•"/>
            </a:pPr>
            <a:r>
              <a:rPr lang="en-US" sz="1100" dirty="0">
                <a:solidFill>
                  <a:srgbClr val="0D1B3E"/>
                </a:solidFill>
                <a:latin typeface="Calibri" pitchFamily="34" charset="0"/>
                <a:ea typeface="Calibri" pitchFamily="34" charset="-122"/>
                <a:cs typeface="Calibri" pitchFamily="34" charset="-120"/>
              </a:rPr>
              <a:t>Cross-lingual pairing</a:t>
            </a:r>
            <a:endParaRPr lang="en-US" sz="1100" dirty="0"/>
          </a:p>
        </p:txBody>
      </p:sp>
      <p:sp>
        <p:nvSpPr>
          <p:cNvPr id="25" name="Shape 20"/>
          <p:cNvSpPr/>
          <p:nvPr/>
        </p:nvSpPr>
        <p:spPr>
          <a:xfrm>
            <a:off x="6291072" y="3493008"/>
            <a:ext cx="2505456" cy="36576"/>
          </a:xfrm>
          <a:prstGeom prst="rect">
            <a:avLst/>
          </a:prstGeom>
          <a:solidFill>
            <a:srgbClr val="E2E8F0"/>
          </a:solidFill>
          <a:ln/>
        </p:spPr>
      </p:sp>
      <p:sp>
        <p:nvSpPr>
          <p:cNvPr id="26" name="Text 21"/>
          <p:cNvSpPr/>
          <p:nvPr/>
        </p:nvSpPr>
        <p:spPr>
          <a:xfrm>
            <a:off x="6291072" y="3566160"/>
            <a:ext cx="2505456" cy="60350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Addresses labeled data scarcity</a:t>
            </a:r>
            <a:endParaRPr lang="en-US" sz="950" dirty="0"/>
          </a:p>
        </p:txBody>
      </p:sp>
      <p:sp>
        <p:nvSpPr>
          <p:cNvPr id="27" name="Shape 22"/>
          <p:cNvSpPr/>
          <p:nvPr/>
        </p:nvSpPr>
        <p:spPr>
          <a:xfrm>
            <a:off x="347472" y="4498848"/>
            <a:ext cx="8449056" cy="685800"/>
          </a:xfrm>
          <a:prstGeom prst="rect">
            <a:avLst/>
          </a:prstGeom>
          <a:solidFill>
            <a:srgbClr val="0F172A"/>
          </a:solidFill>
          <a:ln/>
          <a:effectLst>
            <a:outerShdw sx="100000" sy="100000" kx="0" ky="0" algn="bl" rotWithShape="0" blurRad="101600" dist="38100" dir="8100000">
              <a:srgbClr val="000000">
                <a:alpha val="15000"/>
              </a:srgbClr>
            </a:outerShdw>
          </a:effectLst>
        </p:spPr>
      </p:sp>
      <p:sp>
        <p:nvSpPr>
          <p:cNvPr id="28" name="Text 23"/>
          <p:cNvSpPr/>
          <p:nvPr/>
        </p:nvSpPr>
        <p:spPr>
          <a:xfrm>
            <a:off x="493776" y="4544568"/>
            <a:ext cx="8229600" cy="274320"/>
          </a:xfrm>
          <a:prstGeom prst="rect">
            <a:avLst/>
          </a:prstGeom>
          <a:noFill/>
          <a:ln/>
        </p:spPr>
        <p:txBody>
          <a:bodyPr wrap="square" lIns="0" tIns="0" rIns="0" bIns="0" rtlCol="0" anchor="ctr"/>
          <a:lstStyle/>
          <a:p>
            <a:pPr indent="0" marL="0">
              <a:buNone/>
            </a:pPr>
            <a:r>
              <a:rPr lang="en-US" sz="950" dirty="0">
                <a:solidFill>
                  <a:srgbClr val="6A9153"/>
                </a:solidFill>
                <a:latin typeface="Courier New" pitchFamily="34" charset="0"/>
                <a:ea typeface="Courier New" pitchFamily="34" charset="-122"/>
                <a:cs typeface="Courier New" pitchFamily="34" charset="-120"/>
              </a:rPr>
              <a:t># Load Sangraha — large curated Indic corpus  </a:t>
            </a:r>
            <a:pPr indent="0" marL="0">
              <a:buNone/>
            </a:pPr>
            <a:r>
              <a:rPr lang="en-US" sz="950" dirty="0">
                <a:solidFill>
                  <a:srgbClr val="64748B"/>
                </a:solidFill>
                <a:latin typeface="Courier New" pitchFamily="34" charset="0"/>
                <a:ea typeface="Courier New" pitchFamily="34" charset="-122"/>
                <a:cs typeface="Courier New" pitchFamily="34" charset="-120"/>
              </a:rPr>
              <a:t>→  </a:t>
            </a:r>
            <a:pPr indent="0" marL="0">
              <a:buNone/>
            </a:pPr>
            <a:r>
              <a:rPr lang="en-US" sz="950" dirty="0">
                <a:solidFill>
                  <a:srgbClr val="7DD3FC"/>
                </a:solidFill>
                <a:latin typeface="Courier New" pitchFamily="34" charset="0"/>
                <a:ea typeface="Courier New" pitchFamily="34" charset="-122"/>
                <a:cs typeface="Courier New" pitchFamily="34" charset="-120"/>
              </a:rPr>
              <a:t>ds = load_dataset("ai4bharat/sangraha", "verified", split="train", trust_remote_code=True)</a:t>
            </a:r>
            <a:endParaRPr lang="en-US" sz="950" dirty="0"/>
          </a:p>
        </p:txBody>
      </p:sp>
      <p:sp>
        <p:nvSpPr>
          <p:cNvPr id="29" name="Text 24"/>
          <p:cNvSpPr/>
          <p:nvPr/>
        </p:nvSpPr>
        <p:spPr>
          <a:xfrm>
            <a:off x="493776" y="4846320"/>
            <a:ext cx="8229600" cy="274320"/>
          </a:xfrm>
          <a:prstGeom prst="rect">
            <a:avLst/>
          </a:prstGeom>
          <a:noFill/>
          <a:ln/>
        </p:spPr>
        <p:txBody>
          <a:bodyPr wrap="square" lIns="0" tIns="0" rIns="0" bIns="0" rtlCol="0" anchor="ctr"/>
          <a:lstStyle/>
          <a:p>
            <a:pPr indent="0" marL="0">
              <a:buNone/>
            </a:pPr>
            <a:r>
              <a:rPr lang="en-US" sz="950" dirty="0">
                <a:solidFill>
                  <a:srgbClr val="6A9153"/>
                </a:solidFill>
                <a:latin typeface="Courier New" pitchFamily="34" charset="0"/>
                <a:ea typeface="Courier New" pitchFamily="34" charset="-122"/>
                <a:cs typeface="Courier New" pitchFamily="34" charset="-120"/>
              </a:rPr>
              <a:t># Synthetic QA generation  </a:t>
            </a:r>
            <a:pPr indent="0" marL="0">
              <a:buNone/>
            </a:pPr>
            <a:r>
              <a:rPr lang="en-US" sz="950" dirty="0">
                <a:solidFill>
                  <a:srgbClr val="64748B"/>
                </a:solidFill>
                <a:latin typeface="Courier New" pitchFamily="34" charset="0"/>
                <a:ea typeface="Courier New" pitchFamily="34" charset="-122"/>
                <a:cs typeface="Courier New" pitchFamily="34" charset="-120"/>
              </a:rPr>
              <a:t>→  </a:t>
            </a:r>
            <a:pPr indent="0" marL="0">
              <a:buNone/>
            </a:pPr>
            <a:r>
              <a:rPr lang="en-US" sz="950" dirty="0">
                <a:solidFill>
                  <a:srgbClr val="7DD3FC"/>
                </a:solidFill>
                <a:latin typeface="Courier New" pitchFamily="34" charset="0"/>
                <a:ea typeface="Courier New" pitchFamily="34" charset="-122"/>
                <a:cs typeface="Courier New" pitchFamily="34" charset="-120"/>
              </a:rPr>
              <a:t>qa = generator(f"Generate Q&amp;A from: {passage}", max_new_tokens=200)[0]["generated_text"]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Primary Data Sources</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Platforms, datasets and their role in the pipeline</a:t>
            </a:r>
            <a:endParaRPr lang="en-US" sz="1100" dirty="0"/>
          </a:p>
        </p:txBody>
      </p:sp>
      <p:sp>
        <p:nvSpPr>
          <p:cNvPr id="5" name="Shape 3"/>
          <p:cNvSpPr/>
          <p:nvPr/>
        </p:nvSpPr>
        <p:spPr>
          <a:xfrm>
            <a:off x="411480" y="969264"/>
            <a:ext cx="8321040" cy="22860"/>
          </a:xfrm>
          <a:prstGeom prst="rect">
            <a:avLst/>
          </a:prstGeom>
          <a:solidFill>
            <a:srgbClr val="E2E8F0"/>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3675888"/>
        </p:xfrm>
        <a:graphic>
          <a:graphicData uri="http://schemas.openxmlformats.org/drawingml/2006/table">
            <a:tbl>
              <a:tblPr/>
              <a:tblGrid>
                <a:gridCol w="2011680"/>
                <a:gridCol w="1371600"/>
                <a:gridCol w="1280160"/>
                <a:gridCol w="1005840"/>
                <a:gridCol w="2834640"/>
              </a:tblGrid>
              <a:tr h="39319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Dataset / Platform</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Languages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Quality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Use Case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r>
              <a:tr h="393192">
                <a:tc>
                  <a:txBody>
                    <a:bodyPr/>
                    <a:lstStyle/>
                    <a:p>
                      <a:pPr algn="l" indent="0" marL="0">
                        <a:buNone/>
                      </a:pPr>
                      <a:r>
                        <a:rPr lang="en-US" sz="1050" b="1" dirty="0">
                          <a:solidFill>
                            <a:srgbClr val="0D1B3E"/>
                          </a:solidFill>
                          <a:latin typeface="Calibri" pitchFamily="34" charset="0"/>
                          <a:ea typeface="Calibri" pitchFamily="34" charset="-122"/>
                          <a:cs typeface="Calibri" pitchFamily="34" charset="-120"/>
                        </a:rPr>
                        <a:t>AIKosh (IndiaAI Gov.)</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Curated</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Multiple Indic</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D1B3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Primary training corpus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3192">
                <a:tc>
                  <a:txBody>
                    <a:bodyPr/>
                    <a:lstStyle/>
                    <a:p>
                      <a:pPr algn="l" indent="0" marL="0">
                        <a:buNone/>
                      </a:pPr>
                      <a:r>
                        <a:rPr lang="en-US" sz="1050" b="1" dirty="0">
                          <a:solidFill>
                            <a:srgbClr val="0D1B3E"/>
                          </a:solidFill>
                          <a:latin typeface="Calibri" pitchFamily="34" charset="0"/>
                          <a:ea typeface="Calibri" pitchFamily="34" charset="-122"/>
                          <a:cs typeface="Calibri" pitchFamily="34" charset="-120"/>
                        </a:rPr>
                        <a:t>AI4Bharat Datasets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Parallel corpora</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12+ Indic</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50" dirty="0">
                          <a:solidFill>
                            <a:srgbClr val="0D1B3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Translation &amp; cross-lingual tasks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r>
              <a:tr h="393192">
                <a:tc>
                  <a:txBody>
                    <a:bodyPr/>
                    <a:lstStyle/>
                    <a:p>
                      <a:pPr algn="l" indent="0" marL="0">
                        <a:buNone/>
                      </a:pPr>
                      <a:r>
                        <a:rPr lang="en-US" sz="1050" b="1" dirty="0">
                          <a:solidFill>
                            <a:srgbClr val="0D1B3E"/>
                          </a:solidFill>
                          <a:latin typeface="Calibri" pitchFamily="34" charset="0"/>
                          <a:ea typeface="Calibri" pitchFamily="34" charset="-122"/>
                          <a:cs typeface="Calibri" pitchFamily="34" charset="-120"/>
                        </a:rPr>
                        <a:t>Sangraha (HuggingFace)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Curated</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Indic (verified)</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D1B3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Pretraining — high quality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3192">
                <a:tc>
                  <a:txBody>
                    <a:bodyPr/>
                    <a:lstStyle/>
                    <a:p>
                      <a:pPr algn="l" indent="0" marL="0">
                        <a:buNone/>
                      </a:pPr>
                      <a:r>
                        <a:rPr lang="en-US" sz="1050" b="1" dirty="0">
                          <a:solidFill>
                            <a:srgbClr val="0D1B3E"/>
                          </a:solidFill>
                          <a:latin typeface="Calibri" pitchFamily="34" charset="0"/>
                          <a:ea typeface="Calibri" pitchFamily="34" charset="-122"/>
                          <a:cs typeface="Calibri" pitchFamily="34" charset="-120"/>
                        </a:rPr>
                        <a:t>OSCAR Corpus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Web-scale crawl</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100+ langs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50" dirty="0">
                          <a:solidFill>
                            <a:srgbClr val="0D1B3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Supplemental pretraining (needs cleaning)</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r>
              <a:tr h="393192">
                <a:tc>
                  <a:txBody>
                    <a:bodyPr/>
                    <a:lstStyle/>
                    <a:p>
                      <a:pPr algn="l" indent="0" marL="0">
                        <a:buNone/>
                      </a:pPr>
                      <a:r>
                        <a:rPr lang="en-US" sz="1050" b="1" dirty="0">
                          <a:solidFill>
                            <a:srgbClr val="0D1B3E"/>
                          </a:solidFill>
                          <a:latin typeface="Calibri" pitchFamily="34" charset="0"/>
                          <a:ea typeface="Calibri" pitchFamily="34" charset="-122"/>
                          <a:cs typeface="Calibri" pitchFamily="34" charset="-120"/>
                        </a:rPr>
                        <a:t>Wikipedia Dumps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Structured web</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All 3 targets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D1B3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Grammar-correct text; vocabulary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93192">
                <a:tc>
                  <a:txBody>
                    <a:bodyPr/>
                    <a:lstStyle/>
                    <a:p>
                      <a:pPr algn="l" indent="0" marL="0">
                        <a:buNone/>
                      </a:pPr>
                      <a:r>
                        <a:rPr lang="en-US" sz="1050" b="1" dirty="0">
                          <a:solidFill>
                            <a:srgbClr val="0D1B3E"/>
                          </a:solidFill>
                          <a:latin typeface="Calibri" pitchFamily="34" charset="0"/>
                          <a:ea typeface="Calibri" pitchFamily="34" charset="-122"/>
                          <a:cs typeface="Calibri" pitchFamily="34" charset="-120"/>
                        </a:rPr>
                        <a:t>News Sources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Web unlabelled</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bn / or / gu</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050" dirty="0">
                          <a:solidFill>
                            <a:srgbClr val="0D1B3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Domain vocab; real-world language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r>
              <a:tr h="393192">
                <a:tc>
                  <a:txBody>
                    <a:bodyPr/>
                    <a:lstStyle/>
                    <a:p>
                      <a:pPr algn="l" indent="0" marL="0">
                        <a:buNone/>
                      </a:pPr>
                      <a:r>
                        <a:rPr lang="en-US" sz="1050" b="1" dirty="0">
                          <a:solidFill>
                            <a:srgbClr val="0D1B3E"/>
                          </a:solidFill>
                          <a:latin typeface="Calibri" pitchFamily="34" charset="0"/>
                          <a:ea typeface="Calibri" pitchFamily="34" charset="-122"/>
                          <a:cs typeface="Calibri" pitchFamily="34" charset="-120"/>
                        </a:rPr>
                        <a:t>Synthetic (LLM-gen)</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Generated</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bn / or / gu</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D1B3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D1B3E"/>
                          </a:solidFill>
                          <a:latin typeface="Calibri" pitchFamily="34" charset="0"/>
                          <a:ea typeface="Calibri" pitchFamily="34" charset="-122"/>
                          <a:cs typeface="Calibri" pitchFamily="34" charset="-120"/>
                        </a:rPr>
                        <a:t>QA &amp; instruction tuning data</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4"/>
          <p:cNvSpPr/>
          <p:nvPr/>
        </p:nvSpPr>
        <p:spPr>
          <a:xfrm>
            <a:off x="320040" y="4892040"/>
            <a:ext cx="8503920" cy="256032"/>
          </a:xfrm>
          <a:prstGeom prst="rect">
            <a:avLst/>
          </a:prstGeom>
          <a:solidFill>
            <a:srgbClr val="F0F5FF"/>
          </a:solidFill>
          <a:ln/>
        </p:spPr>
      </p:sp>
      <p:sp>
        <p:nvSpPr>
          <p:cNvPr id="8" name="Text 5"/>
          <p:cNvSpPr/>
          <p:nvPr/>
        </p:nvSpPr>
        <p:spPr>
          <a:xfrm>
            <a:off x="320040" y="4910328"/>
            <a:ext cx="8503920" cy="219456"/>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Quality ratings are relative estimates. All sources undergo the same preprocessing pipeline before training.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Data Preprocessing Pipeline</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Four-stage pipeline to ensure clean, high-quality training data</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4206240" cy="17830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4206240" cy="402336"/>
          </a:xfrm>
          <a:prstGeom prst="rect">
            <a:avLst/>
          </a:prstGeom>
          <a:solidFill>
            <a:srgbClr val="0D1B3E"/>
          </a:solidFill>
          <a:ln/>
        </p:spPr>
      </p:sp>
      <p:sp>
        <p:nvSpPr>
          <p:cNvPr id="8" name="Shape 6"/>
          <p:cNvSpPr/>
          <p:nvPr/>
        </p:nvSpPr>
        <p:spPr>
          <a:xfrm>
            <a:off x="438912" y="1188720"/>
            <a:ext cx="256032" cy="256032"/>
          </a:xfrm>
          <a:prstGeom prst="ellipse">
            <a:avLst/>
          </a:prstGeom>
          <a:solidFill>
            <a:srgbClr val="FFFFFF"/>
          </a:solidFill>
          <a:ln/>
        </p:spPr>
      </p:sp>
      <p:sp>
        <p:nvSpPr>
          <p:cNvPr id="9" name="Text 7"/>
          <p:cNvSpPr/>
          <p:nvPr/>
        </p:nvSpPr>
        <p:spPr>
          <a:xfrm>
            <a:off x="438912" y="1188720"/>
            <a:ext cx="256032" cy="256032"/>
          </a:xfrm>
          <a:prstGeom prst="rect">
            <a:avLst/>
          </a:prstGeom>
          <a:noFill/>
          <a:ln/>
        </p:spPr>
        <p:txBody>
          <a:bodyPr wrap="square" lIns="0" tIns="0" rIns="0" bIns="0" rtlCol="0" anchor="ctr"/>
          <a:lstStyle/>
          <a:p>
            <a:pPr algn="ctr" indent="0" marL="0">
              <a:buNone/>
            </a:pPr>
            <a:r>
              <a:rPr lang="en-US" sz="900" b="1" dirty="0">
                <a:solidFill>
                  <a:srgbClr val="0D1B3E"/>
                </a:solidFill>
                <a:latin typeface="Georgia" pitchFamily="34" charset="0"/>
                <a:ea typeface="Georgia" pitchFamily="34" charset="-122"/>
                <a:cs typeface="Georgia" pitchFamily="34" charset="-120"/>
              </a:rPr>
              <a:t>01</a:t>
            </a:r>
            <a:endParaRPr lang="en-US" sz="900" dirty="0"/>
          </a:p>
        </p:txBody>
      </p:sp>
      <p:pic>
        <p:nvPicPr>
          <p:cNvPr id="10" name="Image 0" descr="preencoded.png">    </p:cNvPr>
          <p:cNvPicPr>
            <a:picLocks noChangeAspect="1"/>
          </p:cNvPicPr>
          <p:nvPr/>
        </p:nvPicPr>
        <p:blipFill>
          <a:blip r:embed="rId1"/>
          <a:stretch>
            <a:fillRect/>
          </a:stretch>
        </p:blipFill>
        <p:spPr>
          <a:xfrm>
            <a:off x="749808" y="1188720"/>
            <a:ext cx="256032" cy="256032"/>
          </a:xfrm>
          <a:prstGeom prst="rect">
            <a:avLst/>
          </a:prstGeom>
        </p:spPr>
      </p:pic>
      <p:sp>
        <p:nvSpPr>
          <p:cNvPr id="11" name="Text 8"/>
          <p:cNvSpPr/>
          <p:nvPr/>
        </p:nvSpPr>
        <p:spPr>
          <a:xfrm>
            <a:off x="1060704" y="1207008"/>
            <a:ext cx="3401568"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Language Filtering</a:t>
            </a:r>
            <a:endParaRPr lang="en-US" sz="1200" dirty="0"/>
          </a:p>
        </p:txBody>
      </p:sp>
      <p:sp>
        <p:nvSpPr>
          <p:cNvPr id="12" name="Text 9"/>
          <p:cNvSpPr/>
          <p:nvPr/>
        </p:nvSpPr>
        <p:spPr>
          <a:xfrm>
            <a:off x="457200" y="1591056"/>
            <a:ext cx="2523744" cy="1170432"/>
          </a:xfrm>
          <a:prstGeom prst="rect">
            <a:avLst/>
          </a:prstGeom>
          <a:noFill/>
          <a:ln/>
        </p:spPr>
        <p:txBody>
          <a:bodyPr wrap="square" lIns="0" tIns="0" rIns="0" bIns="0" rtlCol="0" anchor="ctr"/>
          <a:lstStyle/>
          <a:p>
            <a:pPr indent="0" marL="0">
              <a:buNone/>
            </a:pPr>
            <a:r>
              <a:rPr lang="en-US" sz="950" dirty="0">
                <a:solidFill>
                  <a:srgbClr val="0D1B3E"/>
                </a:solidFill>
                <a:latin typeface="Calibri" pitchFamily="34" charset="0"/>
                <a:ea typeface="Calibri" pitchFamily="34" charset="-122"/>
                <a:cs typeface="Calibri" pitchFamily="34" charset="-120"/>
              </a:rPr>
              <a:t>LangDetect identifies language. Combined with Unicode block ratio check for Bengali (0980–09FF), Odia (0B00–0B7F), Gujarati (0A80–0AFF). Drops code-mixed and multilingual noise.</a:t>
            </a:r>
            <a:endParaRPr lang="en-US" sz="950" dirty="0"/>
          </a:p>
        </p:txBody>
      </p:sp>
      <p:sp>
        <p:nvSpPr>
          <p:cNvPr id="13" name="Shape 10"/>
          <p:cNvSpPr/>
          <p:nvPr/>
        </p:nvSpPr>
        <p:spPr>
          <a:xfrm>
            <a:off x="3054096" y="1572768"/>
            <a:ext cx="1426464" cy="1207008"/>
          </a:xfrm>
          <a:prstGeom prst="rect">
            <a:avLst/>
          </a:prstGeom>
          <a:solidFill>
            <a:srgbClr val="0F172A"/>
          </a:solidFill>
          <a:ln/>
        </p:spPr>
      </p:sp>
      <p:sp>
        <p:nvSpPr>
          <p:cNvPr id="14" name="Text 11"/>
          <p:cNvSpPr/>
          <p:nvPr/>
        </p:nvSpPr>
        <p:spPr>
          <a:xfrm>
            <a:off x="3108960" y="1609344"/>
            <a:ext cx="1316736" cy="1133856"/>
          </a:xfrm>
          <a:prstGeom prst="rect">
            <a:avLst/>
          </a:prstGeom>
          <a:noFill/>
          <a:ln/>
        </p:spPr>
        <p:txBody>
          <a:bodyPr wrap="square" lIns="0" tIns="0" rIns="0" bIns="0" rtlCol="0" anchor="t"/>
          <a:lstStyle/>
          <a:p>
            <a:pPr indent="0" marL="0">
              <a:buNone/>
            </a:pPr>
            <a:r>
              <a:rPr lang="en-US" sz="750" dirty="0">
                <a:solidFill>
                  <a:srgbClr val="7DD3FC"/>
                </a:solidFill>
                <a:latin typeface="Courier New" pitchFamily="34" charset="0"/>
                <a:ea typeface="Courier New" pitchFamily="34" charset="-122"/>
                <a:cs typeface="Courier New" pitchFamily="34" charset="-120"/>
              </a:rPr>
              <a:t>lang = detect(text)</a:t>
            </a:r>
            <a:endParaRPr lang="en-US" sz="750" dirty="0"/>
          </a:p>
          <a:p>
            <a:pPr indent="0" marL="0">
              <a:buNone/>
            </a:pPr>
            <a:r>
              <a:rPr lang="en-US" sz="750" dirty="0">
                <a:solidFill>
                  <a:srgbClr val="7DD3FC"/>
                </a:solidFill>
                <a:latin typeface="Courier New" pitchFamily="34" charset="0"/>
                <a:ea typeface="Courier New" pitchFamily="34" charset="-122"/>
                <a:cs typeface="Courier New" pitchFamily="34" charset="-120"/>
              </a:rPr>
              <a:t>if lang == "bn": keep(text)</a:t>
            </a:r>
            <a:endParaRPr lang="en-US" sz="750" dirty="0"/>
          </a:p>
        </p:txBody>
      </p:sp>
      <p:sp>
        <p:nvSpPr>
          <p:cNvPr id="15" name="Shape 12"/>
          <p:cNvSpPr/>
          <p:nvPr/>
        </p:nvSpPr>
        <p:spPr>
          <a:xfrm>
            <a:off x="4663440" y="1115568"/>
            <a:ext cx="4206240" cy="17830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6" name="Shape 13"/>
          <p:cNvSpPr/>
          <p:nvPr/>
        </p:nvSpPr>
        <p:spPr>
          <a:xfrm>
            <a:off x="4663440" y="1115568"/>
            <a:ext cx="4206240" cy="402336"/>
          </a:xfrm>
          <a:prstGeom prst="rect">
            <a:avLst/>
          </a:prstGeom>
          <a:solidFill>
            <a:srgbClr val="1E4D8C"/>
          </a:solidFill>
          <a:ln/>
        </p:spPr>
      </p:sp>
      <p:sp>
        <p:nvSpPr>
          <p:cNvPr id="17" name="Shape 14"/>
          <p:cNvSpPr/>
          <p:nvPr/>
        </p:nvSpPr>
        <p:spPr>
          <a:xfrm>
            <a:off x="4754880" y="1188720"/>
            <a:ext cx="256032" cy="256032"/>
          </a:xfrm>
          <a:prstGeom prst="ellipse">
            <a:avLst/>
          </a:prstGeom>
          <a:solidFill>
            <a:srgbClr val="FFFFFF"/>
          </a:solidFill>
          <a:ln/>
        </p:spPr>
      </p:sp>
      <p:sp>
        <p:nvSpPr>
          <p:cNvPr id="18" name="Text 15"/>
          <p:cNvSpPr/>
          <p:nvPr/>
        </p:nvSpPr>
        <p:spPr>
          <a:xfrm>
            <a:off x="4754880" y="1188720"/>
            <a:ext cx="256032" cy="256032"/>
          </a:xfrm>
          <a:prstGeom prst="rect">
            <a:avLst/>
          </a:prstGeom>
          <a:noFill/>
          <a:ln/>
        </p:spPr>
        <p:txBody>
          <a:bodyPr wrap="square" lIns="0" tIns="0" rIns="0" bIns="0" rtlCol="0" anchor="ctr"/>
          <a:lstStyle/>
          <a:p>
            <a:pPr algn="ctr" indent="0" marL="0">
              <a:buNone/>
            </a:pPr>
            <a:r>
              <a:rPr lang="en-US" sz="900" b="1" dirty="0">
                <a:solidFill>
                  <a:srgbClr val="1E4D8C"/>
                </a:solidFill>
                <a:latin typeface="Georgia" pitchFamily="34" charset="0"/>
                <a:ea typeface="Georgia" pitchFamily="34" charset="-122"/>
                <a:cs typeface="Georgia" pitchFamily="34" charset="-120"/>
              </a:rPr>
              <a:t>02</a:t>
            </a:r>
            <a:endParaRPr lang="en-US" sz="900" dirty="0"/>
          </a:p>
        </p:txBody>
      </p:sp>
      <p:pic>
        <p:nvPicPr>
          <p:cNvPr id="19" name="Image 1" descr="preencoded.png">    </p:cNvPr>
          <p:cNvPicPr>
            <a:picLocks noChangeAspect="1"/>
          </p:cNvPicPr>
          <p:nvPr/>
        </p:nvPicPr>
        <p:blipFill>
          <a:blip r:embed="rId2"/>
          <a:stretch>
            <a:fillRect/>
          </a:stretch>
        </p:blipFill>
        <p:spPr>
          <a:xfrm>
            <a:off x="5065776" y="1188720"/>
            <a:ext cx="256032" cy="256032"/>
          </a:xfrm>
          <a:prstGeom prst="rect">
            <a:avLst/>
          </a:prstGeom>
        </p:spPr>
      </p:pic>
      <p:sp>
        <p:nvSpPr>
          <p:cNvPr id="20" name="Text 16"/>
          <p:cNvSpPr/>
          <p:nvPr/>
        </p:nvSpPr>
        <p:spPr>
          <a:xfrm>
            <a:off x="5376672" y="1207008"/>
            <a:ext cx="3401568"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Text Cleaning</a:t>
            </a:r>
            <a:endParaRPr lang="en-US" sz="1200" dirty="0"/>
          </a:p>
        </p:txBody>
      </p:sp>
      <p:sp>
        <p:nvSpPr>
          <p:cNvPr id="21" name="Text 17"/>
          <p:cNvSpPr/>
          <p:nvPr/>
        </p:nvSpPr>
        <p:spPr>
          <a:xfrm>
            <a:off x="4773168" y="1591056"/>
            <a:ext cx="2523744" cy="1170432"/>
          </a:xfrm>
          <a:prstGeom prst="rect">
            <a:avLst/>
          </a:prstGeom>
          <a:noFill/>
          <a:ln/>
        </p:spPr>
        <p:txBody>
          <a:bodyPr wrap="square" lIns="0" tIns="0" rIns="0" bIns="0" rtlCol="0" anchor="ctr"/>
          <a:lstStyle/>
          <a:p>
            <a:pPr indent="0" marL="0">
              <a:buNone/>
            </a:pPr>
            <a:r>
              <a:rPr lang="en-US" sz="950" dirty="0">
                <a:solidFill>
                  <a:srgbClr val="0D1B3E"/>
                </a:solidFill>
                <a:latin typeface="Calibri" pitchFamily="34" charset="0"/>
                <a:ea typeface="Calibri" pitchFamily="34" charset="-122"/>
                <a:cs typeface="Calibri" pitchFamily="34" charset="-120"/>
              </a:rPr>
              <a:t>Strip HTML/XML tags, normalize Unicode to NFC, remove control characters, collapse excessive whitespace, filter advertisement fragments and boilerplate text.</a:t>
            </a:r>
            <a:endParaRPr lang="en-US" sz="950" dirty="0"/>
          </a:p>
        </p:txBody>
      </p:sp>
      <p:sp>
        <p:nvSpPr>
          <p:cNvPr id="22" name="Shape 18"/>
          <p:cNvSpPr/>
          <p:nvPr/>
        </p:nvSpPr>
        <p:spPr>
          <a:xfrm>
            <a:off x="7370064" y="1572768"/>
            <a:ext cx="1426464" cy="1207008"/>
          </a:xfrm>
          <a:prstGeom prst="rect">
            <a:avLst/>
          </a:prstGeom>
          <a:solidFill>
            <a:srgbClr val="0F172A"/>
          </a:solidFill>
          <a:ln/>
        </p:spPr>
      </p:sp>
      <p:sp>
        <p:nvSpPr>
          <p:cNvPr id="23" name="Text 19"/>
          <p:cNvSpPr/>
          <p:nvPr/>
        </p:nvSpPr>
        <p:spPr>
          <a:xfrm>
            <a:off x="7424928" y="1609344"/>
            <a:ext cx="1316736" cy="1133856"/>
          </a:xfrm>
          <a:prstGeom prst="rect">
            <a:avLst/>
          </a:prstGeom>
          <a:noFill/>
          <a:ln/>
        </p:spPr>
        <p:txBody>
          <a:bodyPr wrap="square" lIns="0" tIns="0" rIns="0" bIns="0" rtlCol="0" anchor="t"/>
          <a:lstStyle/>
          <a:p>
            <a:pPr indent="0" marL="0">
              <a:buNone/>
            </a:pPr>
            <a:r>
              <a:rPr lang="en-US" sz="750" dirty="0">
                <a:solidFill>
                  <a:srgbClr val="7DD3FC"/>
                </a:solidFill>
                <a:latin typeface="Courier New" pitchFamily="34" charset="0"/>
                <a:ea typeface="Courier New" pitchFamily="34" charset="-122"/>
                <a:cs typeface="Courier New" pitchFamily="34" charset="-120"/>
              </a:rPr>
              <a:t>text = re.sub(r"&lt;[^&gt;]+&gt;", "", text)</a:t>
            </a:r>
            <a:endParaRPr lang="en-US" sz="750" dirty="0"/>
          </a:p>
          <a:p>
            <a:pPr indent="0" marL="0">
              <a:buNone/>
            </a:pPr>
            <a:r>
              <a:rPr lang="en-US" sz="750" dirty="0">
                <a:solidFill>
                  <a:srgbClr val="7DD3FC"/>
                </a:solidFill>
                <a:latin typeface="Courier New" pitchFamily="34" charset="0"/>
                <a:ea typeface="Courier New" pitchFamily="34" charset="-122"/>
                <a:cs typeface="Courier New" pitchFamily="34" charset="-120"/>
              </a:rPr>
              <a:t>text = unicodedata.normalize("NFC", text)</a:t>
            </a:r>
            <a:endParaRPr lang="en-US" sz="750" dirty="0"/>
          </a:p>
        </p:txBody>
      </p:sp>
      <p:sp>
        <p:nvSpPr>
          <p:cNvPr id="24" name="Shape 20"/>
          <p:cNvSpPr/>
          <p:nvPr/>
        </p:nvSpPr>
        <p:spPr>
          <a:xfrm>
            <a:off x="347472" y="3017520"/>
            <a:ext cx="4206240" cy="17830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25" name="Shape 21"/>
          <p:cNvSpPr/>
          <p:nvPr/>
        </p:nvSpPr>
        <p:spPr>
          <a:xfrm>
            <a:off x="347472" y="3017520"/>
            <a:ext cx="4206240" cy="402336"/>
          </a:xfrm>
          <a:prstGeom prst="rect">
            <a:avLst/>
          </a:prstGeom>
          <a:solidFill>
            <a:srgbClr val="1A3A6E"/>
          </a:solidFill>
          <a:ln/>
        </p:spPr>
      </p:sp>
      <p:sp>
        <p:nvSpPr>
          <p:cNvPr id="26" name="Shape 22"/>
          <p:cNvSpPr/>
          <p:nvPr/>
        </p:nvSpPr>
        <p:spPr>
          <a:xfrm>
            <a:off x="438912" y="3090672"/>
            <a:ext cx="256032" cy="256032"/>
          </a:xfrm>
          <a:prstGeom prst="ellipse">
            <a:avLst/>
          </a:prstGeom>
          <a:solidFill>
            <a:srgbClr val="FFFFFF"/>
          </a:solidFill>
          <a:ln/>
        </p:spPr>
      </p:sp>
      <p:sp>
        <p:nvSpPr>
          <p:cNvPr id="27" name="Text 23"/>
          <p:cNvSpPr/>
          <p:nvPr/>
        </p:nvSpPr>
        <p:spPr>
          <a:xfrm>
            <a:off x="438912" y="3090672"/>
            <a:ext cx="256032" cy="256032"/>
          </a:xfrm>
          <a:prstGeom prst="rect">
            <a:avLst/>
          </a:prstGeom>
          <a:noFill/>
          <a:ln/>
        </p:spPr>
        <p:txBody>
          <a:bodyPr wrap="square" lIns="0" tIns="0" rIns="0" bIns="0" rtlCol="0" anchor="ctr"/>
          <a:lstStyle/>
          <a:p>
            <a:pPr algn="ctr" indent="0" marL="0">
              <a:buNone/>
            </a:pPr>
            <a:r>
              <a:rPr lang="en-US" sz="900" b="1" dirty="0">
                <a:solidFill>
                  <a:srgbClr val="1A3A6E"/>
                </a:solidFill>
                <a:latin typeface="Georgia" pitchFamily="34" charset="0"/>
                <a:ea typeface="Georgia" pitchFamily="34" charset="-122"/>
                <a:cs typeface="Georgia" pitchFamily="34" charset="-120"/>
              </a:rPr>
              <a:t>03</a:t>
            </a:r>
            <a:endParaRPr lang="en-US" sz="900" dirty="0"/>
          </a:p>
        </p:txBody>
      </p:sp>
      <p:pic>
        <p:nvPicPr>
          <p:cNvPr id="28" name="Image 2" descr="preencoded.png">    </p:cNvPr>
          <p:cNvPicPr>
            <a:picLocks noChangeAspect="1"/>
          </p:cNvPicPr>
          <p:nvPr/>
        </p:nvPicPr>
        <p:blipFill>
          <a:blip r:embed="rId3"/>
          <a:stretch>
            <a:fillRect/>
          </a:stretch>
        </p:blipFill>
        <p:spPr>
          <a:xfrm>
            <a:off x="749808" y="3090672"/>
            <a:ext cx="256032" cy="256032"/>
          </a:xfrm>
          <a:prstGeom prst="rect">
            <a:avLst/>
          </a:prstGeom>
        </p:spPr>
      </p:pic>
      <p:sp>
        <p:nvSpPr>
          <p:cNvPr id="29" name="Text 24"/>
          <p:cNvSpPr/>
          <p:nvPr/>
        </p:nvSpPr>
        <p:spPr>
          <a:xfrm>
            <a:off x="1060704" y="3108960"/>
            <a:ext cx="3401568"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Deduplication</a:t>
            </a:r>
            <a:endParaRPr lang="en-US" sz="1200" dirty="0"/>
          </a:p>
        </p:txBody>
      </p:sp>
      <p:sp>
        <p:nvSpPr>
          <p:cNvPr id="30" name="Text 25"/>
          <p:cNvSpPr/>
          <p:nvPr/>
        </p:nvSpPr>
        <p:spPr>
          <a:xfrm>
            <a:off x="457200" y="3493008"/>
            <a:ext cx="2523744" cy="1170432"/>
          </a:xfrm>
          <a:prstGeom prst="rect">
            <a:avLst/>
          </a:prstGeom>
          <a:noFill/>
          <a:ln/>
        </p:spPr>
        <p:txBody>
          <a:bodyPr wrap="square" lIns="0" tIns="0" rIns="0" bIns="0" rtlCol="0" anchor="ctr"/>
          <a:lstStyle/>
          <a:p>
            <a:pPr indent="0" marL="0">
              <a:buNone/>
            </a:pPr>
            <a:r>
              <a:rPr lang="en-US" sz="950" dirty="0">
                <a:solidFill>
                  <a:srgbClr val="0D1B3E"/>
                </a:solidFill>
                <a:latin typeface="Calibri" pitchFamily="34" charset="0"/>
                <a:ea typeface="Calibri" pitchFamily="34" charset="-122"/>
                <a:cs typeface="Calibri" pitchFamily="34" charset="-120"/>
              </a:rPr>
              <a:t>Two-pass deduplication: hash-based for exact duplicates (O(n) time), MinHash LSH for near-duplicate detection (&gt;80% token overlap).</a:t>
            </a:r>
            <a:endParaRPr lang="en-US" sz="950" dirty="0"/>
          </a:p>
        </p:txBody>
      </p:sp>
      <p:sp>
        <p:nvSpPr>
          <p:cNvPr id="31" name="Shape 26"/>
          <p:cNvSpPr/>
          <p:nvPr/>
        </p:nvSpPr>
        <p:spPr>
          <a:xfrm>
            <a:off x="3054096" y="3474720"/>
            <a:ext cx="1426464" cy="1207008"/>
          </a:xfrm>
          <a:prstGeom prst="rect">
            <a:avLst/>
          </a:prstGeom>
          <a:solidFill>
            <a:srgbClr val="0F172A"/>
          </a:solidFill>
          <a:ln/>
        </p:spPr>
      </p:sp>
      <p:sp>
        <p:nvSpPr>
          <p:cNvPr id="32" name="Text 27"/>
          <p:cNvSpPr/>
          <p:nvPr/>
        </p:nvSpPr>
        <p:spPr>
          <a:xfrm>
            <a:off x="3108960" y="3511296"/>
            <a:ext cx="1316736" cy="1133856"/>
          </a:xfrm>
          <a:prstGeom prst="rect">
            <a:avLst/>
          </a:prstGeom>
          <a:noFill/>
          <a:ln/>
        </p:spPr>
        <p:txBody>
          <a:bodyPr wrap="square" lIns="0" tIns="0" rIns="0" bIns="0" rtlCol="0" anchor="t"/>
          <a:lstStyle/>
          <a:p>
            <a:pPr indent="0" marL="0">
              <a:buNone/>
            </a:pPr>
            <a:r>
              <a:rPr lang="en-US" sz="750" dirty="0">
                <a:solidFill>
                  <a:srgbClr val="7DD3FC"/>
                </a:solidFill>
                <a:latin typeface="Courier New" pitchFamily="34" charset="0"/>
                <a:ea typeface="Courier New" pitchFamily="34" charset="-122"/>
                <a:cs typeface="Courier New" pitchFamily="34" charset="-120"/>
              </a:rPr>
              <a:t>h = hash(text)</a:t>
            </a:r>
            <a:endParaRPr lang="en-US" sz="750" dirty="0"/>
          </a:p>
          <a:p>
            <a:pPr indent="0" marL="0">
              <a:buNone/>
            </a:pPr>
            <a:r>
              <a:rPr lang="en-US" sz="750" dirty="0">
                <a:solidFill>
                  <a:srgbClr val="7DD3FC"/>
                </a:solidFill>
                <a:latin typeface="Courier New" pitchFamily="34" charset="0"/>
                <a:ea typeface="Courier New" pitchFamily="34" charset="-122"/>
                <a:cs typeface="Courier New" pitchFamily="34" charset="-120"/>
              </a:rPr>
              <a:t>if h not in seen:</a:t>
            </a:r>
            <a:endParaRPr lang="en-US" sz="750" dirty="0"/>
          </a:p>
          <a:p>
            <a:pPr indent="0" marL="0">
              <a:buNone/>
            </a:pPr>
            <a:r>
              <a:rPr lang="en-US" sz="750" dirty="0">
                <a:solidFill>
                  <a:srgbClr val="7DD3FC"/>
                </a:solidFill>
                <a:latin typeface="Courier New" pitchFamily="34" charset="0"/>
                <a:ea typeface="Courier New" pitchFamily="34" charset="-122"/>
                <a:cs typeface="Courier New" pitchFamily="34" charset="-120"/>
              </a:rPr>
              <a:t>    seen.add(h); keep(text)</a:t>
            </a:r>
            <a:endParaRPr lang="en-US" sz="750" dirty="0"/>
          </a:p>
        </p:txBody>
      </p:sp>
      <p:sp>
        <p:nvSpPr>
          <p:cNvPr id="33" name="Shape 28"/>
          <p:cNvSpPr/>
          <p:nvPr/>
        </p:nvSpPr>
        <p:spPr>
          <a:xfrm>
            <a:off x="4663440" y="3017520"/>
            <a:ext cx="4206240" cy="17830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34" name="Shape 29"/>
          <p:cNvSpPr/>
          <p:nvPr/>
        </p:nvSpPr>
        <p:spPr>
          <a:xfrm>
            <a:off x="4663440" y="3017520"/>
            <a:ext cx="4206240" cy="402336"/>
          </a:xfrm>
          <a:prstGeom prst="rect">
            <a:avLst/>
          </a:prstGeom>
          <a:solidFill>
            <a:srgbClr val="0D9488"/>
          </a:solidFill>
          <a:ln/>
        </p:spPr>
      </p:sp>
      <p:sp>
        <p:nvSpPr>
          <p:cNvPr id="35" name="Shape 30"/>
          <p:cNvSpPr/>
          <p:nvPr/>
        </p:nvSpPr>
        <p:spPr>
          <a:xfrm>
            <a:off x="4754880" y="3090672"/>
            <a:ext cx="256032" cy="256032"/>
          </a:xfrm>
          <a:prstGeom prst="ellipse">
            <a:avLst/>
          </a:prstGeom>
          <a:solidFill>
            <a:srgbClr val="FFFFFF"/>
          </a:solidFill>
          <a:ln/>
        </p:spPr>
      </p:sp>
      <p:sp>
        <p:nvSpPr>
          <p:cNvPr id="36" name="Text 31"/>
          <p:cNvSpPr/>
          <p:nvPr/>
        </p:nvSpPr>
        <p:spPr>
          <a:xfrm>
            <a:off x="4754880" y="3090672"/>
            <a:ext cx="256032" cy="256032"/>
          </a:xfrm>
          <a:prstGeom prst="rect">
            <a:avLst/>
          </a:prstGeom>
          <a:noFill/>
          <a:ln/>
        </p:spPr>
        <p:txBody>
          <a:bodyPr wrap="square" lIns="0" tIns="0" rIns="0" bIns="0" rtlCol="0" anchor="ctr"/>
          <a:lstStyle/>
          <a:p>
            <a:pPr algn="ctr" indent="0" marL="0">
              <a:buNone/>
            </a:pPr>
            <a:r>
              <a:rPr lang="en-US" sz="900" b="1" dirty="0">
                <a:solidFill>
                  <a:srgbClr val="0D9488"/>
                </a:solidFill>
                <a:latin typeface="Georgia" pitchFamily="34" charset="0"/>
                <a:ea typeface="Georgia" pitchFamily="34" charset="-122"/>
                <a:cs typeface="Georgia" pitchFamily="34" charset="-120"/>
              </a:rPr>
              <a:t>04</a:t>
            </a:r>
            <a:endParaRPr lang="en-US" sz="900" dirty="0"/>
          </a:p>
        </p:txBody>
      </p:sp>
      <p:pic>
        <p:nvPicPr>
          <p:cNvPr id="37" name="Image 3" descr="preencoded.png">    </p:cNvPr>
          <p:cNvPicPr>
            <a:picLocks noChangeAspect="1"/>
          </p:cNvPicPr>
          <p:nvPr/>
        </p:nvPicPr>
        <p:blipFill>
          <a:blip r:embed="rId4"/>
          <a:stretch>
            <a:fillRect/>
          </a:stretch>
        </p:blipFill>
        <p:spPr>
          <a:xfrm>
            <a:off x="5065776" y="3090672"/>
            <a:ext cx="256032" cy="256032"/>
          </a:xfrm>
          <a:prstGeom prst="rect">
            <a:avLst/>
          </a:prstGeom>
        </p:spPr>
      </p:pic>
      <p:sp>
        <p:nvSpPr>
          <p:cNvPr id="38" name="Text 32"/>
          <p:cNvSpPr/>
          <p:nvPr/>
        </p:nvSpPr>
        <p:spPr>
          <a:xfrm>
            <a:off x="5376672" y="3108960"/>
            <a:ext cx="3401568"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Data Categorization</a:t>
            </a:r>
            <a:endParaRPr lang="en-US" sz="1200" dirty="0"/>
          </a:p>
        </p:txBody>
      </p:sp>
      <p:sp>
        <p:nvSpPr>
          <p:cNvPr id="39" name="Text 33"/>
          <p:cNvSpPr/>
          <p:nvPr/>
        </p:nvSpPr>
        <p:spPr>
          <a:xfrm>
            <a:off x="4773168" y="3493008"/>
            <a:ext cx="2523744" cy="1170432"/>
          </a:xfrm>
          <a:prstGeom prst="rect">
            <a:avLst/>
          </a:prstGeom>
          <a:noFill/>
          <a:ln/>
        </p:spPr>
        <p:txBody>
          <a:bodyPr wrap="square" lIns="0" tIns="0" rIns="0" bIns="0" rtlCol="0" anchor="ctr"/>
          <a:lstStyle/>
          <a:p>
            <a:pPr indent="0" marL="0">
              <a:buNone/>
            </a:pPr>
            <a:r>
              <a:rPr lang="en-US" sz="950" dirty="0">
                <a:solidFill>
                  <a:srgbClr val="0D1B3E"/>
                </a:solidFill>
                <a:latin typeface="Calibri" pitchFamily="34" charset="0"/>
                <a:ea typeface="Calibri" pitchFamily="34" charset="-122"/>
                <a:cs typeface="Calibri" pitchFamily="34" charset="-120"/>
              </a:rPr>
              <a:t>Processed data split into three categories: Pretraining corpus (raw unlabelled), Instruction/QA pairs, Translation parallel data.</a:t>
            </a:r>
            <a:endParaRPr lang="en-US" sz="950" dirty="0"/>
          </a:p>
        </p:txBody>
      </p:sp>
      <p:sp>
        <p:nvSpPr>
          <p:cNvPr id="40" name="Shape 34"/>
          <p:cNvSpPr/>
          <p:nvPr/>
        </p:nvSpPr>
        <p:spPr>
          <a:xfrm>
            <a:off x="7370064" y="3474720"/>
            <a:ext cx="1426464" cy="1207008"/>
          </a:xfrm>
          <a:prstGeom prst="rect">
            <a:avLst/>
          </a:prstGeom>
          <a:solidFill>
            <a:srgbClr val="0F172A"/>
          </a:solidFill>
          <a:ln/>
        </p:spPr>
      </p:sp>
      <p:sp>
        <p:nvSpPr>
          <p:cNvPr id="41" name="Text 35"/>
          <p:cNvSpPr/>
          <p:nvPr/>
        </p:nvSpPr>
        <p:spPr>
          <a:xfrm>
            <a:off x="7424928" y="3511296"/>
            <a:ext cx="1316736" cy="1133856"/>
          </a:xfrm>
          <a:prstGeom prst="rect">
            <a:avLst/>
          </a:prstGeom>
          <a:noFill/>
          <a:ln/>
        </p:spPr>
        <p:txBody>
          <a:bodyPr wrap="square" lIns="0" tIns="0" rIns="0" bIns="0" rtlCol="0" anchor="t"/>
          <a:lstStyle/>
          <a:p>
            <a:pPr indent="0" marL="0">
              <a:buNone/>
            </a:pPr>
            <a:r>
              <a:rPr lang="en-US" sz="750" dirty="0">
                <a:solidFill>
                  <a:srgbClr val="7DD3FC"/>
                </a:solidFill>
                <a:latin typeface="Courier New" pitchFamily="34" charset="0"/>
                <a:ea typeface="Courier New" pitchFamily="34" charset="-122"/>
                <a:cs typeface="Courier New" pitchFamily="34" charset="-120"/>
              </a:rPr>
              <a:t># Output splits:</a:t>
            </a:r>
            <a:endParaRPr lang="en-US" sz="750" dirty="0"/>
          </a:p>
          <a:p>
            <a:pPr indent="0" marL="0">
              <a:buNone/>
            </a:pPr>
            <a:r>
              <a:rPr lang="en-US" sz="750" dirty="0">
                <a:solidFill>
                  <a:srgbClr val="7DD3FC"/>
                </a:solidFill>
                <a:latin typeface="Courier New" pitchFamily="34" charset="0"/>
                <a:ea typeface="Courier New" pitchFamily="34" charset="-122"/>
                <a:cs typeface="Courier New" pitchFamily="34" charset="-120"/>
              </a:rPr>
              <a:t># data/pretrain/ | data/qa/ | data/trans/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Tokenization Strategy</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Custom SentencePiece BPE for Indic script efficiency</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3977640" cy="193852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73152" cy="1938528"/>
          </a:xfrm>
          <a:prstGeom prst="rect">
            <a:avLst/>
          </a:prstGeom>
          <a:solidFill>
            <a:srgbClr val="EF4444"/>
          </a:solidFill>
          <a:ln/>
        </p:spPr>
      </p:sp>
      <p:sp>
        <p:nvSpPr>
          <p:cNvPr id="8" name="Text 6"/>
          <p:cNvSpPr/>
          <p:nvPr/>
        </p:nvSpPr>
        <p:spPr>
          <a:xfrm>
            <a:off x="530352" y="1170432"/>
            <a:ext cx="3712464" cy="347472"/>
          </a:xfrm>
          <a:prstGeom prst="rect">
            <a:avLst/>
          </a:prstGeom>
          <a:noFill/>
          <a:ln/>
        </p:spPr>
        <p:txBody>
          <a:bodyPr wrap="square" lIns="0" tIns="0" rIns="0" bIns="0" rtlCol="0" anchor="ctr"/>
          <a:lstStyle/>
          <a:p>
            <a:pPr indent="0" marL="0">
              <a:buNone/>
            </a:pPr>
            <a:r>
              <a:rPr lang="en-US" sz="1300" b="1" dirty="0">
                <a:solidFill>
                  <a:srgbClr val="EF4444"/>
                </a:solidFill>
                <a:latin typeface="Georgia" pitchFamily="34" charset="0"/>
                <a:ea typeface="Georgia" pitchFamily="34" charset="-122"/>
                <a:cs typeface="Georgia" pitchFamily="34" charset="-120"/>
              </a:rPr>
              <a:t>Problem: Standard Tokenizers Fail</a:t>
            </a:r>
            <a:endParaRPr lang="en-US" sz="1300" dirty="0"/>
          </a:p>
        </p:txBody>
      </p:sp>
      <p:sp>
        <p:nvSpPr>
          <p:cNvPr id="9" name="Text 7"/>
          <p:cNvSpPr/>
          <p:nvPr/>
        </p:nvSpPr>
        <p:spPr>
          <a:xfrm>
            <a:off x="530352" y="1554480"/>
            <a:ext cx="3712464" cy="1316736"/>
          </a:xfrm>
          <a:prstGeom prst="rect">
            <a:avLst/>
          </a:prstGeom>
          <a:noFill/>
          <a:ln/>
        </p:spPr>
        <p:txBody>
          <a:bodyPr wrap="square" lIns="0" tIns="101600" rIns="101600" bIns="0" rtlCol="0" anchor="ctr"/>
          <a:lstStyle/>
          <a:p>
            <a:pPr marL="342900" indent="-342900">
              <a:spcAft>
                <a:spcPts val="700"/>
              </a:spcAft>
              <a:buSzPct val="100000"/>
              <a:buChar char="•"/>
            </a:pPr>
            <a:r>
              <a:rPr lang="en-US" sz="1100" dirty="0">
                <a:solidFill>
                  <a:srgbClr val="0D1B3E"/>
                </a:solidFill>
                <a:latin typeface="Calibri" pitchFamily="34" charset="0"/>
                <a:ea typeface="Calibri" pitchFamily="34" charset="-122"/>
                <a:cs typeface="Calibri" pitchFamily="34" charset="-120"/>
              </a:rPr>
              <a:t>LLaMA tokenizer splits Bengali 'বাংলাদেশ' into 5+ tokens</a:t>
            </a:r>
            <a:endParaRPr lang="en-US" sz="1100" dirty="0"/>
          </a:p>
          <a:p>
            <a:pPr marL="342900" indent="-342900">
              <a:spcAft>
                <a:spcPts val="700"/>
              </a:spcAft>
              <a:buSzPct val="100000"/>
              <a:buChar char="•"/>
            </a:pPr>
            <a:r>
              <a:rPr lang="en-US" sz="1100" dirty="0">
                <a:solidFill>
                  <a:srgbClr val="0D1B3E"/>
                </a:solidFill>
                <a:latin typeface="Calibri" pitchFamily="34" charset="0"/>
                <a:ea typeface="Calibri" pitchFamily="34" charset="-122"/>
                <a:cs typeface="Calibri" pitchFamily="34" charset="-120"/>
              </a:rPr>
              <a:t>Standard BPE trained on English doesn't know Indic Unicode blocks</a:t>
            </a:r>
            <a:endParaRPr lang="en-US" sz="1100" dirty="0"/>
          </a:p>
          <a:p>
            <a:pPr marL="342900" indent="-342900">
              <a:spcAft>
                <a:spcPts val="700"/>
              </a:spcAft>
              <a:buSzPct val="100000"/>
              <a:buChar char="•"/>
            </a:pPr>
            <a:r>
              <a:rPr lang="en-US" sz="1100" dirty="0">
                <a:solidFill>
                  <a:srgbClr val="0D1B3E"/>
                </a:solidFill>
                <a:latin typeface="Calibri" pitchFamily="34" charset="0"/>
                <a:ea typeface="Calibri" pitchFamily="34" charset="-122"/>
                <a:cs typeface="Calibri" pitchFamily="34" charset="-120"/>
              </a:rPr>
              <a:t>Fragmentation wastes context window → degraded generation quality</a:t>
            </a:r>
            <a:endParaRPr lang="en-US" sz="1100" dirty="0"/>
          </a:p>
        </p:txBody>
      </p:sp>
      <p:sp>
        <p:nvSpPr>
          <p:cNvPr id="10" name="Shape 8"/>
          <p:cNvSpPr/>
          <p:nvPr/>
        </p:nvSpPr>
        <p:spPr>
          <a:xfrm>
            <a:off x="347472" y="3163824"/>
            <a:ext cx="3977640" cy="16459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347472" y="3163824"/>
            <a:ext cx="73152" cy="1645920"/>
          </a:xfrm>
          <a:prstGeom prst="rect">
            <a:avLst/>
          </a:prstGeom>
          <a:solidFill>
            <a:srgbClr val="10B981"/>
          </a:solidFill>
          <a:ln/>
        </p:spPr>
      </p:sp>
      <p:sp>
        <p:nvSpPr>
          <p:cNvPr id="12" name="Text 10"/>
          <p:cNvSpPr/>
          <p:nvPr/>
        </p:nvSpPr>
        <p:spPr>
          <a:xfrm>
            <a:off x="530352" y="3218688"/>
            <a:ext cx="3712464" cy="347472"/>
          </a:xfrm>
          <a:prstGeom prst="rect">
            <a:avLst/>
          </a:prstGeom>
          <a:noFill/>
          <a:ln/>
        </p:spPr>
        <p:txBody>
          <a:bodyPr wrap="square" lIns="0" tIns="0" rIns="0" bIns="0" rtlCol="0" anchor="ctr"/>
          <a:lstStyle/>
          <a:p>
            <a:pPr indent="0" marL="0">
              <a:buNone/>
            </a:pPr>
            <a:r>
              <a:rPr lang="en-US" sz="1300" b="1" dirty="0">
                <a:solidFill>
                  <a:srgbClr val="10B981"/>
                </a:solidFill>
                <a:latin typeface="Georgia" pitchFamily="34" charset="0"/>
                <a:ea typeface="Georgia" pitchFamily="34" charset="-122"/>
                <a:cs typeface="Georgia" pitchFamily="34" charset="-120"/>
              </a:rPr>
              <a:t>Solution: Custom SentencePiece</a:t>
            </a:r>
            <a:endParaRPr lang="en-US" sz="1300" dirty="0"/>
          </a:p>
        </p:txBody>
      </p:sp>
      <p:sp>
        <p:nvSpPr>
          <p:cNvPr id="13" name="Text 11"/>
          <p:cNvSpPr/>
          <p:nvPr/>
        </p:nvSpPr>
        <p:spPr>
          <a:xfrm>
            <a:off x="530352" y="3621024"/>
            <a:ext cx="3712464" cy="1024128"/>
          </a:xfrm>
          <a:prstGeom prst="rect">
            <a:avLst/>
          </a:prstGeom>
          <a:noFill/>
          <a:ln/>
        </p:spPr>
        <p:txBody>
          <a:bodyPr wrap="square" lIns="0" tIns="101600" rIns="101600" bIns="0" rtlCol="0" anchor="ctr"/>
          <a:lstStyle/>
          <a:p>
            <a:pPr marL="342900" indent="-342900">
              <a:spcAft>
                <a:spcPts val="700"/>
              </a:spcAft>
              <a:buSzPct val="100000"/>
              <a:buChar char="•"/>
            </a:pPr>
            <a:r>
              <a:rPr lang="en-US" sz="1100" dirty="0">
                <a:solidFill>
                  <a:srgbClr val="0D1B3E"/>
                </a:solidFill>
                <a:latin typeface="Calibri" pitchFamily="34" charset="0"/>
                <a:ea typeface="Calibri" pitchFamily="34" charset="-122"/>
                <a:cs typeface="Calibri" pitchFamily="34" charset="-120"/>
              </a:rPr>
              <a:t>Trained jointly on Bengali + Odia + Gujarati corpora</a:t>
            </a:r>
            <a:endParaRPr lang="en-US" sz="1100" dirty="0"/>
          </a:p>
          <a:p>
            <a:pPr marL="342900" indent="-342900">
              <a:spcAft>
                <a:spcPts val="700"/>
              </a:spcAft>
              <a:buSzPct val="100000"/>
              <a:buChar char="•"/>
            </a:pPr>
            <a:r>
              <a:rPr lang="en-US" sz="1100" dirty="0">
                <a:solidFill>
                  <a:srgbClr val="0D1B3E"/>
                </a:solidFill>
                <a:latin typeface="Calibri" pitchFamily="34" charset="0"/>
                <a:ea typeface="Calibri" pitchFamily="34" charset="-122"/>
                <a:cs typeface="Calibri" pitchFamily="34" charset="-120"/>
              </a:rPr>
              <a:t>Vocab size 32K with character_coverage=0.9999</a:t>
            </a:r>
            <a:endParaRPr lang="en-US" sz="1100" dirty="0"/>
          </a:p>
          <a:p>
            <a:pPr marL="342900" indent="-342900">
              <a:spcAft>
                <a:spcPts val="700"/>
              </a:spcAft>
              <a:buSzPct val="100000"/>
              <a:buChar char="•"/>
            </a:pPr>
            <a:r>
              <a:rPr lang="en-US" sz="1100" dirty="0">
                <a:solidFill>
                  <a:srgbClr val="0D1B3E"/>
                </a:solidFill>
                <a:latin typeface="Calibri" pitchFamily="34" charset="0"/>
                <a:ea typeface="Calibri" pitchFamily="34" charset="-122"/>
                <a:cs typeface="Calibri" pitchFamily="34" charset="-120"/>
              </a:rPr>
              <a:t>Reduces fragmentation by 40–60% vs standard tokenizers</a:t>
            </a:r>
            <a:endParaRPr lang="en-US" sz="1100" dirty="0"/>
          </a:p>
        </p:txBody>
      </p:sp>
      <p:sp>
        <p:nvSpPr>
          <p:cNvPr id="14" name="Shape 12"/>
          <p:cNvSpPr/>
          <p:nvPr/>
        </p:nvSpPr>
        <p:spPr>
          <a:xfrm>
            <a:off x="4572000" y="1115568"/>
            <a:ext cx="4206240" cy="3694176"/>
          </a:xfrm>
          <a:prstGeom prst="rect">
            <a:avLst/>
          </a:prstGeom>
          <a:solidFill>
            <a:srgbClr val="0F172A"/>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5" name="Shape 13"/>
          <p:cNvSpPr/>
          <p:nvPr/>
        </p:nvSpPr>
        <p:spPr>
          <a:xfrm>
            <a:off x="4572000" y="1115568"/>
            <a:ext cx="4206240" cy="402336"/>
          </a:xfrm>
          <a:prstGeom prst="rect">
            <a:avLst/>
          </a:prstGeom>
          <a:solidFill>
            <a:srgbClr val="0D1B3E"/>
          </a:solidFill>
          <a:ln/>
        </p:spPr>
      </p:sp>
      <p:pic>
        <p:nvPicPr>
          <p:cNvPr id="16" name="Image 0" descr="preencoded.png">    </p:cNvPr>
          <p:cNvPicPr>
            <a:picLocks noChangeAspect="1"/>
          </p:cNvPicPr>
          <p:nvPr/>
        </p:nvPicPr>
        <p:blipFill>
          <a:blip r:embed="rId1"/>
          <a:stretch>
            <a:fillRect/>
          </a:stretch>
        </p:blipFill>
        <p:spPr>
          <a:xfrm>
            <a:off x="4681728" y="1188720"/>
            <a:ext cx="256032" cy="256032"/>
          </a:xfrm>
          <a:prstGeom prst="rect">
            <a:avLst/>
          </a:prstGeom>
        </p:spPr>
      </p:pic>
      <p:sp>
        <p:nvSpPr>
          <p:cNvPr id="17" name="Text 14"/>
          <p:cNvSpPr/>
          <p:nvPr/>
        </p:nvSpPr>
        <p:spPr>
          <a:xfrm>
            <a:off x="5010912" y="1188720"/>
            <a:ext cx="3657600"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SentencePiece Tokenizer Training</a:t>
            </a:r>
            <a:endParaRPr lang="en-US" sz="1200" dirty="0"/>
          </a:p>
        </p:txBody>
      </p:sp>
      <p:sp>
        <p:nvSpPr>
          <p:cNvPr id="18" name="Shape 15"/>
          <p:cNvSpPr/>
          <p:nvPr/>
        </p:nvSpPr>
        <p:spPr>
          <a:xfrm>
            <a:off x="4572000" y="1517904"/>
            <a:ext cx="4206240" cy="3291840"/>
          </a:xfrm>
          <a:prstGeom prst="rect">
            <a:avLst/>
          </a:prstGeom>
          <a:solidFill>
            <a:srgbClr val="0F172A"/>
          </a:solidFill>
          <a:ln/>
          <a:effectLst>
            <a:outerShdw sx="100000" sy="100000" kx="0" ky="0" algn="bl" rotWithShape="0" blurRad="101600" dist="38100" dir="8100000">
              <a:srgbClr val="000000">
                <a:alpha val="15000"/>
              </a:srgbClr>
            </a:outerShdw>
          </a:effectLst>
        </p:spPr>
      </p:sp>
      <p:sp>
        <p:nvSpPr>
          <p:cNvPr id="19" name="Text 16"/>
          <p:cNvSpPr/>
          <p:nvPr/>
        </p:nvSpPr>
        <p:spPr>
          <a:xfrm>
            <a:off x="4700016" y="1609344"/>
            <a:ext cx="3950208" cy="3108960"/>
          </a:xfrm>
          <a:prstGeom prst="rect">
            <a:avLst/>
          </a:prstGeom>
          <a:noFill/>
          <a:ln/>
        </p:spPr>
        <p:txBody>
          <a:bodyPr wrap="square" lIns="0" tIns="0" rIns="0" bIns="0" rtlCol="0" anchor="t"/>
          <a:lstStyle/>
          <a:p>
            <a:pPr indent="0" marL="0">
              <a:buNone/>
            </a:pPr>
            <a:r>
              <a:rPr lang="en-US" sz="900" dirty="0">
                <a:solidFill>
                  <a:srgbClr val="E5E7EB"/>
                </a:solidFill>
                <a:latin typeface="Courier New" pitchFamily="34" charset="0"/>
                <a:ea typeface="Courier New" pitchFamily="34" charset="-122"/>
                <a:cs typeface="Courier New" pitchFamily="34" charset="-120"/>
              </a:rPr>
              <a:t>import sentencepiece as spm</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Train on combined Indic corpus</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spm.SentencePieceTrainer.train(</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input='combined_corpus.txt',</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model_prefix='indic_spm',</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vocab_size=32000,</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character_coverage=0.9999,</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model_type='bpe',</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pad_id=0, unk_id=1,</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bos_id=2, eos_id=3</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Test on Bengali text</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sp = spm.SentencePieceProcessor(</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model_file='indic_spm.model')</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tokens = sp.encode(</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'আমি বাংলায় বলি',</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out_type=str)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Model Training — Continued Pretraining</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Adapting pretrained LLMs to Indic language patterns</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3977640" cy="365760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73152" cy="3657600"/>
          </a:xfrm>
          <a:prstGeom prst="rect">
            <a:avLst/>
          </a:prstGeom>
          <a:solidFill>
            <a:srgbClr val="3B82F6"/>
          </a:solidFill>
          <a:ln/>
        </p:spPr>
      </p:sp>
      <p:sp>
        <p:nvSpPr>
          <p:cNvPr id="8" name="Text 6"/>
          <p:cNvSpPr/>
          <p:nvPr/>
        </p:nvSpPr>
        <p:spPr>
          <a:xfrm>
            <a:off x="530352" y="1188720"/>
            <a:ext cx="3712464" cy="347472"/>
          </a:xfrm>
          <a:prstGeom prst="rect">
            <a:avLst/>
          </a:prstGeom>
          <a:noFill/>
          <a:ln/>
        </p:spPr>
        <p:txBody>
          <a:bodyPr wrap="square" lIns="0" tIns="0" rIns="0" bIns="0" rtlCol="0" anchor="ctr"/>
          <a:lstStyle/>
          <a:p>
            <a:pPr indent="0" marL="0">
              <a:buNone/>
            </a:pPr>
            <a:r>
              <a:rPr lang="en-US" sz="1300" b="1" dirty="0">
                <a:solidFill>
                  <a:srgbClr val="0D1B3E"/>
                </a:solidFill>
                <a:latin typeface="Georgia" pitchFamily="34" charset="0"/>
                <a:ea typeface="Georgia" pitchFamily="34" charset="-122"/>
                <a:cs typeface="Georgia" pitchFamily="34" charset="-120"/>
              </a:rPr>
              <a:t>Why Continued Pretraining?</a:t>
            </a:r>
            <a:endParaRPr lang="en-US" sz="1300" dirty="0"/>
          </a:p>
        </p:txBody>
      </p:sp>
      <p:sp>
        <p:nvSpPr>
          <p:cNvPr id="9" name="Text 7"/>
          <p:cNvSpPr/>
          <p:nvPr/>
        </p:nvSpPr>
        <p:spPr>
          <a:xfrm>
            <a:off x="530352" y="1572768"/>
            <a:ext cx="3712464" cy="3072384"/>
          </a:xfrm>
          <a:prstGeom prst="rect">
            <a:avLst/>
          </a:prstGeom>
          <a:noFill/>
          <a:ln/>
        </p:spPr>
        <p:txBody>
          <a:bodyPr wrap="square" lIns="0" tIns="101600" rIns="101600" bIns="0" rtlCol="0" anchor="ctr"/>
          <a:lstStyle/>
          <a:p>
            <a:pPr marL="342900" indent="-342900">
              <a:spcAft>
                <a:spcPts val="900"/>
              </a:spcAft>
              <a:buSzPct val="100000"/>
              <a:buChar char="•"/>
            </a:pPr>
            <a:r>
              <a:rPr lang="en-US" sz="1100" dirty="0">
                <a:solidFill>
                  <a:srgbClr val="0D1B3E"/>
                </a:solidFill>
                <a:latin typeface="Calibri" pitchFamily="34" charset="0"/>
                <a:ea typeface="Calibri" pitchFamily="34" charset="-122"/>
                <a:cs typeface="Calibri" pitchFamily="34" charset="-120"/>
              </a:rPr>
              <a:t>Training from scratch requires billions of tokens and thousands of GPU-hours — not feasible in academia</a:t>
            </a:r>
            <a:endParaRPr lang="en-US" sz="1100" dirty="0"/>
          </a:p>
          <a:p>
            <a:pPr marL="342900" indent="-342900">
              <a:spcAft>
                <a:spcPts val="900"/>
              </a:spcAft>
              <a:buSzPct val="100000"/>
              <a:buChar char="•"/>
            </a:pPr>
            <a:r>
              <a:rPr lang="en-US" sz="1100" dirty="0">
                <a:solidFill>
                  <a:srgbClr val="0D1B3E"/>
                </a:solidFill>
                <a:latin typeface="Calibri" pitchFamily="34" charset="0"/>
                <a:ea typeface="Calibri" pitchFamily="34" charset="-122"/>
                <a:cs typeface="Calibri" pitchFamily="34" charset="-120"/>
              </a:rPr>
              <a:t>Pretrained LLMs already understand language structure, grammar, and reasoning</a:t>
            </a:r>
            <a:endParaRPr lang="en-US" sz="1100" dirty="0"/>
          </a:p>
          <a:p>
            <a:pPr marL="342900" indent="-342900">
              <a:spcAft>
                <a:spcPts val="900"/>
              </a:spcAft>
              <a:buSzPct val="100000"/>
              <a:buChar char="•"/>
            </a:pPr>
            <a:r>
              <a:rPr lang="en-US" sz="1100" dirty="0">
                <a:solidFill>
                  <a:srgbClr val="0D1B3E"/>
                </a:solidFill>
                <a:latin typeface="Calibri" pitchFamily="34" charset="0"/>
                <a:ea typeface="Calibri" pitchFamily="34" charset="-122"/>
                <a:cs typeface="Calibri" pitchFamily="34" charset="-120"/>
              </a:rPr>
              <a:t>Continued pretraining on Indic data adapts the existing knowledge to new scripts and vocabulary</a:t>
            </a:r>
            <a:endParaRPr lang="en-US" sz="1100" dirty="0"/>
          </a:p>
          <a:p>
            <a:pPr marL="342900" indent="-342900">
              <a:spcAft>
                <a:spcPts val="900"/>
              </a:spcAft>
              <a:buSzPct val="100000"/>
              <a:buChar char="•"/>
            </a:pPr>
            <a:r>
              <a:rPr lang="en-US" sz="1100" dirty="0">
                <a:solidFill>
                  <a:srgbClr val="0D1B3E"/>
                </a:solidFill>
                <a:latin typeface="Calibri" pitchFamily="34" charset="0"/>
                <a:ea typeface="Calibri" pitchFamily="34" charset="-122"/>
                <a:cs typeface="Calibri" pitchFamily="34" charset="-120"/>
              </a:rPr>
              <a:t>Reduces total compute cost by 10–100× vs from scratch</a:t>
            </a:r>
            <a:endParaRPr lang="en-US" sz="1100" dirty="0"/>
          </a:p>
          <a:p>
            <a:pPr marL="342900" indent="-342900">
              <a:spcAft>
                <a:spcPts val="900"/>
              </a:spcAft>
              <a:buSzPct val="100000"/>
              <a:buChar char="•"/>
            </a:pPr>
            <a:r>
              <a:rPr lang="en-US" sz="1100" dirty="0">
                <a:solidFill>
                  <a:srgbClr val="0D1B3E"/>
                </a:solidFill>
                <a:latin typeface="Calibri" pitchFamily="34" charset="0"/>
                <a:ea typeface="Calibri" pitchFamily="34" charset="-122"/>
                <a:cs typeface="Calibri" pitchFamily="34" charset="-120"/>
              </a:rPr>
              <a:t>Implemented using the OLMo open-source training framework</a:t>
            </a:r>
            <a:endParaRPr lang="en-US" sz="1100" dirty="0"/>
          </a:p>
        </p:txBody>
      </p:sp>
      <p:sp>
        <p:nvSpPr>
          <p:cNvPr id="10" name="Shape 8"/>
          <p:cNvSpPr/>
          <p:nvPr/>
        </p:nvSpPr>
        <p:spPr>
          <a:xfrm>
            <a:off x="4572000" y="1115568"/>
            <a:ext cx="4206240" cy="3657600"/>
          </a:xfrm>
          <a:prstGeom prst="rect">
            <a:avLst/>
          </a:prstGeom>
          <a:solidFill>
            <a:srgbClr val="0F172A"/>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4572000" y="1115568"/>
            <a:ext cx="4206240" cy="402336"/>
          </a:xfrm>
          <a:prstGeom prst="rect">
            <a:avLst/>
          </a:prstGeom>
          <a:solidFill>
            <a:srgbClr val="0D1B3E"/>
          </a:solidFill>
          <a:ln/>
        </p:spPr>
      </p:sp>
      <p:pic>
        <p:nvPicPr>
          <p:cNvPr id="12" name="Image 0" descr="preencoded.png">    </p:cNvPr>
          <p:cNvPicPr>
            <a:picLocks noChangeAspect="1"/>
          </p:cNvPicPr>
          <p:nvPr/>
        </p:nvPicPr>
        <p:blipFill>
          <a:blip r:embed="rId1"/>
          <a:stretch>
            <a:fillRect/>
          </a:stretch>
        </p:blipFill>
        <p:spPr>
          <a:xfrm>
            <a:off x="4681728" y="1188720"/>
            <a:ext cx="256032" cy="256032"/>
          </a:xfrm>
          <a:prstGeom prst="rect">
            <a:avLst/>
          </a:prstGeom>
        </p:spPr>
      </p:pic>
      <p:sp>
        <p:nvSpPr>
          <p:cNvPr id="13" name="Text 10"/>
          <p:cNvSpPr/>
          <p:nvPr/>
        </p:nvSpPr>
        <p:spPr>
          <a:xfrm>
            <a:off x="5010912" y="1188720"/>
            <a:ext cx="3657600"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Continued Pretraining Setup</a:t>
            </a:r>
            <a:endParaRPr lang="en-US" sz="1200" dirty="0"/>
          </a:p>
        </p:txBody>
      </p:sp>
      <p:sp>
        <p:nvSpPr>
          <p:cNvPr id="14" name="Shape 11"/>
          <p:cNvSpPr/>
          <p:nvPr/>
        </p:nvSpPr>
        <p:spPr>
          <a:xfrm>
            <a:off x="4572000" y="1517904"/>
            <a:ext cx="4206240" cy="3255264"/>
          </a:xfrm>
          <a:prstGeom prst="rect">
            <a:avLst/>
          </a:prstGeom>
          <a:solidFill>
            <a:srgbClr val="0F172A"/>
          </a:solidFill>
          <a:ln/>
          <a:effectLst>
            <a:outerShdw sx="100000" sy="100000" kx="0" ky="0" algn="bl" rotWithShape="0" blurRad="101600" dist="38100" dir="8100000">
              <a:srgbClr val="000000">
                <a:alpha val="15000"/>
              </a:srgbClr>
            </a:outerShdw>
          </a:effectLst>
        </p:spPr>
      </p:sp>
      <p:sp>
        <p:nvSpPr>
          <p:cNvPr id="15" name="Text 12"/>
          <p:cNvSpPr/>
          <p:nvPr/>
        </p:nvSpPr>
        <p:spPr>
          <a:xfrm>
            <a:off x="4700016" y="1609344"/>
            <a:ext cx="3950208" cy="3072384"/>
          </a:xfrm>
          <a:prstGeom prst="rect">
            <a:avLst/>
          </a:prstGeom>
          <a:noFill/>
          <a:ln/>
        </p:spPr>
        <p:txBody>
          <a:bodyPr wrap="square" lIns="0" tIns="0" rIns="0" bIns="0" rtlCol="0" anchor="t"/>
          <a:lstStyle/>
          <a:p>
            <a:pPr indent="0" marL="0">
              <a:buNone/>
            </a:pPr>
            <a:r>
              <a:rPr lang="en-US" sz="900" dirty="0">
                <a:solidFill>
                  <a:srgbClr val="E5E7EB"/>
                </a:solidFill>
                <a:latin typeface="Courier New" pitchFamily="34" charset="0"/>
                <a:ea typeface="Courier New" pitchFamily="34" charset="-122"/>
                <a:cs typeface="Courier New" pitchFamily="34" charset="-120"/>
              </a:rPr>
              <a:t>from transformers import (</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AutoModelForCausalLM,</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TrainingArguments, Trainer)</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Load base model</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model_id = "google/gemma-2-2b"</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model = AutoModelForCausalLM</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.from_pretrained(model_id,</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torch_dtype='bfloat16')</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Training configuration</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args = TrainingArguments(</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output_dir="./indic_pretrain",</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per_device_train_batch_size=4,</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gradient_accumulation_steps=8,</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num_train_epochs=3,</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learning_rate=2e-5,</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lr_scheduler_type="cosine",</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bf16=True,</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a:t>
            </a:r>
            <a:endParaRPr lang="en-US" sz="900" dirty="0"/>
          </a:p>
        </p:txBody>
      </p:sp>
      <p:sp>
        <p:nvSpPr>
          <p:cNvPr id="16" name="Shape 13"/>
          <p:cNvSpPr/>
          <p:nvPr/>
        </p:nvSpPr>
        <p:spPr>
          <a:xfrm>
            <a:off x="347472" y="4892040"/>
            <a:ext cx="8449056" cy="274320"/>
          </a:xfrm>
          <a:prstGeom prst="rect">
            <a:avLst/>
          </a:prstGeom>
          <a:solidFill>
            <a:srgbClr val="F0F5FF"/>
          </a:solidFill>
          <a:ln/>
        </p:spPr>
      </p:sp>
      <p:sp>
        <p:nvSpPr>
          <p:cNvPr id="17" name="Text 14"/>
          <p:cNvSpPr/>
          <p:nvPr/>
        </p:nvSpPr>
        <p:spPr>
          <a:xfrm>
            <a:off x="347472" y="4901184"/>
            <a:ext cx="8449056" cy="219456"/>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Base models evaluated: LLaMA 3.2-3B · Gemma 2-2B · TinyLlama 1.1B · Sarvam-1 2B</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Model Training — Instruction Tuning</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Fine-tuning the adapted model for task-following capability</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3977640" cy="23042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73152" cy="2304288"/>
          </a:xfrm>
          <a:prstGeom prst="rect">
            <a:avLst/>
          </a:prstGeom>
          <a:solidFill>
            <a:srgbClr val="0D9488"/>
          </a:solidFill>
          <a:ln/>
        </p:spPr>
      </p:sp>
      <p:sp>
        <p:nvSpPr>
          <p:cNvPr id="8" name="Text 6"/>
          <p:cNvSpPr/>
          <p:nvPr/>
        </p:nvSpPr>
        <p:spPr>
          <a:xfrm>
            <a:off x="530352" y="1188720"/>
            <a:ext cx="3712464" cy="329184"/>
          </a:xfrm>
          <a:prstGeom prst="rect">
            <a:avLst/>
          </a:prstGeom>
          <a:noFill/>
          <a:ln/>
        </p:spPr>
        <p:txBody>
          <a:bodyPr wrap="square" lIns="0" tIns="0" rIns="0" bIns="0" rtlCol="0" anchor="ctr"/>
          <a:lstStyle/>
          <a:p>
            <a:pPr indent="0" marL="0">
              <a:buNone/>
            </a:pPr>
            <a:r>
              <a:rPr lang="en-US" sz="1300" b="1" dirty="0">
                <a:solidFill>
                  <a:srgbClr val="0D1B3E"/>
                </a:solidFill>
                <a:latin typeface="Georgia" pitchFamily="34" charset="0"/>
                <a:ea typeface="Georgia" pitchFamily="34" charset="-122"/>
                <a:cs typeface="Georgia" pitchFamily="34" charset="-120"/>
              </a:rPr>
              <a:t>What Is Instruction Tuning?</a:t>
            </a:r>
            <a:endParaRPr lang="en-US" sz="1300" dirty="0"/>
          </a:p>
        </p:txBody>
      </p:sp>
      <p:sp>
        <p:nvSpPr>
          <p:cNvPr id="9" name="Text 7"/>
          <p:cNvSpPr/>
          <p:nvPr/>
        </p:nvSpPr>
        <p:spPr>
          <a:xfrm>
            <a:off x="530352" y="1554480"/>
            <a:ext cx="3712464" cy="1682496"/>
          </a:xfrm>
          <a:prstGeom prst="rect">
            <a:avLst/>
          </a:prstGeom>
          <a:noFill/>
          <a:ln/>
        </p:spPr>
        <p:txBody>
          <a:bodyPr wrap="square" lIns="0" tIns="101600" rIns="101600" bIns="0" rtlCol="0" anchor="ctr"/>
          <a:lstStyle/>
          <a:p>
            <a:pPr marL="342900" indent="-342900">
              <a:spcAft>
                <a:spcPts val="900"/>
              </a:spcAft>
              <a:buSzPct val="100000"/>
              <a:buChar char="•"/>
            </a:pPr>
            <a:r>
              <a:rPr lang="en-US" sz="1100" dirty="0">
                <a:solidFill>
                  <a:srgbClr val="0D1B3E"/>
                </a:solidFill>
                <a:latin typeface="Calibri" pitchFamily="34" charset="0"/>
                <a:ea typeface="Calibri" pitchFamily="34" charset="-122"/>
                <a:cs typeface="Calibri" pitchFamily="34" charset="-120"/>
              </a:rPr>
              <a:t>Trains model to follow structured instructions (not just predict next token)</a:t>
            </a:r>
            <a:endParaRPr lang="en-US" sz="1100" dirty="0"/>
          </a:p>
          <a:p>
            <a:pPr marL="342900" indent="-342900">
              <a:spcAft>
                <a:spcPts val="900"/>
              </a:spcAft>
              <a:buSzPct val="100000"/>
              <a:buChar char="•"/>
            </a:pPr>
            <a:r>
              <a:rPr lang="en-US" sz="1100" dirty="0">
                <a:solidFill>
                  <a:srgbClr val="0D1B3E"/>
                </a:solidFill>
                <a:latin typeface="Calibri" pitchFamily="34" charset="0"/>
                <a:ea typeface="Calibri" pitchFamily="34" charset="-122"/>
                <a:cs typeface="Calibri" pitchFamily="34" charset="-120"/>
              </a:rPr>
              <a:t>Uses QA pairs, translation tasks, and synthetic dialogues</a:t>
            </a:r>
            <a:endParaRPr lang="en-US" sz="1100" dirty="0"/>
          </a:p>
          <a:p>
            <a:pPr marL="342900" indent="-342900">
              <a:spcAft>
                <a:spcPts val="900"/>
              </a:spcAft>
              <a:buSzPct val="100000"/>
              <a:buChar char="•"/>
            </a:pPr>
            <a:r>
              <a:rPr lang="en-US" sz="1100" dirty="0">
                <a:solidFill>
                  <a:srgbClr val="0D1B3E"/>
                </a:solidFill>
                <a:latin typeface="Calibri" pitchFamily="34" charset="0"/>
                <a:ea typeface="Calibri" pitchFamily="34" charset="-122"/>
                <a:cs typeface="Calibri" pitchFamily="34" charset="-120"/>
              </a:rPr>
              <a:t>Produces a model that can answer questions, translate, and converse in Indic languages</a:t>
            </a:r>
            <a:endParaRPr lang="en-US" sz="1100" dirty="0"/>
          </a:p>
        </p:txBody>
      </p:sp>
      <p:sp>
        <p:nvSpPr>
          <p:cNvPr id="10" name="Shape 8"/>
          <p:cNvSpPr/>
          <p:nvPr/>
        </p:nvSpPr>
        <p:spPr>
          <a:xfrm>
            <a:off x="347472" y="3529584"/>
            <a:ext cx="3977640" cy="124358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347472" y="3529584"/>
            <a:ext cx="73152" cy="1243584"/>
          </a:xfrm>
          <a:prstGeom prst="rect">
            <a:avLst/>
          </a:prstGeom>
          <a:solidFill>
            <a:srgbClr val="F59E0B"/>
          </a:solidFill>
          <a:ln/>
        </p:spPr>
      </p:sp>
      <p:sp>
        <p:nvSpPr>
          <p:cNvPr id="12" name="Text 10"/>
          <p:cNvSpPr/>
          <p:nvPr/>
        </p:nvSpPr>
        <p:spPr>
          <a:xfrm>
            <a:off x="530352" y="3602736"/>
            <a:ext cx="3712464" cy="292608"/>
          </a:xfrm>
          <a:prstGeom prst="rect">
            <a:avLst/>
          </a:prstGeom>
          <a:noFill/>
          <a:ln/>
        </p:spPr>
        <p:txBody>
          <a:bodyPr wrap="square" lIns="0" tIns="0" rIns="0" bIns="0" rtlCol="0" anchor="ctr"/>
          <a:lstStyle/>
          <a:p>
            <a:pPr indent="0" marL="0">
              <a:buNone/>
            </a:pPr>
            <a:r>
              <a:rPr lang="en-US" sz="1300" b="1" dirty="0">
                <a:solidFill>
                  <a:srgbClr val="0D1B3E"/>
                </a:solidFill>
                <a:latin typeface="Georgia" pitchFamily="34" charset="0"/>
                <a:ea typeface="Georgia" pitchFamily="34" charset="-122"/>
                <a:cs typeface="Georgia" pitchFamily="34" charset="-120"/>
              </a:rPr>
              <a:t>Data Used for Tuning</a:t>
            </a:r>
            <a:endParaRPr lang="en-US" sz="1300" dirty="0"/>
          </a:p>
        </p:txBody>
      </p:sp>
      <p:sp>
        <p:nvSpPr>
          <p:cNvPr id="13" name="Text 11"/>
          <p:cNvSpPr/>
          <p:nvPr/>
        </p:nvSpPr>
        <p:spPr>
          <a:xfrm>
            <a:off x="530352" y="3931920"/>
            <a:ext cx="3712464" cy="731520"/>
          </a:xfrm>
          <a:prstGeom prst="rect">
            <a:avLst/>
          </a:prstGeom>
          <a:noFill/>
          <a:ln/>
        </p:spPr>
        <p:txBody>
          <a:bodyPr wrap="square" lIns="0" tIns="101600" rIns="101600" bIns="0" rtlCol="0" anchor="ctr"/>
          <a:lstStyle/>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Structured QA datasets (AIKosh + AI4Bharat)</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Machine translation parallel pairs</a:t>
            </a:r>
            <a:endParaRPr lang="en-US" sz="1100" dirty="0"/>
          </a:p>
          <a:p>
            <a:pPr marL="342900" indent="-342900">
              <a:spcAft>
                <a:spcPts val="600"/>
              </a:spcAft>
              <a:buSzPct val="100000"/>
              <a:buChar char="•"/>
            </a:pPr>
            <a:r>
              <a:rPr lang="en-US" sz="1100" dirty="0">
                <a:solidFill>
                  <a:srgbClr val="0D1B3E"/>
                </a:solidFill>
                <a:latin typeface="Calibri" pitchFamily="34" charset="0"/>
                <a:ea typeface="Calibri" pitchFamily="34" charset="-122"/>
                <a:cs typeface="Calibri" pitchFamily="34" charset="-120"/>
              </a:rPr>
              <a:t>Synthetically generated conversational data</a:t>
            </a:r>
            <a:endParaRPr lang="en-US" sz="1100" dirty="0"/>
          </a:p>
        </p:txBody>
      </p:sp>
      <p:sp>
        <p:nvSpPr>
          <p:cNvPr id="14" name="Shape 12"/>
          <p:cNvSpPr/>
          <p:nvPr/>
        </p:nvSpPr>
        <p:spPr>
          <a:xfrm>
            <a:off x="4572000" y="1115568"/>
            <a:ext cx="4206240" cy="3657600"/>
          </a:xfrm>
          <a:prstGeom prst="rect">
            <a:avLst/>
          </a:prstGeom>
          <a:solidFill>
            <a:srgbClr val="0F172A"/>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5" name="Shape 13"/>
          <p:cNvSpPr/>
          <p:nvPr/>
        </p:nvSpPr>
        <p:spPr>
          <a:xfrm>
            <a:off x="4572000" y="1115568"/>
            <a:ext cx="4206240" cy="402336"/>
          </a:xfrm>
          <a:prstGeom prst="rect">
            <a:avLst/>
          </a:prstGeom>
          <a:solidFill>
            <a:srgbClr val="0D9488"/>
          </a:solidFill>
          <a:ln/>
        </p:spPr>
      </p:sp>
      <p:pic>
        <p:nvPicPr>
          <p:cNvPr id="16" name="Image 0" descr="preencoded.png">    </p:cNvPr>
          <p:cNvPicPr>
            <a:picLocks noChangeAspect="1"/>
          </p:cNvPicPr>
          <p:nvPr/>
        </p:nvPicPr>
        <p:blipFill>
          <a:blip r:embed="rId1"/>
          <a:stretch>
            <a:fillRect/>
          </a:stretch>
        </p:blipFill>
        <p:spPr>
          <a:xfrm>
            <a:off x="4681728" y="1188720"/>
            <a:ext cx="256032" cy="256032"/>
          </a:xfrm>
          <a:prstGeom prst="rect">
            <a:avLst/>
          </a:prstGeom>
        </p:spPr>
      </p:pic>
      <p:sp>
        <p:nvSpPr>
          <p:cNvPr id="17" name="Text 14"/>
          <p:cNvSpPr/>
          <p:nvPr/>
        </p:nvSpPr>
        <p:spPr>
          <a:xfrm>
            <a:off x="5010912" y="1188720"/>
            <a:ext cx="3657600"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Instruction Tuning (SFT)</a:t>
            </a:r>
            <a:endParaRPr lang="en-US" sz="1200" dirty="0"/>
          </a:p>
        </p:txBody>
      </p:sp>
      <p:sp>
        <p:nvSpPr>
          <p:cNvPr id="18" name="Shape 15"/>
          <p:cNvSpPr/>
          <p:nvPr/>
        </p:nvSpPr>
        <p:spPr>
          <a:xfrm>
            <a:off x="4572000" y="1517904"/>
            <a:ext cx="4206240" cy="3255264"/>
          </a:xfrm>
          <a:prstGeom prst="rect">
            <a:avLst/>
          </a:prstGeom>
          <a:solidFill>
            <a:srgbClr val="0F172A"/>
          </a:solidFill>
          <a:ln/>
          <a:effectLst>
            <a:outerShdw sx="100000" sy="100000" kx="0" ky="0" algn="bl" rotWithShape="0" blurRad="101600" dist="38100" dir="8100000">
              <a:srgbClr val="000000">
                <a:alpha val="15000"/>
              </a:srgbClr>
            </a:outerShdw>
          </a:effectLst>
        </p:spPr>
      </p:sp>
      <p:sp>
        <p:nvSpPr>
          <p:cNvPr id="19" name="Text 16"/>
          <p:cNvSpPr/>
          <p:nvPr/>
        </p:nvSpPr>
        <p:spPr>
          <a:xfrm>
            <a:off x="4700016" y="1609344"/>
            <a:ext cx="3950208" cy="3072384"/>
          </a:xfrm>
          <a:prstGeom prst="rect">
            <a:avLst/>
          </a:prstGeom>
          <a:noFill/>
          <a:ln/>
        </p:spPr>
        <p:txBody>
          <a:bodyPr wrap="square" lIns="0" tIns="0" rIns="0" bIns="0" rtlCol="0" anchor="t"/>
          <a:lstStyle/>
          <a:p>
            <a:pPr indent="0" marL="0">
              <a:buNone/>
            </a:pPr>
            <a:r>
              <a:rPr lang="en-US" sz="900" dirty="0">
                <a:solidFill>
                  <a:srgbClr val="6A9153"/>
                </a:solidFill>
                <a:latin typeface="Courier New" pitchFamily="34" charset="0"/>
                <a:ea typeface="Courier New" pitchFamily="34" charset="-122"/>
                <a:cs typeface="Courier New" pitchFamily="34" charset="-120"/>
              </a:rPr>
              <a:t># ChatML instruction format</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def format_sample(sample):</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return (</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"&lt;|system|&gt;You are a helpful"</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 Indic language assistant&lt;/s&gt;\n"</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f"&lt;|user|&gt;{sample['q']}&lt;/s&gt;\n"</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f"&lt;|assistant|&gt;{sample['a']}&lt;/s&gt;"</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Supervised Fine-Tuning with TRL</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from trl import SFTTrainer</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trainer = SFTTrainer(</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model=model,</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args=training_args,</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train_dataset=formatted_ds,</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dataset_text_field="text",</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max_seq_length=1024,</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trainer.train()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Pivoting Experiment</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Translate-Then-Generate: current implementation &amp; evaluation</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8449056" cy="89611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73152" cy="896112"/>
          </a:xfrm>
          <a:prstGeom prst="rect">
            <a:avLst/>
          </a:prstGeom>
          <a:solidFill>
            <a:srgbClr val="3B82F6"/>
          </a:solidFill>
          <a:ln/>
        </p:spPr>
      </p:sp>
      <p:sp>
        <p:nvSpPr>
          <p:cNvPr id="8" name="Text 6"/>
          <p:cNvSpPr/>
          <p:nvPr/>
        </p:nvSpPr>
        <p:spPr>
          <a:xfrm>
            <a:off x="530352" y="1170432"/>
            <a:ext cx="8229600" cy="274320"/>
          </a:xfrm>
          <a:prstGeom prst="rect">
            <a:avLst/>
          </a:prstGeom>
          <a:noFill/>
          <a:ln/>
        </p:spPr>
        <p:txBody>
          <a:bodyPr wrap="square" lIns="0" tIns="0" rIns="0" bIns="0" rtlCol="0" anchor="ctr"/>
          <a:lstStyle/>
          <a:p>
            <a:pPr indent="0" marL="0">
              <a:buNone/>
            </a:pPr>
            <a:r>
              <a:rPr lang="en-US" sz="1200" b="1" dirty="0">
                <a:solidFill>
                  <a:srgbClr val="0D1B3E"/>
                </a:solidFill>
                <a:latin typeface="Georgia" pitchFamily="34" charset="0"/>
                <a:ea typeface="Georgia" pitchFamily="34" charset="-122"/>
                <a:cs typeface="Georgia" pitchFamily="34" charset="-120"/>
              </a:rPr>
              <a:t>Research Motivation</a:t>
            </a:r>
            <a:endParaRPr lang="en-US" sz="1200" dirty="0"/>
          </a:p>
        </p:txBody>
      </p:sp>
      <p:sp>
        <p:nvSpPr>
          <p:cNvPr id="9" name="Text 7"/>
          <p:cNvSpPr/>
          <p:nvPr/>
        </p:nvSpPr>
        <p:spPr>
          <a:xfrm>
            <a:off x="530352" y="1463040"/>
            <a:ext cx="8229600" cy="45720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"Language Models are Few-Shot Multilingual Learners" (Brown et al., 2020) — LLMs can leverage English capability for other languages.   "On the Multilingual Capabilities of LLMs" — performance drops sharply for low-resource languages; translation-based approaches help significantly.</a:t>
            </a:r>
            <a:endParaRPr lang="en-US" sz="1000" dirty="0"/>
          </a:p>
        </p:txBody>
      </p:sp>
      <p:sp>
        <p:nvSpPr>
          <p:cNvPr id="10" name="Shape 8"/>
          <p:cNvSpPr/>
          <p:nvPr/>
        </p:nvSpPr>
        <p:spPr>
          <a:xfrm>
            <a:off x="347472" y="2176272"/>
            <a:ext cx="1481328" cy="2148840"/>
          </a:xfrm>
          <a:prstGeom prst="rect">
            <a:avLst/>
          </a:prstGeom>
          <a:solidFill>
            <a:srgbClr val="0D1B3E"/>
          </a:solidFill>
          <a:ln/>
          <a:effectLst>
            <a:outerShdw sx="100000" sy="100000" kx="0" ky="0" algn="bl" rotWithShape="0" blurRad="101600" dist="38100" dir="8100000">
              <a:srgbClr val="000000">
                <a:alpha val="15000"/>
              </a:srgbClr>
            </a:outerShdw>
          </a:effectLst>
        </p:spPr>
      </p:sp>
      <p:pic>
        <p:nvPicPr>
          <p:cNvPr id="11" name="Image 0" descr="preencoded.png">    </p:cNvPr>
          <p:cNvPicPr>
            <a:picLocks noChangeAspect="1"/>
          </p:cNvPicPr>
          <p:nvPr/>
        </p:nvPicPr>
        <p:blipFill>
          <a:blip r:embed="rId1"/>
          <a:stretch>
            <a:fillRect/>
          </a:stretch>
        </p:blipFill>
        <p:spPr>
          <a:xfrm>
            <a:off x="886968" y="2304288"/>
            <a:ext cx="402336" cy="402336"/>
          </a:xfrm>
          <a:prstGeom prst="rect">
            <a:avLst/>
          </a:prstGeom>
        </p:spPr>
      </p:pic>
      <p:sp>
        <p:nvSpPr>
          <p:cNvPr id="12" name="Text 9"/>
          <p:cNvSpPr/>
          <p:nvPr/>
        </p:nvSpPr>
        <p:spPr>
          <a:xfrm>
            <a:off x="347472" y="2779776"/>
            <a:ext cx="1481328"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Indic</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Query</a:t>
            </a:r>
            <a:endParaRPr lang="en-US" sz="1100" dirty="0"/>
          </a:p>
        </p:txBody>
      </p:sp>
      <p:sp>
        <p:nvSpPr>
          <p:cNvPr id="13" name="Text 10"/>
          <p:cNvSpPr/>
          <p:nvPr/>
        </p:nvSpPr>
        <p:spPr>
          <a:xfrm>
            <a:off x="438912" y="3328416"/>
            <a:ext cx="1298448" cy="896112"/>
          </a:xfrm>
          <a:prstGeom prst="rect">
            <a:avLst/>
          </a:prstGeom>
          <a:noFill/>
          <a:ln/>
        </p:spPr>
        <p:txBody>
          <a:bodyPr wrap="square" lIns="0" tIns="0" rIns="0" bIns="0" rtlCol="0" anchor="ctr"/>
          <a:lstStyle/>
          <a:p>
            <a:pPr algn="ctr" indent="0" marL="0">
              <a:buNone/>
            </a:pPr>
            <a:r>
              <a:rPr lang="en-US" sz="900" dirty="0">
                <a:solidFill>
                  <a:srgbClr val="93C5FD"/>
                </a:solidFill>
                <a:latin typeface="Calibri" pitchFamily="34" charset="0"/>
                <a:ea typeface="Calibri" pitchFamily="34" charset="-122"/>
                <a:cs typeface="Calibri" pitchFamily="34" charset="-120"/>
              </a:rPr>
              <a:t>User input</a:t>
            </a:r>
            <a:endParaRPr lang="en-US" sz="900" dirty="0"/>
          </a:p>
          <a:p>
            <a:pPr algn="ctr" indent="0" marL="0">
              <a:buNone/>
            </a:pPr>
            <a:r>
              <a:rPr lang="en-US" sz="900" dirty="0">
                <a:solidFill>
                  <a:srgbClr val="93C5FD"/>
                </a:solidFill>
                <a:latin typeface="Calibri" pitchFamily="34" charset="0"/>
                <a:ea typeface="Calibri" pitchFamily="34" charset="-122"/>
                <a:cs typeface="Calibri" pitchFamily="34" charset="-120"/>
              </a:rPr>
              <a:t>in Bengali / Odia / Gujarati</a:t>
            </a:r>
            <a:endParaRPr lang="en-US" sz="900" dirty="0"/>
          </a:p>
        </p:txBody>
      </p:sp>
      <p:sp>
        <p:nvSpPr>
          <p:cNvPr id="14" name="Shape 11"/>
          <p:cNvSpPr/>
          <p:nvPr/>
        </p:nvSpPr>
        <p:spPr>
          <a:xfrm>
            <a:off x="1865376" y="3108960"/>
            <a:ext cx="128016" cy="73152"/>
          </a:xfrm>
          <a:prstGeom prst="rect">
            <a:avLst/>
          </a:prstGeom>
          <a:solidFill>
            <a:srgbClr val="3B82F6"/>
          </a:solidFill>
          <a:ln/>
        </p:spPr>
      </p:sp>
      <p:sp>
        <p:nvSpPr>
          <p:cNvPr id="15" name="Shape 12"/>
          <p:cNvSpPr/>
          <p:nvPr/>
        </p:nvSpPr>
        <p:spPr>
          <a:xfrm>
            <a:off x="1956816" y="3054096"/>
            <a:ext cx="36576" cy="182880"/>
          </a:xfrm>
          <a:prstGeom prst="rect">
            <a:avLst/>
          </a:prstGeom>
          <a:solidFill>
            <a:srgbClr val="3B82F6"/>
          </a:solidFill>
          <a:ln/>
        </p:spPr>
      </p:sp>
      <p:sp>
        <p:nvSpPr>
          <p:cNvPr id="16" name="Shape 13"/>
          <p:cNvSpPr/>
          <p:nvPr/>
        </p:nvSpPr>
        <p:spPr>
          <a:xfrm>
            <a:off x="2029968" y="2176272"/>
            <a:ext cx="1481328" cy="2148840"/>
          </a:xfrm>
          <a:prstGeom prst="rect">
            <a:avLst/>
          </a:prstGeom>
          <a:solidFill>
            <a:srgbClr val="1E4D8C"/>
          </a:solidFill>
          <a:ln/>
          <a:effectLst>
            <a:outerShdw sx="100000" sy="100000" kx="0" ky="0" algn="bl" rotWithShape="0" blurRad="101600" dist="38100" dir="8100000">
              <a:srgbClr val="000000">
                <a:alpha val="15000"/>
              </a:srgbClr>
            </a:outerShdw>
          </a:effectLst>
        </p:spPr>
      </p:sp>
      <p:pic>
        <p:nvPicPr>
          <p:cNvPr id="17" name="Image 1" descr="preencoded.png">    </p:cNvPr>
          <p:cNvPicPr>
            <a:picLocks noChangeAspect="1"/>
          </p:cNvPicPr>
          <p:nvPr/>
        </p:nvPicPr>
        <p:blipFill>
          <a:blip r:embed="rId2"/>
          <a:stretch>
            <a:fillRect/>
          </a:stretch>
        </p:blipFill>
        <p:spPr>
          <a:xfrm>
            <a:off x="2569464" y="2304288"/>
            <a:ext cx="402336" cy="402336"/>
          </a:xfrm>
          <a:prstGeom prst="rect">
            <a:avLst/>
          </a:prstGeom>
        </p:spPr>
      </p:pic>
      <p:sp>
        <p:nvSpPr>
          <p:cNvPr id="18" name="Text 14"/>
          <p:cNvSpPr/>
          <p:nvPr/>
        </p:nvSpPr>
        <p:spPr>
          <a:xfrm>
            <a:off x="2029968" y="2779776"/>
            <a:ext cx="1481328"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Translate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 English</a:t>
            </a:r>
            <a:endParaRPr lang="en-US" sz="1100" dirty="0"/>
          </a:p>
        </p:txBody>
      </p:sp>
      <p:sp>
        <p:nvSpPr>
          <p:cNvPr id="19" name="Text 15"/>
          <p:cNvSpPr/>
          <p:nvPr/>
        </p:nvSpPr>
        <p:spPr>
          <a:xfrm>
            <a:off x="2121408" y="3328416"/>
            <a:ext cx="1298448" cy="896112"/>
          </a:xfrm>
          <a:prstGeom prst="rect">
            <a:avLst/>
          </a:prstGeom>
          <a:noFill/>
          <a:ln/>
        </p:spPr>
        <p:txBody>
          <a:bodyPr wrap="square" lIns="0" tIns="0" rIns="0" bIns="0" rtlCol="0" anchor="ctr"/>
          <a:lstStyle/>
          <a:p>
            <a:pPr algn="ctr" indent="0" marL="0">
              <a:buNone/>
            </a:pPr>
            <a:r>
              <a:rPr lang="en-US" sz="900" dirty="0">
                <a:solidFill>
                  <a:srgbClr val="93C5FD"/>
                </a:solidFill>
                <a:latin typeface="Calibri" pitchFamily="34" charset="0"/>
                <a:ea typeface="Calibri" pitchFamily="34" charset="-122"/>
                <a:cs typeface="Calibri" pitchFamily="34" charset="-120"/>
              </a:rPr>
              <a:t>Google Translate</a:t>
            </a:r>
            <a:endParaRPr lang="en-US" sz="900" dirty="0"/>
          </a:p>
          <a:p>
            <a:pPr algn="ctr" indent="0" marL="0">
              <a:buNone/>
            </a:pPr>
            <a:r>
              <a:rPr lang="en-US" sz="900" dirty="0">
                <a:solidFill>
                  <a:srgbClr val="93C5FD"/>
                </a:solidFill>
                <a:latin typeface="Calibri" pitchFamily="34" charset="0"/>
                <a:ea typeface="Calibri" pitchFamily="34" charset="-122"/>
                <a:cs typeface="Calibri" pitchFamily="34" charset="-120"/>
              </a:rPr>
              <a:t>or IndicTrans2</a:t>
            </a:r>
            <a:endParaRPr lang="en-US" sz="900" dirty="0"/>
          </a:p>
        </p:txBody>
      </p:sp>
      <p:sp>
        <p:nvSpPr>
          <p:cNvPr id="20" name="Shape 16"/>
          <p:cNvSpPr/>
          <p:nvPr/>
        </p:nvSpPr>
        <p:spPr>
          <a:xfrm>
            <a:off x="3547872" y="3108960"/>
            <a:ext cx="128016" cy="73152"/>
          </a:xfrm>
          <a:prstGeom prst="rect">
            <a:avLst/>
          </a:prstGeom>
          <a:solidFill>
            <a:srgbClr val="3B82F6"/>
          </a:solidFill>
          <a:ln/>
        </p:spPr>
      </p:sp>
      <p:sp>
        <p:nvSpPr>
          <p:cNvPr id="21" name="Shape 17"/>
          <p:cNvSpPr/>
          <p:nvPr/>
        </p:nvSpPr>
        <p:spPr>
          <a:xfrm>
            <a:off x="3639312" y="3054096"/>
            <a:ext cx="36576" cy="182880"/>
          </a:xfrm>
          <a:prstGeom prst="rect">
            <a:avLst/>
          </a:prstGeom>
          <a:solidFill>
            <a:srgbClr val="3B82F6"/>
          </a:solidFill>
          <a:ln/>
        </p:spPr>
      </p:sp>
      <p:sp>
        <p:nvSpPr>
          <p:cNvPr id="22" name="Shape 18"/>
          <p:cNvSpPr/>
          <p:nvPr/>
        </p:nvSpPr>
        <p:spPr>
          <a:xfrm>
            <a:off x="3712464" y="2176272"/>
            <a:ext cx="1481328" cy="2148840"/>
          </a:xfrm>
          <a:prstGeom prst="rect">
            <a:avLst/>
          </a:prstGeom>
          <a:solidFill>
            <a:srgbClr val="3B82F6"/>
          </a:solidFill>
          <a:ln/>
          <a:effectLst>
            <a:outerShdw sx="100000" sy="100000" kx="0" ky="0" algn="bl" rotWithShape="0" blurRad="101600" dist="38100" dir="8100000">
              <a:srgbClr val="000000">
                <a:alpha val="15000"/>
              </a:srgbClr>
            </a:outerShdw>
          </a:effectLst>
        </p:spPr>
      </p:sp>
      <p:pic>
        <p:nvPicPr>
          <p:cNvPr id="23" name="Image 2" descr="preencoded.png">    </p:cNvPr>
          <p:cNvPicPr>
            <a:picLocks noChangeAspect="1"/>
          </p:cNvPicPr>
          <p:nvPr/>
        </p:nvPicPr>
        <p:blipFill>
          <a:blip r:embed="rId3"/>
          <a:stretch>
            <a:fillRect/>
          </a:stretch>
        </p:blipFill>
        <p:spPr>
          <a:xfrm>
            <a:off x="4251960" y="2304288"/>
            <a:ext cx="402336" cy="402336"/>
          </a:xfrm>
          <a:prstGeom prst="rect">
            <a:avLst/>
          </a:prstGeom>
        </p:spPr>
      </p:pic>
      <p:sp>
        <p:nvSpPr>
          <p:cNvPr id="24" name="Text 19"/>
          <p:cNvSpPr/>
          <p:nvPr/>
        </p:nvSpPr>
        <p:spPr>
          <a:xfrm>
            <a:off x="3712464" y="2779776"/>
            <a:ext cx="1481328"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LLM</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Reasoning</a:t>
            </a:r>
            <a:endParaRPr lang="en-US" sz="1100" dirty="0"/>
          </a:p>
        </p:txBody>
      </p:sp>
      <p:sp>
        <p:nvSpPr>
          <p:cNvPr id="25" name="Text 20"/>
          <p:cNvSpPr/>
          <p:nvPr/>
        </p:nvSpPr>
        <p:spPr>
          <a:xfrm>
            <a:off x="3803904" y="3328416"/>
            <a:ext cx="1298448" cy="896112"/>
          </a:xfrm>
          <a:prstGeom prst="rect">
            <a:avLst/>
          </a:prstGeom>
          <a:noFill/>
          <a:ln/>
        </p:spPr>
        <p:txBody>
          <a:bodyPr wrap="square" lIns="0" tIns="0" rIns="0" bIns="0" rtlCol="0" anchor="ctr"/>
          <a:lstStyle/>
          <a:p>
            <a:pPr algn="ctr" indent="0" marL="0">
              <a:buNone/>
            </a:pPr>
            <a:r>
              <a:rPr lang="en-US" sz="900" dirty="0">
                <a:solidFill>
                  <a:srgbClr val="93C5FD"/>
                </a:solidFill>
                <a:latin typeface="Calibri" pitchFamily="34" charset="0"/>
                <a:ea typeface="Calibri" pitchFamily="34" charset="-122"/>
                <a:cs typeface="Calibri" pitchFamily="34" charset="-120"/>
              </a:rPr>
              <a:t>TinyLlama / Gemma</a:t>
            </a:r>
            <a:endParaRPr lang="en-US" sz="900" dirty="0"/>
          </a:p>
          <a:p>
            <a:pPr algn="ctr" indent="0" marL="0">
              <a:buNone/>
            </a:pPr>
            <a:r>
              <a:rPr lang="en-US" sz="900" dirty="0">
                <a:solidFill>
                  <a:srgbClr val="93C5FD"/>
                </a:solidFill>
                <a:latin typeface="Calibri" pitchFamily="34" charset="0"/>
                <a:ea typeface="Calibri" pitchFamily="34" charset="-122"/>
                <a:cs typeface="Calibri" pitchFamily="34" charset="-120"/>
              </a:rPr>
              <a:t>generates in English</a:t>
            </a:r>
            <a:endParaRPr lang="en-US" sz="900" dirty="0"/>
          </a:p>
        </p:txBody>
      </p:sp>
      <p:sp>
        <p:nvSpPr>
          <p:cNvPr id="26" name="Shape 21"/>
          <p:cNvSpPr/>
          <p:nvPr/>
        </p:nvSpPr>
        <p:spPr>
          <a:xfrm>
            <a:off x="5230368" y="3108960"/>
            <a:ext cx="128016" cy="73152"/>
          </a:xfrm>
          <a:prstGeom prst="rect">
            <a:avLst/>
          </a:prstGeom>
          <a:solidFill>
            <a:srgbClr val="3B82F6"/>
          </a:solidFill>
          <a:ln/>
        </p:spPr>
      </p:sp>
      <p:sp>
        <p:nvSpPr>
          <p:cNvPr id="27" name="Shape 22"/>
          <p:cNvSpPr/>
          <p:nvPr/>
        </p:nvSpPr>
        <p:spPr>
          <a:xfrm>
            <a:off x="5321808" y="3054096"/>
            <a:ext cx="36576" cy="182880"/>
          </a:xfrm>
          <a:prstGeom prst="rect">
            <a:avLst/>
          </a:prstGeom>
          <a:solidFill>
            <a:srgbClr val="3B82F6"/>
          </a:solidFill>
          <a:ln/>
        </p:spPr>
      </p:sp>
      <p:sp>
        <p:nvSpPr>
          <p:cNvPr id="28" name="Shape 23"/>
          <p:cNvSpPr/>
          <p:nvPr/>
        </p:nvSpPr>
        <p:spPr>
          <a:xfrm>
            <a:off x="5394960" y="2176272"/>
            <a:ext cx="1481328" cy="2148840"/>
          </a:xfrm>
          <a:prstGeom prst="rect">
            <a:avLst/>
          </a:prstGeom>
          <a:solidFill>
            <a:srgbClr val="1E4D8C"/>
          </a:solidFill>
          <a:ln/>
          <a:effectLst>
            <a:outerShdw sx="100000" sy="100000" kx="0" ky="0" algn="bl" rotWithShape="0" blurRad="101600" dist="38100" dir="8100000">
              <a:srgbClr val="000000">
                <a:alpha val="15000"/>
              </a:srgbClr>
            </a:outerShdw>
          </a:effectLst>
        </p:spPr>
      </p:sp>
      <p:pic>
        <p:nvPicPr>
          <p:cNvPr id="29" name="Image 3" descr="preencoded.png">    </p:cNvPr>
          <p:cNvPicPr>
            <a:picLocks noChangeAspect="1"/>
          </p:cNvPicPr>
          <p:nvPr/>
        </p:nvPicPr>
        <p:blipFill>
          <a:blip r:embed="rId4"/>
          <a:stretch>
            <a:fillRect/>
          </a:stretch>
        </p:blipFill>
        <p:spPr>
          <a:xfrm>
            <a:off x="5934456" y="2304288"/>
            <a:ext cx="402336" cy="402336"/>
          </a:xfrm>
          <a:prstGeom prst="rect">
            <a:avLst/>
          </a:prstGeom>
        </p:spPr>
      </p:pic>
      <p:sp>
        <p:nvSpPr>
          <p:cNvPr id="30" name="Text 24"/>
          <p:cNvSpPr/>
          <p:nvPr/>
        </p:nvSpPr>
        <p:spPr>
          <a:xfrm>
            <a:off x="5394960" y="2779776"/>
            <a:ext cx="1481328"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Back-</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Translate</a:t>
            </a:r>
            <a:endParaRPr lang="en-US" sz="1100" dirty="0"/>
          </a:p>
        </p:txBody>
      </p:sp>
      <p:sp>
        <p:nvSpPr>
          <p:cNvPr id="31" name="Text 25"/>
          <p:cNvSpPr/>
          <p:nvPr/>
        </p:nvSpPr>
        <p:spPr>
          <a:xfrm>
            <a:off x="5486400" y="3328416"/>
            <a:ext cx="1298448" cy="896112"/>
          </a:xfrm>
          <a:prstGeom prst="rect">
            <a:avLst/>
          </a:prstGeom>
          <a:noFill/>
          <a:ln/>
        </p:spPr>
        <p:txBody>
          <a:bodyPr wrap="square" lIns="0" tIns="0" rIns="0" bIns="0" rtlCol="0" anchor="ctr"/>
          <a:lstStyle/>
          <a:p>
            <a:pPr algn="ctr" indent="0" marL="0">
              <a:buNone/>
            </a:pPr>
            <a:r>
              <a:rPr lang="en-US" sz="900" dirty="0">
                <a:solidFill>
                  <a:srgbClr val="93C5FD"/>
                </a:solidFill>
                <a:latin typeface="Calibri" pitchFamily="34" charset="0"/>
                <a:ea typeface="Calibri" pitchFamily="34" charset="-122"/>
                <a:cs typeface="Calibri" pitchFamily="34" charset="-120"/>
              </a:rPr>
              <a:t>English response</a:t>
            </a:r>
            <a:endParaRPr lang="en-US" sz="900" dirty="0"/>
          </a:p>
          <a:p>
            <a:pPr algn="ctr" indent="0" marL="0">
              <a:buNone/>
            </a:pPr>
            <a:r>
              <a:rPr lang="en-US" sz="900" dirty="0">
                <a:solidFill>
                  <a:srgbClr val="93C5FD"/>
                </a:solidFill>
                <a:latin typeface="Calibri" pitchFamily="34" charset="0"/>
                <a:ea typeface="Calibri" pitchFamily="34" charset="-122"/>
                <a:cs typeface="Calibri" pitchFamily="34" charset="-120"/>
              </a:rPr>
              <a:t>→ Indic language</a:t>
            </a:r>
            <a:endParaRPr lang="en-US" sz="900" dirty="0"/>
          </a:p>
        </p:txBody>
      </p:sp>
      <p:sp>
        <p:nvSpPr>
          <p:cNvPr id="32" name="Shape 26"/>
          <p:cNvSpPr/>
          <p:nvPr/>
        </p:nvSpPr>
        <p:spPr>
          <a:xfrm>
            <a:off x="6912864" y="3108960"/>
            <a:ext cx="128016" cy="73152"/>
          </a:xfrm>
          <a:prstGeom prst="rect">
            <a:avLst/>
          </a:prstGeom>
          <a:solidFill>
            <a:srgbClr val="3B82F6"/>
          </a:solidFill>
          <a:ln/>
        </p:spPr>
      </p:sp>
      <p:sp>
        <p:nvSpPr>
          <p:cNvPr id="33" name="Shape 27"/>
          <p:cNvSpPr/>
          <p:nvPr/>
        </p:nvSpPr>
        <p:spPr>
          <a:xfrm>
            <a:off x="7004304" y="3054096"/>
            <a:ext cx="36576" cy="182880"/>
          </a:xfrm>
          <a:prstGeom prst="rect">
            <a:avLst/>
          </a:prstGeom>
          <a:solidFill>
            <a:srgbClr val="3B82F6"/>
          </a:solidFill>
          <a:ln/>
        </p:spPr>
      </p:sp>
      <p:sp>
        <p:nvSpPr>
          <p:cNvPr id="34" name="Shape 28"/>
          <p:cNvSpPr/>
          <p:nvPr/>
        </p:nvSpPr>
        <p:spPr>
          <a:xfrm>
            <a:off x="7077456" y="2176272"/>
            <a:ext cx="1481328" cy="2148840"/>
          </a:xfrm>
          <a:prstGeom prst="rect">
            <a:avLst/>
          </a:prstGeom>
          <a:solidFill>
            <a:srgbClr val="0D9488"/>
          </a:solidFill>
          <a:ln/>
          <a:effectLst>
            <a:outerShdw sx="100000" sy="100000" kx="0" ky="0" algn="bl" rotWithShape="0" blurRad="101600" dist="38100" dir="8100000">
              <a:srgbClr val="000000">
                <a:alpha val="15000"/>
              </a:srgbClr>
            </a:outerShdw>
          </a:effectLst>
        </p:spPr>
      </p:sp>
      <p:pic>
        <p:nvPicPr>
          <p:cNvPr id="35" name="Image 4" descr="preencoded.png">    </p:cNvPr>
          <p:cNvPicPr>
            <a:picLocks noChangeAspect="1"/>
          </p:cNvPicPr>
          <p:nvPr/>
        </p:nvPicPr>
        <p:blipFill>
          <a:blip r:embed="rId5"/>
          <a:stretch>
            <a:fillRect/>
          </a:stretch>
        </p:blipFill>
        <p:spPr>
          <a:xfrm>
            <a:off x="7616952" y="2304288"/>
            <a:ext cx="402336" cy="402336"/>
          </a:xfrm>
          <a:prstGeom prst="rect">
            <a:avLst/>
          </a:prstGeom>
        </p:spPr>
      </p:pic>
      <p:sp>
        <p:nvSpPr>
          <p:cNvPr id="36" name="Text 29"/>
          <p:cNvSpPr/>
          <p:nvPr/>
        </p:nvSpPr>
        <p:spPr>
          <a:xfrm>
            <a:off x="7077456" y="2779776"/>
            <a:ext cx="1481328"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Indic</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Response</a:t>
            </a:r>
            <a:endParaRPr lang="en-US" sz="1100" dirty="0"/>
          </a:p>
        </p:txBody>
      </p:sp>
      <p:sp>
        <p:nvSpPr>
          <p:cNvPr id="37" name="Text 30"/>
          <p:cNvSpPr/>
          <p:nvPr/>
        </p:nvSpPr>
        <p:spPr>
          <a:xfrm>
            <a:off x="7168896" y="3328416"/>
            <a:ext cx="1298448" cy="896112"/>
          </a:xfrm>
          <a:prstGeom prst="rect">
            <a:avLst/>
          </a:prstGeom>
          <a:noFill/>
          <a:ln/>
        </p:spPr>
        <p:txBody>
          <a:bodyPr wrap="square" lIns="0" tIns="0" rIns="0" bIns="0" rtlCol="0" anchor="ctr"/>
          <a:lstStyle/>
          <a:p>
            <a:pPr algn="ctr" indent="0" marL="0">
              <a:buNone/>
            </a:pPr>
            <a:r>
              <a:rPr lang="en-US" sz="900" dirty="0">
                <a:solidFill>
                  <a:srgbClr val="93C5FD"/>
                </a:solidFill>
                <a:latin typeface="Calibri" pitchFamily="34" charset="0"/>
                <a:ea typeface="Calibri" pitchFamily="34" charset="-122"/>
                <a:cs typeface="Calibri" pitchFamily="34" charset="-120"/>
              </a:rPr>
              <a:t>Final answer</a:t>
            </a:r>
            <a:endParaRPr lang="en-US" sz="900" dirty="0"/>
          </a:p>
          <a:p>
            <a:pPr algn="ctr" indent="0" marL="0">
              <a:buNone/>
            </a:pPr>
            <a:r>
              <a:rPr lang="en-US" sz="900" dirty="0">
                <a:solidFill>
                  <a:srgbClr val="93C5FD"/>
                </a:solidFill>
                <a:latin typeface="Calibri" pitchFamily="34" charset="0"/>
                <a:ea typeface="Calibri" pitchFamily="34" charset="-122"/>
                <a:cs typeface="Calibri" pitchFamily="34" charset="-120"/>
              </a:rPr>
              <a:t>in user's language</a:t>
            </a:r>
            <a:endParaRPr lang="en-US" sz="900" dirty="0"/>
          </a:p>
        </p:txBody>
      </p:sp>
      <p:sp>
        <p:nvSpPr>
          <p:cNvPr id="38" name="Shape 31"/>
          <p:cNvSpPr/>
          <p:nvPr/>
        </p:nvSpPr>
        <p:spPr>
          <a:xfrm>
            <a:off x="347472" y="4901184"/>
            <a:ext cx="8449056" cy="274320"/>
          </a:xfrm>
          <a:prstGeom prst="rect">
            <a:avLst/>
          </a:prstGeom>
          <a:solidFill>
            <a:srgbClr val="E2E8F0"/>
          </a:solidFill>
          <a:ln/>
        </p:spPr>
      </p:sp>
      <p:sp>
        <p:nvSpPr>
          <p:cNvPr id="39" name="Text 32"/>
          <p:cNvSpPr/>
          <p:nvPr/>
        </p:nvSpPr>
        <p:spPr>
          <a:xfrm>
            <a:off x="384048" y="4910328"/>
            <a:ext cx="8394192" cy="237744"/>
          </a:xfrm>
          <a:prstGeom prst="rect">
            <a:avLst/>
          </a:prstGeom>
          <a:noFill/>
          <a:ln/>
        </p:spPr>
        <p:txBody>
          <a:bodyPr wrap="square" lIns="0" tIns="0" rIns="0" bIns="0" rtlCol="0" anchor="ctr"/>
          <a:lstStyle/>
          <a:p>
            <a:pPr indent="0" marL="0">
              <a:buNone/>
            </a:pPr>
            <a:r>
              <a:rPr lang="en-US" sz="950" i="1" dirty="0">
                <a:solidFill>
                  <a:srgbClr val="334155"/>
                </a:solidFill>
                <a:latin typeface="Calibri" pitchFamily="34" charset="0"/>
                <a:ea typeface="Calibri" pitchFamily="34" charset="-122"/>
                <a:cs typeface="Calibri" pitchFamily="34" charset="-120"/>
              </a:rPr>
              <a:t>This approach requires zero Indic training data — it leverages powerful English LLMs via language pivoting.</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Pivoting Pipeline — Implementation</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Complete code for the Translate-Then-Generate system</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3273552" cy="365760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3273552" cy="402336"/>
          </a:xfrm>
          <a:prstGeom prst="rect">
            <a:avLst/>
          </a:prstGeom>
          <a:solidFill>
            <a:srgbClr val="0D1B3E"/>
          </a:solidFill>
          <a:ln/>
        </p:spPr>
      </p:sp>
      <p:pic>
        <p:nvPicPr>
          <p:cNvPr id="8" name="Image 0" descr="preencoded.png">    </p:cNvPr>
          <p:cNvPicPr>
            <a:picLocks noChangeAspect="1"/>
          </p:cNvPicPr>
          <p:nvPr/>
        </p:nvPicPr>
        <p:blipFill>
          <a:blip r:embed="rId1"/>
          <a:stretch>
            <a:fillRect/>
          </a:stretch>
        </p:blipFill>
        <p:spPr>
          <a:xfrm>
            <a:off x="457200" y="1188720"/>
            <a:ext cx="256032" cy="256032"/>
          </a:xfrm>
          <a:prstGeom prst="rect">
            <a:avLst/>
          </a:prstGeom>
        </p:spPr>
      </p:pic>
      <p:sp>
        <p:nvSpPr>
          <p:cNvPr id="9" name="Text 6"/>
          <p:cNvSpPr/>
          <p:nvPr/>
        </p:nvSpPr>
        <p:spPr>
          <a:xfrm>
            <a:off x="768096" y="1188720"/>
            <a:ext cx="2743200"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Interface Architecture</a:t>
            </a:r>
            <a:endParaRPr lang="en-US" sz="1200" dirty="0"/>
          </a:p>
        </p:txBody>
      </p:sp>
      <p:sp>
        <p:nvSpPr>
          <p:cNvPr id="10" name="Text 7"/>
          <p:cNvSpPr/>
          <p:nvPr/>
        </p:nvSpPr>
        <p:spPr>
          <a:xfrm>
            <a:off x="475488" y="1572768"/>
            <a:ext cx="3017520" cy="3090672"/>
          </a:xfrm>
          <a:prstGeom prst="rect">
            <a:avLst/>
          </a:prstGeom>
          <a:noFill/>
          <a:ln/>
        </p:spPr>
        <p:txBody>
          <a:bodyPr wrap="square" lIns="0" tIns="101600" rIns="101600" bIns="0" rtlCol="0" anchor="ctr"/>
          <a:lstStyle/>
          <a:p>
            <a:pPr marL="342900" indent="-342900">
              <a:spcAft>
                <a:spcPts val="700"/>
              </a:spcAft>
              <a:buSzPct val="100000"/>
              <a:buChar char="•"/>
            </a:pPr>
            <a:r>
              <a:rPr lang="en-US" sz="1050" dirty="0">
                <a:solidFill>
                  <a:srgbClr val="0D1B3E"/>
                </a:solidFill>
                <a:latin typeface="Calibri" pitchFamily="34" charset="0"/>
                <a:ea typeface="Calibri" pitchFamily="34" charset="-122"/>
                <a:cs typeface="Calibri" pitchFamily="34" charset="-120"/>
              </a:rPr>
              <a:t>Built with Gradio for real-time Bengali/Odia/Gujarati interface</a:t>
            </a:r>
            <a:endParaRPr lang="en-US" sz="1050" dirty="0"/>
          </a:p>
          <a:p>
            <a:pPr marL="342900" indent="-342900">
              <a:spcAft>
                <a:spcPts val="700"/>
              </a:spcAft>
              <a:buSzPct val="100000"/>
              <a:buChar char="•"/>
            </a:pPr>
            <a:r>
              <a:rPr lang="en-US" sz="1050" dirty="0">
                <a:solidFill>
                  <a:srgbClr val="0D1B3E"/>
                </a:solidFill>
                <a:latin typeface="Calibri" pitchFamily="34" charset="0"/>
                <a:ea typeface="Calibri" pitchFamily="34" charset="-122"/>
                <a:cs typeface="Calibri" pitchFamily="34" charset="-120"/>
              </a:rPr>
              <a:t>Input: Text box for Indic language query</a:t>
            </a:r>
            <a:endParaRPr lang="en-US" sz="1050" dirty="0"/>
          </a:p>
          <a:p>
            <a:pPr marL="342900" indent="-342900">
              <a:spcAft>
                <a:spcPts val="700"/>
              </a:spcAft>
              <a:buSzPct val="100000"/>
              <a:buChar char="•"/>
            </a:pPr>
            <a:r>
              <a:rPr lang="en-US" sz="1050" dirty="0">
                <a:solidFill>
                  <a:srgbClr val="0D1B3E"/>
                </a:solidFill>
                <a:latin typeface="Calibri" pitchFamily="34" charset="0"/>
                <a:ea typeface="Calibri" pitchFamily="34" charset="-122"/>
                <a:cs typeface="Calibri" pitchFamily="34" charset="-120"/>
              </a:rPr>
              <a:t>Output: Bengali/Odia/Gujarati response to user</a:t>
            </a:r>
            <a:endParaRPr lang="en-US" sz="1050" dirty="0"/>
          </a:p>
          <a:p>
            <a:pPr marL="342900" indent="-342900">
              <a:spcAft>
                <a:spcPts val="700"/>
              </a:spcAft>
              <a:buSzPct val="100000"/>
              <a:buChar char="•"/>
            </a:pPr>
            <a:r>
              <a:rPr lang="en-US" sz="1050" dirty="0">
                <a:solidFill>
                  <a:srgbClr val="0D1B3E"/>
                </a:solidFill>
                <a:latin typeface="Calibri" pitchFamily="34" charset="0"/>
                <a:ea typeface="Calibri" pitchFamily="34" charset="-122"/>
                <a:cs typeface="Calibri" pitchFamily="34" charset="-120"/>
              </a:rPr>
              <a:t>Debug view: Shows English intermediate steps</a:t>
            </a:r>
            <a:endParaRPr lang="en-US" sz="1050" dirty="0"/>
          </a:p>
          <a:p>
            <a:pPr marL="342900" indent="-342900">
              <a:spcAft>
                <a:spcPts val="700"/>
              </a:spcAft>
              <a:buSzPct val="100000"/>
              <a:buChar char="•"/>
            </a:pPr>
            <a:r>
              <a:rPr lang="en-US" sz="1050" dirty="0">
                <a:solidFill>
                  <a:srgbClr val="0D1B3E"/>
                </a:solidFill>
                <a:latin typeface="Calibri" pitchFamily="34" charset="0"/>
                <a:ea typeface="Calibri" pitchFamily="34" charset="-122"/>
                <a:cs typeface="Calibri" pitchFamily="34" charset="-120"/>
              </a:rPr>
              <a:t>Tested on: TinyLlama 1.1B (fast) and Gemma 2-2B (quality)</a:t>
            </a:r>
            <a:endParaRPr lang="en-US" sz="1050" dirty="0"/>
          </a:p>
          <a:p>
            <a:pPr marL="342900" indent="-342900">
              <a:spcAft>
                <a:spcPts val="700"/>
              </a:spcAft>
              <a:buSzPct val="100000"/>
              <a:buChar char="•"/>
            </a:pPr>
            <a:r>
              <a:rPr lang="en-US" sz="1050" dirty="0">
                <a:solidFill>
                  <a:srgbClr val="0D1B3E"/>
                </a:solidFill>
                <a:latin typeface="Calibri" pitchFamily="34" charset="0"/>
                <a:ea typeface="Calibri" pitchFamily="34" charset="-122"/>
                <a:cs typeface="Calibri" pitchFamily="34" charset="-120"/>
              </a:rPr>
              <a:t>Translation: Google Translate API via deep-translator</a:t>
            </a:r>
            <a:endParaRPr lang="en-US" sz="1050" dirty="0"/>
          </a:p>
          <a:p>
            <a:pPr marL="342900" indent="-342900">
              <a:spcAft>
                <a:spcPts val="700"/>
              </a:spcAft>
              <a:buSzPct val="100000"/>
              <a:buChar char="•"/>
            </a:pPr>
            <a:r>
              <a:rPr lang="en-US" sz="1050" dirty="0">
                <a:solidFill>
                  <a:srgbClr val="0D1B3E"/>
                </a:solidFill>
                <a:latin typeface="Calibri" pitchFamily="34" charset="0"/>
                <a:ea typeface="Calibri" pitchFamily="34" charset="-122"/>
                <a:cs typeface="Calibri" pitchFamily="34" charset="-120"/>
              </a:rPr>
              <a:t>Runs on Google Colab T4 GPU (~3GB VRAM)</a:t>
            </a:r>
            <a:endParaRPr lang="en-US" sz="1050" dirty="0"/>
          </a:p>
        </p:txBody>
      </p:sp>
      <p:sp>
        <p:nvSpPr>
          <p:cNvPr id="11" name="Shape 8"/>
          <p:cNvSpPr/>
          <p:nvPr/>
        </p:nvSpPr>
        <p:spPr>
          <a:xfrm>
            <a:off x="3785616" y="1115568"/>
            <a:ext cx="4992624" cy="3657600"/>
          </a:xfrm>
          <a:prstGeom prst="rect">
            <a:avLst/>
          </a:prstGeom>
          <a:solidFill>
            <a:srgbClr val="0F172A"/>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2" name="Shape 9"/>
          <p:cNvSpPr/>
          <p:nvPr/>
        </p:nvSpPr>
        <p:spPr>
          <a:xfrm>
            <a:off x="3785616" y="1115568"/>
            <a:ext cx="4992624" cy="402336"/>
          </a:xfrm>
          <a:prstGeom prst="rect">
            <a:avLst/>
          </a:prstGeom>
          <a:solidFill>
            <a:srgbClr val="0D1B3E"/>
          </a:solidFill>
          <a:ln/>
        </p:spPr>
      </p:sp>
      <p:pic>
        <p:nvPicPr>
          <p:cNvPr id="13" name="Image 1" descr="preencoded.png">    </p:cNvPr>
          <p:cNvPicPr>
            <a:picLocks noChangeAspect="1"/>
          </p:cNvPicPr>
          <p:nvPr/>
        </p:nvPicPr>
        <p:blipFill>
          <a:blip r:embed="rId2"/>
          <a:stretch>
            <a:fillRect/>
          </a:stretch>
        </p:blipFill>
        <p:spPr>
          <a:xfrm>
            <a:off x="3895344" y="1188720"/>
            <a:ext cx="256032" cy="256032"/>
          </a:xfrm>
          <a:prstGeom prst="rect">
            <a:avLst/>
          </a:prstGeom>
        </p:spPr>
      </p:pic>
      <p:sp>
        <p:nvSpPr>
          <p:cNvPr id="14" name="Text 10"/>
          <p:cNvSpPr/>
          <p:nvPr/>
        </p:nvSpPr>
        <p:spPr>
          <a:xfrm>
            <a:off x="4224528" y="1188720"/>
            <a:ext cx="4389120" cy="25603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pivot_inference() — Core Function</a:t>
            </a:r>
            <a:endParaRPr lang="en-US" sz="1200" dirty="0"/>
          </a:p>
        </p:txBody>
      </p:sp>
      <p:sp>
        <p:nvSpPr>
          <p:cNvPr id="15" name="Shape 11"/>
          <p:cNvSpPr/>
          <p:nvPr/>
        </p:nvSpPr>
        <p:spPr>
          <a:xfrm>
            <a:off x="3785616" y="1517904"/>
            <a:ext cx="4992624" cy="3255264"/>
          </a:xfrm>
          <a:prstGeom prst="rect">
            <a:avLst/>
          </a:prstGeom>
          <a:solidFill>
            <a:srgbClr val="0F172A"/>
          </a:solidFill>
          <a:ln/>
          <a:effectLst>
            <a:outerShdw sx="100000" sy="100000" kx="0" ky="0" algn="bl" rotWithShape="0" blurRad="101600" dist="38100" dir="8100000">
              <a:srgbClr val="000000">
                <a:alpha val="15000"/>
              </a:srgbClr>
            </a:outerShdw>
          </a:effectLst>
        </p:spPr>
      </p:sp>
      <p:sp>
        <p:nvSpPr>
          <p:cNvPr id="16" name="Text 12"/>
          <p:cNvSpPr/>
          <p:nvPr/>
        </p:nvSpPr>
        <p:spPr>
          <a:xfrm>
            <a:off x="3913632" y="1609344"/>
            <a:ext cx="4736592" cy="3072384"/>
          </a:xfrm>
          <a:prstGeom prst="rect">
            <a:avLst/>
          </a:prstGeom>
          <a:noFill/>
          <a:ln/>
        </p:spPr>
        <p:txBody>
          <a:bodyPr wrap="square" lIns="0" tIns="0" rIns="0" bIns="0" rtlCol="0" anchor="t"/>
          <a:lstStyle/>
          <a:p>
            <a:pPr indent="0" marL="0">
              <a:buNone/>
            </a:pPr>
            <a:r>
              <a:rPr lang="en-US" sz="900" dirty="0">
                <a:solidFill>
                  <a:srgbClr val="E5E7EB"/>
                </a:solidFill>
                <a:latin typeface="Courier New" pitchFamily="34" charset="0"/>
                <a:ea typeface="Courier New" pitchFamily="34" charset="-122"/>
                <a:cs typeface="Courier New" pitchFamily="34" charset="-120"/>
              </a:rPr>
              <a:t>from deep_translator import GoogleTranslator</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from transformers import AutoTokenizer,</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AutoModelForCausalLM</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import torch</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def pivot_inference(query_indic, src='bn'):</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"""Indic → English → LLM → Indic"""</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 Step 1: Translate Indic → English</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en_q = GoogleTranslator(</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source=src, target='en'</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).translate(query_indic)</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 Step 2: LLM inference in English</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msgs = [{'role':'system',</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'content':'Be a helpful assistant.'},</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{'role':'user','content': en_q}]</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prompt = tok.apply_chat_template(msgs,</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add_generation_prompt=True, tokenize=False)</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inp = tok(prompt, return_tensors='pt')</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.to(model.device)</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out = model.generate(**inp,</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max_new_tokens=512, temperature=0.7)</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en_resp = tok.decode(out[0][inp['input_ids']</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.shape[1]:], skip_special_tokens=True)</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A9153"/>
                </a:solidFill>
                <a:latin typeface="Courier New" pitchFamily="34" charset="0"/>
                <a:ea typeface="Courier New" pitchFamily="34" charset="-122"/>
                <a:cs typeface="Courier New" pitchFamily="34" charset="-120"/>
              </a:rPr>
              <a:t>  # Step 3: Back-translate English → Indic</a:t>
            </a:r>
            <a:endParaRPr lang="en-US" sz="900" dirty="0"/>
          </a:p>
          <a:p>
            <a:pPr indent="0" marL="0">
              <a:buNone/>
            </a:pPr>
            <a:r>
              <a:rPr lang="en-US" sz="900" dirty="0">
                <a:solidFill>
                  <a:srgbClr val="E5E7EB"/>
                </a:solidFill>
                <a:latin typeface="Courier New" pitchFamily="34" charset="0"/>
                <a:ea typeface="Courier New" pitchFamily="34" charset="-122"/>
                <a:cs typeface="Courier New" pitchFamily="34" charset="-120"/>
              </a:rPr>
              <a:t>  return GoogleTranslator(</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source='en', target=src</a:t>
            </a:r>
            <a:endParaRPr lang="en-US" sz="900" dirty="0"/>
          </a:p>
          <a:p>
            <a:pPr indent="0" marL="0">
              <a:buNone/>
            </a:pPr>
            <a:r>
              <a:rPr lang="en-US" sz="900" dirty="0">
                <a:solidFill>
                  <a:srgbClr val="7DD3FC"/>
                </a:solidFill>
                <a:latin typeface="Courier New" pitchFamily="34" charset="0"/>
                <a:ea typeface="Courier New" pitchFamily="34" charset="-122"/>
                <a:cs typeface="Courier New" pitchFamily="34" charset="-120"/>
              </a:rPr>
              <a:t>  ).translate(en_resp)</a:t>
            </a:r>
            <a:endParaRPr lang="en-US" sz="900" dirty="0"/>
          </a:p>
        </p:txBody>
      </p:sp>
      <p:sp>
        <p:nvSpPr>
          <p:cNvPr id="17" name="Shape 13"/>
          <p:cNvSpPr/>
          <p:nvPr/>
        </p:nvSpPr>
        <p:spPr>
          <a:xfrm>
            <a:off x="347472" y="4901184"/>
            <a:ext cx="8449056" cy="274320"/>
          </a:xfrm>
          <a:prstGeom prst="rect">
            <a:avLst/>
          </a:prstGeom>
          <a:solidFill>
            <a:srgbClr val="F0F5FF"/>
          </a:solidFill>
          <a:ln/>
        </p:spPr>
      </p:sp>
      <p:sp>
        <p:nvSpPr>
          <p:cNvPr id="18" name="Text 14"/>
          <p:cNvSpPr/>
          <p:nvPr/>
        </p:nvSpPr>
        <p:spPr>
          <a:xfrm>
            <a:off x="347472" y="4910328"/>
            <a:ext cx="8449056"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GitHub: github.com/Levixon10/SLMS_IndicLanguages_SOP  |  Colab Notebook linked in references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Results — What Worked Well</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Strengths of the translation-based pivoting approach</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4279392"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4279392" cy="64008"/>
          </a:xfrm>
          <a:prstGeom prst="rect">
            <a:avLst/>
          </a:prstGeom>
          <a:solidFill>
            <a:srgbClr val="10B981"/>
          </a:solidFill>
          <a:ln/>
        </p:spPr>
      </p:sp>
      <p:sp>
        <p:nvSpPr>
          <p:cNvPr id="8" name="Shape 6"/>
          <p:cNvSpPr/>
          <p:nvPr/>
        </p:nvSpPr>
        <p:spPr>
          <a:xfrm>
            <a:off x="475488" y="1316736"/>
            <a:ext cx="475488" cy="475488"/>
          </a:xfrm>
          <a:prstGeom prst="ellipse">
            <a:avLst/>
          </a:prstGeom>
          <a:solidFill>
            <a:srgbClr val="10B981"/>
          </a:solidFill>
          <a:ln/>
        </p:spPr>
      </p:sp>
      <p:pic>
        <p:nvPicPr>
          <p:cNvPr id="9" name="Image 0" descr="preencoded.png">    </p:cNvPr>
          <p:cNvPicPr>
            <a:picLocks noChangeAspect="1"/>
          </p:cNvPicPr>
          <p:nvPr/>
        </p:nvPicPr>
        <p:blipFill>
          <a:blip r:embed="rId1"/>
          <a:stretch>
            <a:fillRect/>
          </a:stretch>
        </p:blipFill>
        <p:spPr>
          <a:xfrm>
            <a:off x="502920" y="1344168"/>
            <a:ext cx="420624" cy="420624"/>
          </a:xfrm>
          <a:prstGeom prst="rect">
            <a:avLst/>
          </a:prstGeom>
        </p:spPr>
      </p:pic>
      <p:sp>
        <p:nvSpPr>
          <p:cNvPr id="10" name="Text 7"/>
          <p:cNvSpPr/>
          <p:nvPr/>
        </p:nvSpPr>
        <p:spPr>
          <a:xfrm>
            <a:off x="1060704" y="1335024"/>
            <a:ext cx="3474720" cy="402336"/>
          </a:xfrm>
          <a:prstGeom prst="rect">
            <a:avLst/>
          </a:prstGeom>
          <a:noFill/>
          <a:ln/>
        </p:spPr>
        <p:txBody>
          <a:bodyPr wrap="square" lIns="0" tIns="0" rIns="0" bIns="0" rtlCol="0" anchor="ctr"/>
          <a:lstStyle/>
          <a:p>
            <a:pPr indent="0" marL="0">
              <a:buNone/>
            </a:pPr>
            <a:r>
              <a:rPr lang="en-US" sz="1300" b="1" dirty="0">
                <a:solidFill>
                  <a:srgbClr val="0D1B3E"/>
                </a:solidFill>
                <a:latin typeface="Georgia" pitchFamily="34" charset="0"/>
                <a:ea typeface="Georgia" pitchFamily="34" charset="-122"/>
                <a:cs typeface="Georgia" pitchFamily="34" charset="-120"/>
              </a:rPr>
              <a:t>Coherent Indic Responses</a:t>
            </a:r>
            <a:endParaRPr lang="en-US" sz="1300" dirty="0"/>
          </a:p>
        </p:txBody>
      </p:sp>
      <p:sp>
        <p:nvSpPr>
          <p:cNvPr id="11" name="Text 8"/>
          <p:cNvSpPr/>
          <p:nvPr/>
        </p:nvSpPr>
        <p:spPr>
          <a:xfrm>
            <a:off x="475488" y="1847088"/>
            <a:ext cx="4041648" cy="80467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 pipeline produces grammatically fluent Bengali, Odia, and Gujarati text — significantly better than direct inference with an unadapted LLM.</a:t>
            </a:r>
            <a:endParaRPr lang="en-US" sz="1050" dirty="0"/>
          </a:p>
        </p:txBody>
      </p:sp>
      <p:sp>
        <p:nvSpPr>
          <p:cNvPr id="12" name="Shape 9"/>
          <p:cNvSpPr/>
          <p:nvPr/>
        </p:nvSpPr>
        <p:spPr>
          <a:xfrm>
            <a:off x="4736592" y="1115568"/>
            <a:ext cx="4279392"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3" name="Shape 10"/>
          <p:cNvSpPr/>
          <p:nvPr/>
        </p:nvSpPr>
        <p:spPr>
          <a:xfrm>
            <a:off x="4736592" y="1115568"/>
            <a:ext cx="4279392" cy="64008"/>
          </a:xfrm>
          <a:prstGeom prst="rect">
            <a:avLst/>
          </a:prstGeom>
          <a:solidFill>
            <a:srgbClr val="10B981"/>
          </a:solidFill>
          <a:ln/>
        </p:spPr>
      </p:sp>
      <p:sp>
        <p:nvSpPr>
          <p:cNvPr id="14" name="Shape 11"/>
          <p:cNvSpPr/>
          <p:nvPr/>
        </p:nvSpPr>
        <p:spPr>
          <a:xfrm>
            <a:off x="4864608" y="1316736"/>
            <a:ext cx="475488" cy="475488"/>
          </a:xfrm>
          <a:prstGeom prst="ellipse">
            <a:avLst/>
          </a:prstGeom>
          <a:solidFill>
            <a:srgbClr val="10B981"/>
          </a:solidFill>
          <a:ln/>
        </p:spPr>
      </p:sp>
      <p:pic>
        <p:nvPicPr>
          <p:cNvPr id="15" name="Image 1" descr="preencoded.png">    </p:cNvPr>
          <p:cNvPicPr>
            <a:picLocks noChangeAspect="1"/>
          </p:cNvPicPr>
          <p:nvPr/>
        </p:nvPicPr>
        <p:blipFill>
          <a:blip r:embed="rId2"/>
          <a:stretch>
            <a:fillRect/>
          </a:stretch>
        </p:blipFill>
        <p:spPr>
          <a:xfrm>
            <a:off x="4892040" y="1344168"/>
            <a:ext cx="420624" cy="420624"/>
          </a:xfrm>
          <a:prstGeom prst="rect">
            <a:avLst/>
          </a:prstGeom>
        </p:spPr>
      </p:pic>
      <p:sp>
        <p:nvSpPr>
          <p:cNvPr id="16" name="Text 12"/>
          <p:cNvSpPr/>
          <p:nvPr/>
        </p:nvSpPr>
        <p:spPr>
          <a:xfrm>
            <a:off x="5449824" y="1335024"/>
            <a:ext cx="3474720" cy="402336"/>
          </a:xfrm>
          <a:prstGeom prst="rect">
            <a:avLst/>
          </a:prstGeom>
          <a:noFill/>
          <a:ln/>
        </p:spPr>
        <p:txBody>
          <a:bodyPr wrap="square" lIns="0" tIns="0" rIns="0" bIns="0" rtlCol="0" anchor="ctr"/>
          <a:lstStyle/>
          <a:p>
            <a:pPr indent="0" marL="0">
              <a:buNone/>
            </a:pPr>
            <a:r>
              <a:rPr lang="en-US" sz="1300" b="1" dirty="0">
                <a:solidFill>
                  <a:srgbClr val="0D1B3E"/>
                </a:solidFill>
                <a:latin typeface="Georgia" pitchFamily="34" charset="0"/>
                <a:ea typeface="Georgia" pitchFamily="34" charset="-122"/>
                <a:cs typeface="Georgia" pitchFamily="34" charset="-120"/>
              </a:rPr>
              <a:t>Zero Indic Training Data</a:t>
            </a:r>
            <a:endParaRPr lang="en-US" sz="1300" dirty="0"/>
          </a:p>
        </p:txBody>
      </p:sp>
      <p:sp>
        <p:nvSpPr>
          <p:cNvPr id="17" name="Text 13"/>
          <p:cNvSpPr/>
          <p:nvPr/>
        </p:nvSpPr>
        <p:spPr>
          <a:xfrm>
            <a:off x="4864608" y="1847088"/>
            <a:ext cx="4041648" cy="80467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 entire pipeline runs on off-the-shelf models. No Indic data needed for the LLM itself — only the translation system handles the language switch.</a:t>
            </a:r>
            <a:endParaRPr lang="en-US" sz="1050" dirty="0"/>
          </a:p>
        </p:txBody>
      </p:sp>
      <p:sp>
        <p:nvSpPr>
          <p:cNvPr id="18" name="Shape 14"/>
          <p:cNvSpPr/>
          <p:nvPr/>
        </p:nvSpPr>
        <p:spPr>
          <a:xfrm>
            <a:off x="347472" y="2907792"/>
            <a:ext cx="4279392"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9" name="Shape 15"/>
          <p:cNvSpPr/>
          <p:nvPr/>
        </p:nvSpPr>
        <p:spPr>
          <a:xfrm>
            <a:off x="347472" y="2907792"/>
            <a:ext cx="4279392" cy="64008"/>
          </a:xfrm>
          <a:prstGeom prst="rect">
            <a:avLst/>
          </a:prstGeom>
          <a:solidFill>
            <a:srgbClr val="10B981"/>
          </a:solidFill>
          <a:ln/>
        </p:spPr>
      </p:sp>
      <p:sp>
        <p:nvSpPr>
          <p:cNvPr id="20" name="Shape 16"/>
          <p:cNvSpPr/>
          <p:nvPr/>
        </p:nvSpPr>
        <p:spPr>
          <a:xfrm>
            <a:off x="475488" y="3108960"/>
            <a:ext cx="475488" cy="475488"/>
          </a:xfrm>
          <a:prstGeom prst="ellipse">
            <a:avLst/>
          </a:prstGeom>
          <a:solidFill>
            <a:srgbClr val="10B981"/>
          </a:solidFill>
          <a:ln/>
        </p:spPr>
      </p:sp>
      <p:pic>
        <p:nvPicPr>
          <p:cNvPr id="21" name="Image 2" descr="preencoded.png">    </p:cNvPr>
          <p:cNvPicPr>
            <a:picLocks noChangeAspect="1"/>
          </p:cNvPicPr>
          <p:nvPr/>
        </p:nvPicPr>
        <p:blipFill>
          <a:blip r:embed="rId3"/>
          <a:stretch>
            <a:fillRect/>
          </a:stretch>
        </p:blipFill>
        <p:spPr>
          <a:xfrm>
            <a:off x="502920" y="3136392"/>
            <a:ext cx="420624" cy="420624"/>
          </a:xfrm>
          <a:prstGeom prst="rect">
            <a:avLst/>
          </a:prstGeom>
        </p:spPr>
      </p:pic>
      <p:sp>
        <p:nvSpPr>
          <p:cNvPr id="22" name="Text 17"/>
          <p:cNvSpPr/>
          <p:nvPr/>
        </p:nvSpPr>
        <p:spPr>
          <a:xfrm>
            <a:off x="1060704" y="3127248"/>
            <a:ext cx="3474720" cy="402336"/>
          </a:xfrm>
          <a:prstGeom prst="rect">
            <a:avLst/>
          </a:prstGeom>
          <a:noFill/>
          <a:ln/>
        </p:spPr>
        <p:txBody>
          <a:bodyPr wrap="square" lIns="0" tIns="0" rIns="0" bIns="0" rtlCol="0" anchor="ctr"/>
          <a:lstStyle/>
          <a:p>
            <a:pPr indent="0" marL="0">
              <a:buNone/>
            </a:pPr>
            <a:r>
              <a:rPr lang="en-US" sz="1300" b="1" dirty="0">
                <a:solidFill>
                  <a:srgbClr val="0D1B3E"/>
                </a:solidFill>
                <a:latin typeface="Georgia" pitchFamily="34" charset="0"/>
                <a:ea typeface="Georgia" pitchFamily="34" charset="-122"/>
                <a:cs typeface="Georgia" pitchFamily="34" charset="-120"/>
              </a:rPr>
              <a:t>Modular &amp; Swappable</a:t>
            </a:r>
            <a:endParaRPr lang="en-US" sz="1300" dirty="0"/>
          </a:p>
        </p:txBody>
      </p:sp>
      <p:sp>
        <p:nvSpPr>
          <p:cNvPr id="23" name="Text 18"/>
          <p:cNvSpPr/>
          <p:nvPr/>
        </p:nvSpPr>
        <p:spPr>
          <a:xfrm>
            <a:off x="475488" y="3639312"/>
            <a:ext cx="4041648" cy="80467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Replacing TinyLlama with Gemma requires changing one line of code. Adding a new language (e.g., Tamil) requires only a new language code — no retraining.</a:t>
            </a:r>
            <a:endParaRPr lang="en-US" sz="1050" dirty="0"/>
          </a:p>
        </p:txBody>
      </p:sp>
      <p:sp>
        <p:nvSpPr>
          <p:cNvPr id="24" name="Shape 19"/>
          <p:cNvSpPr/>
          <p:nvPr/>
        </p:nvSpPr>
        <p:spPr>
          <a:xfrm>
            <a:off x="4736592" y="2907792"/>
            <a:ext cx="4279392"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25" name="Shape 20"/>
          <p:cNvSpPr/>
          <p:nvPr/>
        </p:nvSpPr>
        <p:spPr>
          <a:xfrm>
            <a:off x="4736592" y="2907792"/>
            <a:ext cx="4279392" cy="64008"/>
          </a:xfrm>
          <a:prstGeom prst="rect">
            <a:avLst/>
          </a:prstGeom>
          <a:solidFill>
            <a:srgbClr val="10B981"/>
          </a:solidFill>
          <a:ln/>
        </p:spPr>
      </p:sp>
      <p:sp>
        <p:nvSpPr>
          <p:cNvPr id="26" name="Shape 21"/>
          <p:cNvSpPr/>
          <p:nvPr/>
        </p:nvSpPr>
        <p:spPr>
          <a:xfrm>
            <a:off x="4864608" y="3108960"/>
            <a:ext cx="475488" cy="475488"/>
          </a:xfrm>
          <a:prstGeom prst="ellipse">
            <a:avLst/>
          </a:prstGeom>
          <a:solidFill>
            <a:srgbClr val="10B981"/>
          </a:solidFill>
          <a:ln/>
        </p:spPr>
      </p:sp>
      <p:pic>
        <p:nvPicPr>
          <p:cNvPr id="27" name="Image 3" descr="preencoded.png">    </p:cNvPr>
          <p:cNvPicPr>
            <a:picLocks noChangeAspect="1"/>
          </p:cNvPicPr>
          <p:nvPr/>
        </p:nvPicPr>
        <p:blipFill>
          <a:blip r:embed="rId4"/>
          <a:stretch>
            <a:fillRect/>
          </a:stretch>
        </p:blipFill>
        <p:spPr>
          <a:xfrm>
            <a:off x="4892040" y="3136392"/>
            <a:ext cx="420624" cy="420624"/>
          </a:xfrm>
          <a:prstGeom prst="rect">
            <a:avLst/>
          </a:prstGeom>
        </p:spPr>
      </p:pic>
      <p:sp>
        <p:nvSpPr>
          <p:cNvPr id="28" name="Text 22"/>
          <p:cNvSpPr/>
          <p:nvPr/>
        </p:nvSpPr>
        <p:spPr>
          <a:xfrm>
            <a:off x="5449824" y="3127248"/>
            <a:ext cx="3474720" cy="402336"/>
          </a:xfrm>
          <a:prstGeom prst="rect">
            <a:avLst/>
          </a:prstGeom>
          <a:noFill/>
          <a:ln/>
        </p:spPr>
        <p:txBody>
          <a:bodyPr wrap="square" lIns="0" tIns="0" rIns="0" bIns="0" rtlCol="0" anchor="ctr"/>
          <a:lstStyle/>
          <a:p>
            <a:pPr indent="0" marL="0">
              <a:buNone/>
            </a:pPr>
            <a:r>
              <a:rPr lang="en-US" sz="1300" b="1" dirty="0">
                <a:solidFill>
                  <a:srgbClr val="0D1B3E"/>
                </a:solidFill>
                <a:latin typeface="Georgia" pitchFamily="34" charset="0"/>
                <a:ea typeface="Georgia" pitchFamily="34" charset="-122"/>
                <a:cs typeface="Georgia" pitchFamily="34" charset="-120"/>
              </a:rPr>
              <a:t>Strong Research Baseline</a:t>
            </a:r>
            <a:endParaRPr lang="en-US" sz="1300" dirty="0"/>
          </a:p>
        </p:txBody>
      </p:sp>
      <p:sp>
        <p:nvSpPr>
          <p:cNvPr id="29" name="Text 23"/>
          <p:cNvSpPr/>
          <p:nvPr/>
        </p:nvSpPr>
        <p:spPr>
          <a:xfrm>
            <a:off x="4864608" y="3639312"/>
            <a:ext cx="4041648" cy="80467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Establishes a clear quantitative baseline. Any native Indic SLM we train can be directly compared against this pivot approach in terms of quality and latency.</a:t>
            </a:r>
            <a:endParaRPr lang="en-US" sz="1050" dirty="0"/>
          </a:p>
        </p:txBody>
      </p:sp>
      <p:sp>
        <p:nvSpPr>
          <p:cNvPr id="30" name="Shape 24"/>
          <p:cNvSpPr/>
          <p:nvPr/>
        </p:nvSpPr>
        <p:spPr>
          <a:xfrm>
            <a:off x="347472" y="4818888"/>
            <a:ext cx="8449056" cy="347472"/>
          </a:xfrm>
          <a:prstGeom prst="rect">
            <a:avLst/>
          </a:prstGeom>
          <a:solidFill>
            <a:srgbClr val="10B981"/>
          </a:solidFill>
          <a:ln/>
        </p:spPr>
      </p:sp>
      <p:pic>
        <p:nvPicPr>
          <p:cNvPr id="31" name="Image 4" descr="preencoded.png">    </p:cNvPr>
          <p:cNvPicPr>
            <a:picLocks noChangeAspect="1"/>
          </p:cNvPicPr>
          <p:nvPr/>
        </p:nvPicPr>
        <p:blipFill>
          <a:blip r:embed="rId5"/>
          <a:stretch>
            <a:fillRect/>
          </a:stretch>
        </p:blipFill>
        <p:spPr>
          <a:xfrm>
            <a:off x="475488" y="4892040"/>
            <a:ext cx="219456" cy="219456"/>
          </a:xfrm>
          <a:prstGeom prst="rect">
            <a:avLst/>
          </a:prstGeom>
        </p:spPr>
      </p:pic>
      <p:sp>
        <p:nvSpPr>
          <p:cNvPr id="32" name="Text 25"/>
          <p:cNvSpPr/>
          <p:nvPr/>
        </p:nvSpPr>
        <p:spPr>
          <a:xfrm>
            <a:off x="768096" y="4837176"/>
            <a:ext cx="7936992" cy="31089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Key finding: The pivot approach validates that LLM English capability transfers to Indic languages via translation — confirming the research motivation.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411480" y="146304"/>
            <a:ext cx="8321040" cy="530352"/>
          </a:xfrm>
          <a:prstGeom prst="rect">
            <a:avLst/>
          </a:prstGeom>
          <a:noFill/>
          <a:ln/>
        </p:spPr>
        <p:txBody>
          <a:bodyPr wrap="square" lIns="0" tIns="0" rIns="0" bIns="0" rtlCol="0" anchor="ctr"/>
          <a:lstStyle/>
          <a:p>
            <a:pPr indent="0" marL="0">
              <a:buNone/>
            </a:pPr>
            <a:r>
              <a:rPr lang="en-US" sz="2600" b="1" dirty="0">
                <a:solidFill>
                  <a:srgbClr val="0D1B3E"/>
                </a:solidFill>
                <a:latin typeface="Georgia" pitchFamily="34" charset="0"/>
                <a:ea typeface="Georgia" pitchFamily="34" charset="-122"/>
                <a:cs typeface="Georgia" pitchFamily="34" charset="-120"/>
              </a:rPr>
              <a:t>Results — Limitations &amp; Analysis</a:t>
            </a:r>
            <a:endParaRPr lang="en-US" sz="2600" dirty="0"/>
          </a:p>
        </p:txBody>
      </p:sp>
      <p:sp>
        <p:nvSpPr>
          <p:cNvPr id="4" name="Text 2"/>
          <p:cNvSpPr/>
          <p:nvPr/>
        </p:nvSpPr>
        <p:spPr>
          <a:xfrm>
            <a:off x="411480" y="676656"/>
            <a:ext cx="832104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Understanding the trade-offs of the pivoting pipeline</a:t>
            </a:r>
            <a:endParaRPr lang="en-US" sz="1100" dirty="0"/>
          </a:p>
        </p:txBody>
      </p:sp>
      <p:sp>
        <p:nvSpPr>
          <p:cNvPr id="5" name="Shape 3"/>
          <p:cNvSpPr/>
          <p:nvPr/>
        </p:nvSpPr>
        <p:spPr>
          <a:xfrm>
            <a:off x="411480" y="969264"/>
            <a:ext cx="8321040" cy="22860"/>
          </a:xfrm>
          <a:prstGeom prst="rect">
            <a:avLst/>
          </a:prstGeom>
          <a:solidFill>
            <a:srgbClr val="E2E8F0"/>
          </a:solidFill>
          <a:ln/>
        </p:spPr>
      </p:sp>
      <p:sp>
        <p:nvSpPr>
          <p:cNvPr id="6" name="Shape 4"/>
          <p:cNvSpPr/>
          <p:nvPr/>
        </p:nvSpPr>
        <p:spPr>
          <a:xfrm>
            <a:off x="347472" y="1115568"/>
            <a:ext cx="4279392"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347472" y="1115568"/>
            <a:ext cx="4279392" cy="64008"/>
          </a:xfrm>
          <a:prstGeom prst="rect">
            <a:avLst/>
          </a:prstGeom>
          <a:solidFill>
            <a:srgbClr val="EF4444"/>
          </a:solidFill>
          <a:ln/>
        </p:spPr>
      </p:sp>
      <p:sp>
        <p:nvSpPr>
          <p:cNvPr id="8" name="Shape 6"/>
          <p:cNvSpPr/>
          <p:nvPr/>
        </p:nvSpPr>
        <p:spPr>
          <a:xfrm>
            <a:off x="475488" y="1316736"/>
            <a:ext cx="475488" cy="475488"/>
          </a:xfrm>
          <a:prstGeom prst="ellipse">
            <a:avLst/>
          </a:prstGeom>
          <a:solidFill>
            <a:srgbClr val="EF4444"/>
          </a:solidFill>
          <a:ln/>
        </p:spPr>
      </p:sp>
      <p:pic>
        <p:nvPicPr>
          <p:cNvPr id="9" name="Image 0" descr="preencoded.png">    </p:cNvPr>
          <p:cNvPicPr>
            <a:picLocks noChangeAspect="1"/>
          </p:cNvPicPr>
          <p:nvPr/>
        </p:nvPicPr>
        <p:blipFill>
          <a:blip r:embed="rId1"/>
          <a:stretch>
            <a:fillRect/>
          </a:stretch>
        </p:blipFill>
        <p:spPr>
          <a:xfrm>
            <a:off x="502920" y="1344168"/>
            <a:ext cx="420624" cy="420624"/>
          </a:xfrm>
          <a:prstGeom prst="rect">
            <a:avLst/>
          </a:prstGeom>
        </p:spPr>
      </p:pic>
      <p:sp>
        <p:nvSpPr>
          <p:cNvPr id="10" name="Text 7"/>
          <p:cNvSpPr/>
          <p:nvPr/>
        </p:nvSpPr>
        <p:spPr>
          <a:xfrm>
            <a:off x="1060704" y="1316736"/>
            <a:ext cx="2724912" cy="402336"/>
          </a:xfrm>
          <a:prstGeom prst="rect">
            <a:avLst/>
          </a:prstGeom>
          <a:noFill/>
          <a:ln/>
        </p:spPr>
        <p:txBody>
          <a:bodyPr wrap="square" lIns="0" tIns="0" rIns="0" bIns="0" rtlCol="0" anchor="ctr"/>
          <a:lstStyle/>
          <a:p>
            <a:pPr indent="0" marL="0">
              <a:buNone/>
            </a:pPr>
            <a:r>
              <a:rPr lang="en-US" sz="1250" b="1" dirty="0">
                <a:solidFill>
                  <a:srgbClr val="0D1B3E"/>
                </a:solidFill>
                <a:latin typeface="Georgia" pitchFamily="34" charset="0"/>
                <a:ea typeface="Georgia" pitchFamily="34" charset="-122"/>
                <a:cs typeface="Georgia" pitchFamily="34" charset="-120"/>
              </a:rPr>
              <a:t>Latency Overhead</a:t>
            </a:r>
            <a:endParaRPr lang="en-US" sz="1250" dirty="0"/>
          </a:p>
        </p:txBody>
      </p:sp>
      <p:sp>
        <p:nvSpPr>
          <p:cNvPr id="11" name="Shape 8"/>
          <p:cNvSpPr/>
          <p:nvPr/>
        </p:nvSpPr>
        <p:spPr>
          <a:xfrm>
            <a:off x="3858768" y="1335024"/>
            <a:ext cx="676656" cy="256032"/>
          </a:xfrm>
          <a:prstGeom prst="rect">
            <a:avLst/>
          </a:prstGeom>
          <a:solidFill>
            <a:srgbClr val="EF4444"/>
          </a:solidFill>
          <a:ln w="12700">
            <a:solidFill>
              <a:srgbClr val="EF4444"/>
            </a:solidFill>
            <a:prstDash val="solid"/>
          </a:ln>
        </p:spPr>
      </p:sp>
      <p:sp>
        <p:nvSpPr>
          <p:cNvPr id="12" name="Text 9"/>
          <p:cNvSpPr/>
          <p:nvPr/>
        </p:nvSpPr>
        <p:spPr>
          <a:xfrm>
            <a:off x="3858768" y="1335024"/>
            <a:ext cx="676656"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3" name="Text 10"/>
          <p:cNvSpPr/>
          <p:nvPr/>
        </p:nvSpPr>
        <p:spPr>
          <a:xfrm>
            <a:off x="475488" y="1828800"/>
            <a:ext cx="4041648" cy="84124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Each request requires 2 translation API calls + LLM inference = 2–3× higher latency than direct inference. Not suitable for real-time conversational applications.</a:t>
            </a:r>
            <a:endParaRPr lang="en-US" sz="1050" dirty="0"/>
          </a:p>
        </p:txBody>
      </p:sp>
      <p:sp>
        <p:nvSpPr>
          <p:cNvPr id="14" name="Shape 11"/>
          <p:cNvSpPr/>
          <p:nvPr/>
        </p:nvSpPr>
        <p:spPr>
          <a:xfrm>
            <a:off x="4736592" y="1115568"/>
            <a:ext cx="4279392"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5" name="Shape 12"/>
          <p:cNvSpPr/>
          <p:nvPr/>
        </p:nvSpPr>
        <p:spPr>
          <a:xfrm>
            <a:off x="4736592" y="1115568"/>
            <a:ext cx="4279392" cy="64008"/>
          </a:xfrm>
          <a:prstGeom prst="rect">
            <a:avLst/>
          </a:prstGeom>
          <a:solidFill>
            <a:srgbClr val="EF4444"/>
          </a:solidFill>
          <a:ln/>
        </p:spPr>
      </p:sp>
      <p:sp>
        <p:nvSpPr>
          <p:cNvPr id="16" name="Shape 13"/>
          <p:cNvSpPr/>
          <p:nvPr/>
        </p:nvSpPr>
        <p:spPr>
          <a:xfrm>
            <a:off x="4864608" y="1316736"/>
            <a:ext cx="475488" cy="475488"/>
          </a:xfrm>
          <a:prstGeom prst="ellipse">
            <a:avLst/>
          </a:prstGeom>
          <a:solidFill>
            <a:srgbClr val="EF4444"/>
          </a:solidFill>
          <a:ln/>
        </p:spPr>
      </p:sp>
      <p:pic>
        <p:nvPicPr>
          <p:cNvPr id="17" name="Image 1" descr="preencoded.png">    </p:cNvPr>
          <p:cNvPicPr>
            <a:picLocks noChangeAspect="1"/>
          </p:cNvPicPr>
          <p:nvPr/>
        </p:nvPicPr>
        <p:blipFill>
          <a:blip r:embed="rId2"/>
          <a:stretch>
            <a:fillRect/>
          </a:stretch>
        </p:blipFill>
        <p:spPr>
          <a:xfrm>
            <a:off x="4892040" y="1344168"/>
            <a:ext cx="420624" cy="420624"/>
          </a:xfrm>
          <a:prstGeom prst="rect">
            <a:avLst/>
          </a:prstGeom>
        </p:spPr>
      </p:pic>
      <p:sp>
        <p:nvSpPr>
          <p:cNvPr id="18" name="Text 14"/>
          <p:cNvSpPr/>
          <p:nvPr/>
        </p:nvSpPr>
        <p:spPr>
          <a:xfrm>
            <a:off x="5449824" y="1316736"/>
            <a:ext cx="2724912" cy="402336"/>
          </a:xfrm>
          <a:prstGeom prst="rect">
            <a:avLst/>
          </a:prstGeom>
          <a:noFill/>
          <a:ln/>
        </p:spPr>
        <p:txBody>
          <a:bodyPr wrap="square" lIns="0" tIns="0" rIns="0" bIns="0" rtlCol="0" anchor="ctr"/>
          <a:lstStyle/>
          <a:p>
            <a:pPr indent="0" marL="0">
              <a:buNone/>
            </a:pPr>
            <a:r>
              <a:rPr lang="en-US" sz="1250" b="1" dirty="0">
                <a:solidFill>
                  <a:srgbClr val="0D1B3E"/>
                </a:solidFill>
                <a:latin typeface="Georgia" pitchFamily="34" charset="0"/>
                <a:ea typeface="Georgia" pitchFamily="34" charset="-122"/>
                <a:cs typeface="Georgia" pitchFamily="34" charset="-120"/>
              </a:rPr>
              <a:t>Translation Error Propagation</a:t>
            </a:r>
            <a:endParaRPr lang="en-US" sz="1250" dirty="0"/>
          </a:p>
        </p:txBody>
      </p:sp>
      <p:sp>
        <p:nvSpPr>
          <p:cNvPr id="19" name="Shape 15"/>
          <p:cNvSpPr/>
          <p:nvPr/>
        </p:nvSpPr>
        <p:spPr>
          <a:xfrm>
            <a:off x="8247888" y="1335024"/>
            <a:ext cx="676656" cy="256032"/>
          </a:xfrm>
          <a:prstGeom prst="rect">
            <a:avLst/>
          </a:prstGeom>
          <a:solidFill>
            <a:srgbClr val="EF4444"/>
          </a:solidFill>
          <a:ln w="12700">
            <a:solidFill>
              <a:srgbClr val="EF4444"/>
            </a:solidFill>
            <a:prstDash val="solid"/>
          </a:ln>
        </p:spPr>
      </p:sp>
      <p:sp>
        <p:nvSpPr>
          <p:cNvPr id="20" name="Text 16"/>
          <p:cNvSpPr/>
          <p:nvPr/>
        </p:nvSpPr>
        <p:spPr>
          <a:xfrm>
            <a:off x="8247888" y="1335024"/>
            <a:ext cx="676656"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1" name="Text 17"/>
          <p:cNvSpPr/>
          <p:nvPr/>
        </p:nvSpPr>
        <p:spPr>
          <a:xfrm>
            <a:off x="4864608" y="1828800"/>
            <a:ext cx="4041648" cy="84124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 poor translation in Step 1 gets amplified: the LLM responds to the wrong question, and back-translation can make the output worse. Error rates compound multiplicatively.</a:t>
            </a:r>
            <a:endParaRPr lang="en-US" sz="1050" dirty="0"/>
          </a:p>
        </p:txBody>
      </p:sp>
      <p:sp>
        <p:nvSpPr>
          <p:cNvPr id="22" name="Shape 18"/>
          <p:cNvSpPr/>
          <p:nvPr/>
        </p:nvSpPr>
        <p:spPr>
          <a:xfrm>
            <a:off x="347472" y="2907792"/>
            <a:ext cx="4279392"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23" name="Shape 19"/>
          <p:cNvSpPr/>
          <p:nvPr/>
        </p:nvSpPr>
        <p:spPr>
          <a:xfrm>
            <a:off x="347472" y="2907792"/>
            <a:ext cx="4279392" cy="64008"/>
          </a:xfrm>
          <a:prstGeom prst="rect">
            <a:avLst/>
          </a:prstGeom>
          <a:solidFill>
            <a:srgbClr val="F59E0B"/>
          </a:solidFill>
          <a:ln/>
        </p:spPr>
      </p:sp>
      <p:sp>
        <p:nvSpPr>
          <p:cNvPr id="24" name="Shape 20"/>
          <p:cNvSpPr/>
          <p:nvPr/>
        </p:nvSpPr>
        <p:spPr>
          <a:xfrm>
            <a:off x="475488" y="3108960"/>
            <a:ext cx="475488" cy="475488"/>
          </a:xfrm>
          <a:prstGeom prst="ellipse">
            <a:avLst/>
          </a:prstGeom>
          <a:solidFill>
            <a:srgbClr val="F59E0B"/>
          </a:solidFill>
          <a:ln/>
        </p:spPr>
      </p:sp>
      <p:pic>
        <p:nvPicPr>
          <p:cNvPr id="25" name="Image 2" descr="preencoded.png">    </p:cNvPr>
          <p:cNvPicPr>
            <a:picLocks noChangeAspect="1"/>
          </p:cNvPicPr>
          <p:nvPr/>
        </p:nvPicPr>
        <p:blipFill>
          <a:blip r:embed="rId3"/>
          <a:stretch>
            <a:fillRect/>
          </a:stretch>
        </p:blipFill>
        <p:spPr>
          <a:xfrm>
            <a:off x="502920" y="3136392"/>
            <a:ext cx="420624" cy="420624"/>
          </a:xfrm>
          <a:prstGeom prst="rect">
            <a:avLst/>
          </a:prstGeom>
        </p:spPr>
      </p:pic>
      <p:sp>
        <p:nvSpPr>
          <p:cNvPr id="26" name="Text 21"/>
          <p:cNvSpPr/>
          <p:nvPr/>
        </p:nvSpPr>
        <p:spPr>
          <a:xfrm>
            <a:off x="1060704" y="3108960"/>
            <a:ext cx="2724912" cy="402336"/>
          </a:xfrm>
          <a:prstGeom prst="rect">
            <a:avLst/>
          </a:prstGeom>
          <a:noFill/>
          <a:ln/>
        </p:spPr>
        <p:txBody>
          <a:bodyPr wrap="square" lIns="0" tIns="0" rIns="0" bIns="0" rtlCol="0" anchor="ctr"/>
          <a:lstStyle/>
          <a:p>
            <a:pPr indent="0" marL="0">
              <a:buNone/>
            </a:pPr>
            <a:r>
              <a:rPr lang="en-US" sz="1250" b="1" dirty="0">
                <a:solidFill>
                  <a:srgbClr val="0D1B3E"/>
                </a:solidFill>
                <a:latin typeface="Georgia" pitchFamily="34" charset="0"/>
                <a:ea typeface="Georgia" pitchFamily="34" charset="-122"/>
                <a:cs typeface="Georgia" pitchFamily="34" charset="-120"/>
              </a:rPr>
              <a:t>Cultural Nuance Loss</a:t>
            </a:r>
            <a:endParaRPr lang="en-US" sz="1250" dirty="0"/>
          </a:p>
        </p:txBody>
      </p:sp>
      <p:sp>
        <p:nvSpPr>
          <p:cNvPr id="27" name="Shape 22"/>
          <p:cNvSpPr/>
          <p:nvPr/>
        </p:nvSpPr>
        <p:spPr>
          <a:xfrm>
            <a:off x="3858768" y="3127248"/>
            <a:ext cx="676656" cy="256032"/>
          </a:xfrm>
          <a:prstGeom prst="rect">
            <a:avLst/>
          </a:prstGeom>
          <a:solidFill>
            <a:srgbClr val="F59E0B"/>
          </a:solidFill>
          <a:ln w="12700">
            <a:solidFill>
              <a:srgbClr val="F59E0B"/>
            </a:solidFill>
            <a:prstDash val="solid"/>
          </a:ln>
        </p:spPr>
      </p:sp>
      <p:sp>
        <p:nvSpPr>
          <p:cNvPr id="28" name="Text 23"/>
          <p:cNvSpPr/>
          <p:nvPr/>
        </p:nvSpPr>
        <p:spPr>
          <a:xfrm>
            <a:off x="3858768" y="3127248"/>
            <a:ext cx="676656"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29" name="Text 24"/>
          <p:cNvSpPr/>
          <p:nvPr/>
        </p:nvSpPr>
        <p:spPr>
          <a:xfrm>
            <a:off x="475488" y="3621024"/>
            <a:ext cx="4041648" cy="84124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Idiomatic Bengali expressions, proverbs, and culturally-specific language get flattened to literal English equivalents. The model loses cultural context in translation.</a:t>
            </a:r>
            <a:endParaRPr lang="en-US" sz="1050" dirty="0"/>
          </a:p>
        </p:txBody>
      </p:sp>
      <p:sp>
        <p:nvSpPr>
          <p:cNvPr id="30" name="Shape 25"/>
          <p:cNvSpPr/>
          <p:nvPr/>
        </p:nvSpPr>
        <p:spPr>
          <a:xfrm>
            <a:off x="4736592" y="2907792"/>
            <a:ext cx="4279392" cy="16642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31" name="Shape 26"/>
          <p:cNvSpPr/>
          <p:nvPr/>
        </p:nvSpPr>
        <p:spPr>
          <a:xfrm>
            <a:off x="4736592" y="2907792"/>
            <a:ext cx="4279392" cy="64008"/>
          </a:xfrm>
          <a:prstGeom prst="rect">
            <a:avLst/>
          </a:prstGeom>
          <a:solidFill>
            <a:srgbClr val="F59E0B"/>
          </a:solidFill>
          <a:ln/>
        </p:spPr>
      </p:sp>
      <p:sp>
        <p:nvSpPr>
          <p:cNvPr id="32" name="Shape 27"/>
          <p:cNvSpPr/>
          <p:nvPr/>
        </p:nvSpPr>
        <p:spPr>
          <a:xfrm>
            <a:off x="4864608" y="3108960"/>
            <a:ext cx="475488" cy="475488"/>
          </a:xfrm>
          <a:prstGeom prst="ellipse">
            <a:avLst/>
          </a:prstGeom>
          <a:solidFill>
            <a:srgbClr val="F59E0B"/>
          </a:solidFill>
          <a:ln/>
        </p:spPr>
      </p:sp>
      <p:pic>
        <p:nvPicPr>
          <p:cNvPr id="33" name="Image 3" descr="preencoded.png">    </p:cNvPr>
          <p:cNvPicPr>
            <a:picLocks noChangeAspect="1"/>
          </p:cNvPicPr>
          <p:nvPr/>
        </p:nvPicPr>
        <p:blipFill>
          <a:blip r:embed="rId4"/>
          <a:stretch>
            <a:fillRect/>
          </a:stretch>
        </p:blipFill>
        <p:spPr>
          <a:xfrm>
            <a:off x="4892040" y="3136392"/>
            <a:ext cx="420624" cy="420624"/>
          </a:xfrm>
          <a:prstGeom prst="rect">
            <a:avLst/>
          </a:prstGeom>
        </p:spPr>
      </p:pic>
      <p:sp>
        <p:nvSpPr>
          <p:cNvPr id="34" name="Text 28"/>
          <p:cNvSpPr/>
          <p:nvPr/>
        </p:nvSpPr>
        <p:spPr>
          <a:xfrm>
            <a:off x="5449824" y="3108960"/>
            <a:ext cx="2724912" cy="402336"/>
          </a:xfrm>
          <a:prstGeom prst="rect">
            <a:avLst/>
          </a:prstGeom>
          <a:noFill/>
          <a:ln/>
        </p:spPr>
        <p:txBody>
          <a:bodyPr wrap="square" lIns="0" tIns="0" rIns="0" bIns="0" rtlCol="0" anchor="ctr"/>
          <a:lstStyle/>
          <a:p>
            <a:pPr indent="0" marL="0">
              <a:buNone/>
            </a:pPr>
            <a:r>
              <a:rPr lang="en-US" sz="1250" b="1" dirty="0">
                <a:solidFill>
                  <a:srgbClr val="0D1B3E"/>
                </a:solidFill>
                <a:latin typeface="Georgia" pitchFamily="34" charset="0"/>
                <a:ea typeface="Georgia" pitchFamily="34" charset="-122"/>
                <a:cs typeface="Georgia" pitchFamily="34" charset="-120"/>
              </a:rPr>
              <a:t>API Dependency</a:t>
            </a:r>
            <a:endParaRPr lang="en-US" sz="1250" dirty="0"/>
          </a:p>
        </p:txBody>
      </p:sp>
      <p:sp>
        <p:nvSpPr>
          <p:cNvPr id="35" name="Shape 29"/>
          <p:cNvSpPr/>
          <p:nvPr/>
        </p:nvSpPr>
        <p:spPr>
          <a:xfrm>
            <a:off x="8247888" y="3127248"/>
            <a:ext cx="676656" cy="256032"/>
          </a:xfrm>
          <a:prstGeom prst="rect">
            <a:avLst/>
          </a:prstGeom>
          <a:solidFill>
            <a:srgbClr val="F59E0B"/>
          </a:solidFill>
          <a:ln w="12700">
            <a:solidFill>
              <a:srgbClr val="F59E0B"/>
            </a:solidFill>
            <a:prstDash val="solid"/>
          </a:ln>
        </p:spPr>
      </p:sp>
      <p:sp>
        <p:nvSpPr>
          <p:cNvPr id="36" name="Text 30"/>
          <p:cNvSpPr/>
          <p:nvPr/>
        </p:nvSpPr>
        <p:spPr>
          <a:xfrm>
            <a:off x="8247888" y="3127248"/>
            <a:ext cx="676656"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37" name="Text 31"/>
          <p:cNvSpPr/>
          <p:nvPr/>
        </p:nvSpPr>
        <p:spPr>
          <a:xfrm>
            <a:off x="4864608" y="3621024"/>
            <a:ext cx="4041648" cy="84124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 pipeline depends on external translation APIs (Google Translate). This creates dependency risk, rate limits, and potential privacy concerns for sensitive queries.</a:t>
            </a:r>
            <a:endParaRPr lang="en-US" sz="1050" dirty="0"/>
          </a:p>
        </p:txBody>
      </p:sp>
      <p:sp>
        <p:nvSpPr>
          <p:cNvPr id="38" name="Shape 32"/>
          <p:cNvSpPr/>
          <p:nvPr/>
        </p:nvSpPr>
        <p:spPr>
          <a:xfrm>
            <a:off x="347472" y="4818888"/>
            <a:ext cx="8449056" cy="347472"/>
          </a:xfrm>
          <a:prstGeom prst="rect">
            <a:avLst/>
          </a:prstGeom>
          <a:solidFill>
            <a:srgbClr val="0D1B3E"/>
          </a:solidFill>
          <a:ln/>
        </p:spPr>
      </p:sp>
      <p:pic>
        <p:nvPicPr>
          <p:cNvPr id="39" name="Image 4" descr="preencoded.png">    </p:cNvPr>
          <p:cNvPicPr>
            <a:picLocks noChangeAspect="1"/>
          </p:cNvPicPr>
          <p:nvPr/>
        </p:nvPicPr>
        <p:blipFill>
          <a:blip r:embed="rId5"/>
          <a:stretch>
            <a:fillRect/>
          </a:stretch>
        </p:blipFill>
        <p:spPr>
          <a:xfrm>
            <a:off x="475488" y="4892040"/>
            <a:ext cx="219456" cy="219456"/>
          </a:xfrm>
          <a:prstGeom prst="rect">
            <a:avLst/>
          </a:prstGeom>
        </p:spPr>
      </p:pic>
      <p:sp>
        <p:nvSpPr>
          <p:cNvPr id="40" name="Text 33"/>
          <p:cNvSpPr/>
          <p:nvPr/>
        </p:nvSpPr>
        <p:spPr>
          <a:xfrm>
            <a:off x="768096" y="4837176"/>
            <a:ext cx="7936992" cy="31089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These limitations directly motivate Phase 2: building a natively trained Indic SLM that eliminates the translation dependency entirely.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p:spPr>
      </p:sp>
      <p:sp>
        <p:nvSpPr>
          <p:cNvPr id="3" name="Text 1"/>
          <p:cNvSpPr/>
          <p:nvPr/>
        </p:nvSpPr>
        <p:spPr>
          <a:xfrm>
            <a:off x="438912" y="164592"/>
            <a:ext cx="8229600" cy="530352"/>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Conclusion &amp; Future Roadmap</a:t>
            </a:r>
            <a:endParaRPr lang="en-US" sz="2600" dirty="0"/>
          </a:p>
        </p:txBody>
      </p:sp>
      <p:sp>
        <p:nvSpPr>
          <p:cNvPr id="4" name="Shape 2"/>
          <p:cNvSpPr/>
          <p:nvPr/>
        </p:nvSpPr>
        <p:spPr>
          <a:xfrm>
            <a:off x="438912" y="749808"/>
            <a:ext cx="8229600" cy="22860"/>
          </a:xfrm>
          <a:prstGeom prst="rect">
            <a:avLst/>
          </a:prstGeom>
          <a:solidFill>
            <a:srgbClr val="3B82F6"/>
          </a:solidFill>
          <a:ln/>
        </p:spPr>
      </p:sp>
      <p:sp>
        <p:nvSpPr>
          <p:cNvPr id="5" name="Shape 3"/>
          <p:cNvSpPr/>
          <p:nvPr/>
        </p:nvSpPr>
        <p:spPr>
          <a:xfrm>
            <a:off x="347472" y="914400"/>
            <a:ext cx="3931920" cy="2606040"/>
          </a:xfrm>
          <a:prstGeom prst="rect">
            <a:avLst/>
          </a:prstGeom>
          <a:solidFill>
            <a:srgbClr val="1A3A6E"/>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347472" y="914400"/>
            <a:ext cx="3931920" cy="420624"/>
          </a:xfrm>
          <a:prstGeom prst="rect">
            <a:avLst/>
          </a:prstGeom>
          <a:solidFill>
            <a:srgbClr val="3B82F6"/>
          </a:solidFill>
          <a:ln/>
        </p:spPr>
      </p:sp>
      <p:pic>
        <p:nvPicPr>
          <p:cNvPr id="7" name="Image 0" descr="preencoded.png">    </p:cNvPr>
          <p:cNvPicPr>
            <a:picLocks noChangeAspect="1"/>
          </p:cNvPicPr>
          <p:nvPr/>
        </p:nvPicPr>
        <p:blipFill>
          <a:blip r:embed="rId1"/>
          <a:stretch>
            <a:fillRect/>
          </a:stretch>
        </p:blipFill>
        <p:spPr>
          <a:xfrm>
            <a:off x="457200" y="1005840"/>
            <a:ext cx="256032" cy="256032"/>
          </a:xfrm>
          <a:prstGeom prst="rect">
            <a:avLst/>
          </a:prstGeom>
        </p:spPr>
      </p:pic>
      <p:sp>
        <p:nvSpPr>
          <p:cNvPr id="8" name="Text 5"/>
          <p:cNvSpPr/>
          <p:nvPr/>
        </p:nvSpPr>
        <p:spPr>
          <a:xfrm>
            <a:off x="786384" y="1005840"/>
            <a:ext cx="3383280" cy="25603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What We Achieved</a:t>
            </a:r>
            <a:endParaRPr lang="en-US" sz="1300" dirty="0"/>
          </a:p>
        </p:txBody>
      </p:sp>
      <p:sp>
        <p:nvSpPr>
          <p:cNvPr id="9" name="Text 6"/>
          <p:cNvSpPr/>
          <p:nvPr/>
        </p:nvSpPr>
        <p:spPr>
          <a:xfrm>
            <a:off x="475488" y="1389888"/>
            <a:ext cx="3639312" cy="3017520"/>
          </a:xfrm>
          <a:prstGeom prst="rect">
            <a:avLst/>
          </a:prstGeom>
          <a:noFill/>
          <a:ln/>
        </p:spPr>
        <p:txBody>
          <a:bodyPr wrap="square" lIns="0" tIns="101600" rIns="101600" bIns="0" rtlCol="0" anchor="ctr"/>
          <a:lstStyle/>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Built and evaluated full translation-based pivot pipeline</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Validated cross-lingual inference: Bengali, Odia, Gujarati</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Designed complete 5-stage data pipeline</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Established clear performance baseline for native SLM</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Studied Transformers, attention &amp; model compression</a:t>
            </a:r>
            <a:endParaRPr lang="en-US" sz="1100" dirty="0"/>
          </a:p>
        </p:txBody>
      </p:sp>
      <p:sp>
        <p:nvSpPr>
          <p:cNvPr id="10" name="Shape 7"/>
          <p:cNvSpPr/>
          <p:nvPr/>
        </p:nvSpPr>
        <p:spPr>
          <a:xfrm>
            <a:off x="4645152" y="914400"/>
            <a:ext cx="4151376" cy="2606040"/>
          </a:xfrm>
          <a:prstGeom prst="rect">
            <a:avLst/>
          </a:prstGeom>
          <a:solidFill>
            <a:srgbClr val="1A3A6E"/>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1" name="Shape 8"/>
          <p:cNvSpPr/>
          <p:nvPr/>
        </p:nvSpPr>
        <p:spPr>
          <a:xfrm>
            <a:off x="4645152" y="914400"/>
            <a:ext cx="4151376" cy="420624"/>
          </a:xfrm>
          <a:prstGeom prst="rect">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4754880" y="1005840"/>
            <a:ext cx="256032" cy="256032"/>
          </a:xfrm>
          <a:prstGeom prst="rect">
            <a:avLst/>
          </a:prstGeom>
        </p:spPr>
      </p:pic>
      <p:sp>
        <p:nvSpPr>
          <p:cNvPr id="13" name="Text 9"/>
          <p:cNvSpPr/>
          <p:nvPr/>
        </p:nvSpPr>
        <p:spPr>
          <a:xfrm>
            <a:off x="5084064" y="1005840"/>
            <a:ext cx="3566160" cy="25603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Upcoming Phases</a:t>
            </a:r>
            <a:endParaRPr lang="en-US" sz="1300" dirty="0"/>
          </a:p>
        </p:txBody>
      </p:sp>
      <p:sp>
        <p:nvSpPr>
          <p:cNvPr id="14" name="Text 10"/>
          <p:cNvSpPr/>
          <p:nvPr/>
        </p:nvSpPr>
        <p:spPr>
          <a:xfrm>
            <a:off x="4773168" y="1389888"/>
            <a:ext cx="3895344" cy="3017520"/>
          </a:xfrm>
          <a:prstGeom prst="rect">
            <a:avLst/>
          </a:prstGeom>
          <a:noFill/>
          <a:ln/>
        </p:spPr>
        <p:txBody>
          <a:bodyPr wrap="square" lIns="0" tIns="101600" rIns="101600" bIns="0" rtlCol="0" anchor="ctr"/>
          <a:lstStyle/>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Curate &amp; clean Indic corpus (Bengali + Odia + Gujarati)</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Train custom 32K SentencePiece tokenizer</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Continued pretraining on 2–3B model via OLMo</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Instruction tuning: QA, translation, dialogues</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Benchmark on IndicGLUE &amp; multilingual QA tasks</a:t>
            </a:r>
            <a:endParaRPr lang="en-US" sz="1100" dirty="0"/>
          </a:p>
        </p:txBody>
      </p:sp>
      <p:sp>
        <p:nvSpPr>
          <p:cNvPr id="15" name="Shape 11"/>
          <p:cNvSpPr/>
          <p:nvPr/>
        </p:nvSpPr>
        <p:spPr>
          <a:xfrm>
            <a:off x="347472" y="3675888"/>
            <a:ext cx="8449056" cy="694944"/>
          </a:xfrm>
          <a:prstGeom prst="rect">
            <a:avLst/>
          </a:prstGeom>
          <a:solidFill>
            <a:srgbClr val="1E4D8C"/>
          </a:solidFill>
          <a:ln w="6350">
            <a:solidFill>
              <a:srgbClr val="E2E8F0"/>
            </a:solidFill>
            <a:prstDash val="solid"/>
          </a:ln>
          <a:effectLst>
            <a:outerShdw sx="100000" sy="100000" kx="0" ky="0" algn="bl" rotWithShape="0" blurRad="101600" dist="38100" dir="8100000">
              <a:srgbClr val="000000">
                <a:alpha val="15000"/>
              </a:srgbClr>
            </a:outerShdw>
          </a:effectLst>
        </p:spPr>
      </p:sp>
      <p:sp>
        <p:nvSpPr>
          <p:cNvPr id="16" name="Text 12"/>
          <p:cNvSpPr/>
          <p:nvPr/>
        </p:nvSpPr>
        <p:spPr>
          <a:xfrm>
            <a:off x="475488" y="3712464"/>
            <a:ext cx="8229600" cy="256032"/>
          </a:xfrm>
          <a:prstGeom prst="rect">
            <a:avLst/>
          </a:prstGeom>
          <a:noFill/>
          <a:ln/>
        </p:spPr>
        <p:txBody>
          <a:bodyPr wrap="square" lIns="0" tIns="0" rIns="0" bIns="0" rtlCol="0" anchor="ctr"/>
          <a:lstStyle/>
          <a:p>
            <a:pPr indent="0" marL="0">
              <a:buNone/>
            </a:pPr>
            <a:r>
              <a:rPr lang="en-US" sz="1000" b="1" dirty="0">
                <a:solidFill>
                  <a:srgbClr val="93C5FD"/>
                </a:solidFill>
                <a:latin typeface="Georgia" pitchFamily="34" charset="0"/>
                <a:ea typeface="Georgia" pitchFamily="34" charset="-122"/>
                <a:cs typeface="Georgia" pitchFamily="34" charset="-120"/>
              </a:rPr>
              <a:t>Project Roadmap</a:t>
            </a:r>
            <a:endParaRPr lang="en-US" sz="1000" dirty="0"/>
          </a:p>
        </p:txBody>
      </p:sp>
      <p:sp>
        <p:nvSpPr>
          <p:cNvPr id="17" name="Shape 13"/>
          <p:cNvSpPr/>
          <p:nvPr/>
        </p:nvSpPr>
        <p:spPr>
          <a:xfrm>
            <a:off x="438912" y="4005072"/>
            <a:ext cx="1316736" cy="274320"/>
          </a:xfrm>
          <a:prstGeom prst="rect">
            <a:avLst/>
          </a:prstGeom>
          <a:solidFill>
            <a:srgbClr val="10B981"/>
          </a:solidFill>
          <a:ln/>
        </p:spPr>
      </p:sp>
      <p:sp>
        <p:nvSpPr>
          <p:cNvPr id="18" name="Text 14"/>
          <p:cNvSpPr/>
          <p:nvPr/>
        </p:nvSpPr>
        <p:spPr>
          <a:xfrm>
            <a:off x="438912" y="4005072"/>
            <a:ext cx="1316736" cy="274320"/>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Data Collection</a:t>
            </a:r>
            <a:endParaRPr lang="en-US" sz="750" dirty="0"/>
          </a:p>
        </p:txBody>
      </p:sp>
      <p:sp>
        <p:nvSpPr>
          <p:cNvPr id="19" name="Shape 15"/>
          <p:cNvSpPr/>
          <p:nvPr/>
        </p:nvSpPr>
        <p:spPr>
          <a:xfrm>
            <a:off x="1755648" y="4105656"/>
            <a:ext cx="91440" cy="73152"/>
          </a:xfrm>
          <a:prstGeom prst="rect">
            <a:avLst/>
          </a:prstGeom>
          <a:solidFill>
            <a:srgbClr val="93C5FD"/>
          </a:solidFill>
          <a:ln/>
        </p:spPr>
      </p:sp>
      <p:sp>
        <p:nvSpPr>
          <p:cNvPr id="20" name="Shape 16"/>
          <p:cNvSpPr/>
          <p:nvPr/>
        </p:nvSpPr>
        <p:spPr>
          <a:xfrm>
            <a:off x="1847088" y="4005072"/>
            <a:ext cx="1316736" cy="274320"/>
          </a:xfrm>
          <a:prstGeom prst="rect">
            <a:avLst/>
          </a:prstGeom>
          <a:solidFill>
            <a:srgbClr val="10B981"/>
          </a:solidFill>
          <a:ln/>
        </p:spPr>
      </p:sp>
      <p:sp>
        <p:nvSpPr>
          <p:cNvPr id="21" name="Text 17"/>
          <p:cNvSpPr/>
          <p:nvPr/>
        </p:nvSpPr>
        <p:spPr>
          <a:xfrm>
            <a:off x="1847088" y="4005072"/>
            <a:ext cx="1316736" cy="274320"/>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Preprocessing</a:t>
            </a:r>
            <a:endParaRPr lang="en-US" sz="750" dirty="0"/>
          </a:p>
        </p:txBody>
      </p:sp>
      <p:sp>
        <p:nvSpPr>
          <p:cNvPr id="22" name="Shape 18"/>
          <p:cNvSpPr/>
          <p:nvPr/>
        </p:nvSpPr>
        <p:spPr>
          <a:xfrm>
            <a:off x="3163824" y="4105656"/>
            <a:ext cx="91440" cy="73152"/>
          </a:xfrm>
          <a:prstGeom prst="rect">
            <a:avLst/>
          </a:prstGeom>
          <a:solidFill>
            <a:srgbClr val="93C5FD"/>
          </a:solidFill>
          <a:ln/>
        </p:spPr>
      </p:sp>
      <p:sp>
        <p:nvSpPr>
          <p:cNvPr id="23" name="Shape 19"/>
          <p:cNvSpPr/>
          <p:nvPr/>
        </p:nvSpPr>
        <p:spPr>
          <a:xfrm>
            <a:off x="3255264" y="4005072"/>
            <a:ext cx="1316736" cy="274320"/>
          </a:xfrm>
          <a:prstGeom prst="rect">
            <a:avLst/>
          </a:prstGeom>
          <a:solidFill>
            <a:srgbClr val="3B82F6"/>
          </a:solidFill>
          <a:ln/>
        </p:spPr>
      </p:sp>
      <p:sp>
        <p:nvSpPr>
          <p:cNvPr id="24" name="Text 20"/>
          <p:cNvSpPr/>
          <p:nvPr/>
        </p:nvSpPr>
        <p:spPr>
          <a:xfrm>
            <a:off x="3255264" y="4005072"/>
            <a:ext cx="1316736" cy="274320"/>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Tokenizer Training</a:t>
            </a:r>
            <a:endParaRPr lang="en-US" sz="750" dirty="0"/>
          </a:p>
        </p:txBody>
      </p:sp>
      <p:sp>
        <p:nvSpPr>
          <p:cNvPr id="25" name="Shape 21"/>
          <p:cNvSpPr/>
          <p:nvPr/>
        </p:nvSpPr>
        <p:spPr>
          <a:xfrm>
            <a:off x="4572000" y="4105656"/>
            <a:ext cx="91440" cy="73152"/>
          </a:xfrm>
          <a:prstGeom prst="rect">
            <a:avLst/>
          </a:prstGeom>
          <a:solidFill>
            <a:srgbClr val="93C5FD"/>
          </a:solidFill>
          <a:ln/>
        </p:spPr>
      </p:sp>
      <p:sp>
        <p:nvSpPr>
          <p:cNvPr id="26" name="Shape 22"/>
          <p:cNvSpPr/>
          <p:nvPr/>
        </p:nvSpPr>
        <p:spPr>
          <a:xfrm>
            <a:off x="4663440" y="4005072"/>
            <a:ext cx="1316736" cy="274320"/>
          </a:xfrm>
          <a:prstGeom prst="rect">
            <a:avLst/>
          </a:prstGeom>
          <a:solidFill>
            <a:srgbClr val="3B82F6"/>
          </a:solidFill>
          <a:ln/>
        </p:spPr>
      </p:sp>
      <p:sp>
        <p:nvSpPr>
          <p:cNvPr id="27" name="Text 23"/>
          <p:cNvSpPr/>
          <p:nvPr/>
        </p:nvSpPr>
        <p:spPr>
          <a:xfrm>
            <a:off x="4663440" y="4005072"/>
            <a:ext cx="1316736" cy="274320"/>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Continued Pretraining</a:t>
            </a:r>
            <a:endParaRPr lang="en-US" sz="750" dirty="0"/>
          </a:p>
        </p:txBody>
      </p:sp>
      <p:sp>
        <p:nvSpPr>
          <p:cNvPr id="28" name="Shape 24"/>
          <p:cNvSpPr/>
          <p:nvPr/>
        </p:nvSpPr>
        <p:spPr>
          <a:xfrm>
            <a:off x="5980176" y="4105656"/>
            <a:ext cx="91440" cy="73152"/>
          </a:xfrm>
          <a:prstGeom prst="rect">
            <a:avLst/>
          </a:prstGeom>
          <a:solidFill>
            <a:srgbClr val="93C5FD"/>
          </a:solidFill>
          <a:ln/>
        </p:spPr>
      </p:sp>
      <p:sp>
        <p:nvSpPr>
          <p:cNvPr id="29" name="Shape 25"/>
          <p:cNvSpPr/>
          <p:nvPr/>
        </p:nvSpPr>
        <p:spPr>
          <a:xfrm>
            <a:off x="6071616" y="4005072"/>
            <a:ext cx="1316736" cy="274320"/>
          </a:xfrm>
          <a:prstGeom prst="rect">
            <a:avLst/>
          </a:prstGeom>
          <a:solidFill>
            <a:srgbClr val="3B82F6"/>
          </a:solidFill>
          <a:ln/>
        </p:spPr>
      </p:sp>
      <p:sp>
        <p:nvSpPr>
          <p:cNvPr id="30" name="Text 26"/>
          <p:cNvSpPr/>
          <p:nvPr/>
        </p:nvSpPr>
        <p:spPr>
          <a:xfrm>
            <a:off x="6071616" y="4005072"/>
            <a:ext cx="1316736" cy="274320"/>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Instruction Tuning</a:t>
            </a:r>
            <a:endParaRPr lang="en-US" sz="750" dirty="0"/>
          </a:p>
        </p:txBody>
      </p:sp>
      <p:sp>
        <p:nvSpPr>
          <p:cNvPr id="31" name="Shape 27"/>
          <p:cNvSpPr/>
          <p:nvPr/>
        </p:nvSpPr>
        <p:spPr>
          <a:xfrm>
            <a:off x="7388352" y="4105656"/>
            <a:ext cx="91440" cy="73152"/>
          </a:xfrm>
          <a:prstGeom prst="rect">
            <a:avLst/>
          </a:prstGeom>
          <a:solidFill>
            <a:srgbClr val="93C5FD"/>
          </a:solidFill>
          <a:ln/>
        </p:spPr>
      </p:sp>
      <p:sp>
        <p:nvSpPr>
          <p:cNvPr id="32" name="Shape 28"/>
          <p:cNvSpPr/>
          <p:nvPr/>
        </p:nvSpPr>
        <p:spPr>
          <a:xfrm>
            <a:off x="7479792" y="4005072"/>
            <a:ext cx="1316736" cy="274320"/>
          </a:xfrm>
          <a:prstGeom prst="rect">
            <a:avLst/>
          </a:prstGeom>
          <a:solidFill>
            <a:srgbClr val="3B82F6"/>
          </a:solidFill>
          <a:ln/>
        </p:spPr>
      </p:sp>
      <p:sp>
        <p:nvSpPr>
          <p:cNvPr id="33" name="Text 29"/>
          <p:cNvSpPr/>
          <p:nvPr/>
        </p:nvSpPr>
        <p:spPr>
          <a:xfrm>
            <a:off x="7479792" y="4005072"/>
            <a:ext cx="1316736" cy="274320"/>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Evaluation</a:t>
            </a:r>
            <a:endParaRPr lang="en-US" sz="750" dirty="0"/>
          </a:p>
        </p:txBody>
      </p:sp>
      <p:sp>
        <p:nvSpPr>
          <p:cNvPr id="34" name="Shape 30"/>
          <p:cNvSpPr/>
          <p:nvPr/>
        </p:nvSpPr>
        <p:spPr>
          <a:xfrm>
            <a:off x="0" y="4517136"/>
            <a:ext cx="9144000" cy="626364"/>
          </a:xfrm>
          <a:prstGeom prst="rect">
            <a:avLst/>
          </a:prstGeom>
          <a:solidFill>
            <a:srgbClr val="0A1428"/>
          </a:solidFill>
          <a:ln/>
        </p:spPr>
      </p:sp>
      <p:sp>
        <p:nvSpPr>
          <p:cNvPr id="35" name="Text 31"/>
          <p:cNvSpPr/>
          <p:nvPr/>
        </p:nvSpPr>
        <p:spPr>
          <a:xfrm>
            <a:off x="365760" y="4553712"/>
            <a:ext cx="502920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GitHub: github.com/Levixon10/SLMS_IndicLanguages_SOP</a:t>
            </a:r>
            <a:endParaRPr lang="en-US" sz="900" dirty="0"/>
          </a:p>
        </p:txBody>
      </p:sp>
      <p:sp>
        <p:nvSpPr>
          <p:cNvPr id="36" name="Text 32"/>
          <p:cNvSpPr/>
          <p:nvPr/>
        </p:nvSpPr>
        <p:spPr>
          <a:xfrm>
            <a:off x="5303520" y="4553712"/>
            <a:ext cx="3474720" cy="219456"/>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BITS Pilani SOP 2024–25  |  Ayush Kumar &amp; Harsh Singh</a:t>
            </a:r>
            <a:endParaRPr lang="en-US" sz="900" dirty="0"/>
          </a:p>
        </p:txBody>
      </p:sp>
      <p:sp>
        <p:nvSpPr>
          <p:cNvPr id="37" name="Text 33"/>
          <p:cNvSpPr/>
          <p:nvPr/>
        </p:nvSpPr>
        <p:spPr>
          <a:xfrm>
            <a:off x="365760" y="4773168"/>
            <a:ext cx="841248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Thank you — 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SLM for Low-Resource Indic Languages</dc:title>
  <dc:subject>PptxGenJS Presentation</dc:subject>
  <dc:creator>Ayush Kumar &amp; Harsh Singh</dc:creator>
  <cp:lastModifiedBy>Ayush Kumar &amp; Harsh Singh</cp:lastModifiedBy>
  <cp:revision>1</cp:revision>
  <dcterms:created xsi:type="dcterms:W3CDTF">2026-03-29T21:30:21Z</dcterms:created>
  <dcterms:modified xsi:type="dcterms:W3CDTF">2026-03-29T21:30:21Z</dcterms:modified>
</cp:coreProperties>
</file>